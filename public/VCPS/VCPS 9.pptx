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333" r:id="rId2"/>
    <p:sldId id="485" r:id="rId3"/>
    <p:sldId id="509" r:id="rId4"/>
    <p:sldId id="532" r:id="rId5"/>
    <p:sldId id="534" r:id="rId6"/>
    <p:sldId id="536" r:id="rId7"/>
    <p:sldId id="535" r:id="rId8"/>
    <p:sldId id="537" r:id="rId9"/>
    <p:sldId id="538" r:id="rId10"/>
    <p:sldId id="539" r:id="rId11"/>
    <p:sldId id="540" r:id="rId12"/>
    <p:sldId id="541" r:id="rId13"/>
    <p:sldId id="542" r:id="rId14"/>
    <p:sldId id="543" r:id="rId15"/>
    <p:sldId id="544" r:id="rId16"/>
    <p:sldId id="545" r:id="rId17"/>
    <p:sldId id="481" r:id="rId18"/>
  </p:sldIdLst>
  <p:sldSz cx="13817600" cy="7772400"/>
  <p:notesSz cx="6858000" cy="9144000"/>
  <p:defaultTextStyle>
    <a:defPPr>
      <a:defRPr lang="en-US"/>
    </a:defPPr>
    <a:lvl1pPr marL="0" algn="l" defTabSz="5086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8639" algn="l" defTabSz="5086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7276" algn="l" defTabSz="5086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5916" algn="l" defTabSz="5086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4553" algn="l" defTabSz="5086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43194" algn="l" defTabSz="5086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51829" algn="l" defTabSz="5086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60470" algn="l" defTabSz="5086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69106" algn="l" defTabSz="5086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1" userDrawn="1">
          <p15:clr>
            <a:srgbClr val="A4A3A4"/>
          </p15:clr>
        </p15:guide>
        <p15:guide id="2" pos="56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ynsay Belshe" initials="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B033"/>
    <a:srgbClr val="08436E"/>
    <a:srgbClr val="FEEBAD"/>
    <a:srgbClr val="6AB834"/>
    <a:srgbClr val="A65310"/>
    <a:srgbClr val="63A7DE"/>
    <a:srgbClr val="FEB91E"/>
    <a:srgbClr val="D5C2A3"/>
    <a:srgbClr val="D9002A"/>
    <a:srgbClr val="118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30" autoAdjust="0"/>
    <p:restoredTop sz="96327" autoAdjust="0"/>
  </p:normalViewPr>
  <p:slideViewPr>
    <p:cSldViewPr snapToGrid="0" snapToObjects="1">
      <p:cViewPr varScale="1">
        <p:scale>
          <a:sx n="79" d="100"/>
          <a:sy n="79" d="100"/>
        </p:scale>
        <p:origin x="240" y="664"/>
      </p:cViewPr>
      <p:guideLst>
        <p:guide orient="horz" pos="1291"/>
        <p:guide pos="568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napToObjects="1">
      <p:cViewPr varScale="1">
        <p:scale>
          <a:sx n="102" d="100"/>
          <a:sy n="102" d="100"/>
        </p:scale>
        <p:origin x="3477" y="41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B6BD65-4128-AD4A-BC65-DD1A35B82098}" type="datetimeFigureOut">
              <a:rPr lang="en-US" smtClean="0"/>
              <a:t>2/2/23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2A848-6AD5-7B49-A3B8-7D8D442B9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8182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AFFF99-B266-BA4A-9211-5D0EF0728BF9}" type="datetimeFigureOut">
              <a:rPr lang="en-US" smtClean="0"/>
              <a:t>2/2/23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D469F-60C6-C644-BD5F-F6073AC48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14048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508639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1017276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525916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2034553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543194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1829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0470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69106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8848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46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431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504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0379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38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9306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1867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0695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9844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7950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2785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4044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4188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804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36320" y="2414482"/>
            <a:ext cx="11762456" cy="1666028"/>
          </a:xfrm>
          <a:prstGeom prst="rect">
            <a:avLst/>
          </a:prstGeom>
        </p:spPr>
        <p:txBody>
          <a:bodyPr lIns="91308" tIns="45652" rIns="91308" bIns="45652"/>
          <a:lstStyle>
            <a:lvl1pPr>
              <a:defRPr sz="4944">
                <a:latin typeface="Avenir Black"/>
                <a:cs typeface="Avenir Blac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36320" y="4404360"/>
            <a:ext cx="11762456" cy="1986280"/>
          </a:xfrm>
          <a:prstGeom prst="rect">
            <a:avLst/>
          </a:prstGeom>
        </p:spPr>
        <p:txBody>
          <a:bodyPr lIns="91308" tIns="45652" rIns="91308" bIns="45652"/>
          <a:lstStyle>
            <a:lvl1pPr marL="0" indent="0" algn="l">
              <a:buNone/>
              <a:defRPr sz="2473">
                <a:solidFill>
                  <a:schemeClr val="tx1"/>
                </a:solidFill>
                <a:latin typeface="Avenir Medium"/>
                <a:cs typeface="Avenir Medium"/>
              </a:defRPr>
            </a:lvl1pPr>
            <a:lvl2pPr marL="6986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972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959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932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918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904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589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3"/>
          <p:cNvSpPr/>
          <p:nvPr userDrawn="1"/>
        </p:nvSpPr>
        <p:spPr>
          <a:xfrm flipV="1">
            <a:off x="1036319" y="4248241"/>
            <a:ext cx="11762455" cy="45719"/>
          </a:xfrm>
          <a:prstGeom prst="rect">
            <a:avLst/>
          </a:prstGeom>
          <a:solidFill>
            <a:srgbClr val="BA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5433" tIns="62714" rIns="125433" bIns="62714" rtlCol="0" anchor="ctr"/>
          <a:lstStyle/>
          <a:p>
            <a:pPr algn="ctr"/>
            <a:endParaRPr lang="en-US" sz="2747">
              <a:ln>
                <a:noFill/>
              </a:ln>
              <a:solidFill>
                <a:srgbClr val="1183CC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3A10A-7F51-3F22-A5DE-17A1DF2235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B196E-6DC2-E122-768C-C9A812E319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371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Layout Templa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 userDrawn="1"/>
        </p:nvCxnSpPr>
        <p:spPr>
          <a:xfrm flipH="1">
            <a:off x="9367650" y="4378273"/>
            <a:ext cx="3759072" cy="0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icture Placeholder 19"/>
          <p:cNvSpPr>
            <a:spLocks noGrp="1"/>
          </p:cNvSpPr>
          <p:nvPr>
            <p:ph type="pic" sz="quarter" idx="14"/>
          </p:nvPr>
        </p:nvSpPr>
        <p:spPr>
          <a:xfrm>
            <a:off x="810523" y="1689330"/>
            <a:ext cx="8344299" cy="2877599"/>
          </a:xfrm>
          <a:prstGeom prst="rect">
            <a:avLst/>
          </a:prstGeom>
        </p:spPr>
        <p:txBody>
          <a:bodyPr lIns="91308" tIns="45652" rIns="91308" bIns="45652"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Picture Placeholder 19"/>
          <p:cNvSpPr>
            <a:spLocks noGrp="1"/>
          </p:cNvSpPr>
          <p:nvPr>
            <p:ph type="pic" sz="quarter" idx="15"/>
          </p:nvPr>
        </p:nvSpPr>
        <p:spPr>
          <a:xfrm>
            <a:off x="9367650" y="1813561"/>
            <a:ext cx="3759072" cy="1133816"/>
          </a:xfrm>
          <a:prstGeom prst="rect">
            <a:avLst/>
          </a:prstGeom>
        </p:spPr>
        <p:txBody>
          <a:bodyPr lIns="91308" tIns="45652" rIns="91308" bIns="45652"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2" name="Picture Placeholder 19"/>
          <p:cNvSpPr>
            <a:spLocks noGrp="1"/>
          </p:cNvSpPr>
          <p:nvPr>
            <p:ph type="pic" sz="quarter" idx="16"/>
          </p:nvPr>
        </p:nvSpPr>
        <p:spPr>
          <a:xfrm>
            <a:off x="9367650" y="4520428"/>
            <a:ext cx="3759072" cy="1133816"/>
          </a:xfrm>
          <a:prstGeom prst="rect">
            <a:avLst/>
          </a:prstGeom>
        </p:spPr>
        <p:txBody>
          <a:bodyPr lIns="91308" tIns="45652" rIns="91308" bIns="45652"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cxnSp>
        <p:nvCxnSpPr>
          <p:cNvPr id="27" name="Straight Connector 26"/>
          <p:cNvCxnSpPr/>
          <p:nvPr userDrawn="1"/>
        </p:nvCxnSpPr>
        <p:spPr>
          <a:xfrm>
            <a:off x="9198892" y="1813584"/>
            <a:ext cx="0" cy="5129425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810523" y="121370"/>
            <a:ext cx="10167899" cy="563131"/>
          </a:xfrm>
          <a:prstGeom prst="rect">
            <a:avLst/>
          </a:prstGeom>
        </p:spPr>
        <p:txBody>
          <a:bodyPr lIns="91308" tIns="45652" rIns="91308" bIns="45652"/>
          <a:lstStyle>
            <a:lvl1pPr>
              <a:lnSpc>
                <a:spcPct val="130000"/>
              </a:lnSpc>
              <a:defRPr sz="3434">
                <a:latin typeface="Avenir Black"/>
                <a:cs typeface="Avenir Blac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3" name="Text Placeholder 32"/>
          <p:cNvSpPr>
            <a:spLocks noGrp="1"/>
          </p:cNvSpPr>
          <p:nvPr>
            <p:ph type="body" sz="quarter" idx="17"/>
          </p:nvPr>
        </p:nvSpPr>
        <p:spPr>
          <a:xfrm>
            <a:off x="9367654" y="3060395"/>
            <a:ext cx="3759713" cy="1212850"/>
          </a:xfrm>
          <a:prstGeom prst="rect">
            <a:avLst/>
          </a:prstGeom>
        </p:spPr>
        <p:txBody>
          <a:bodyPr vert="horz" lIns="91308" tIns="45652" rIns="91308" bIns="45652"/>
          <a:lstStyle>
            <a:lvl1pPr>
              <a:defRPr b="0" i="0">
                <a:solidFill>
                  <a:srgbClr val="000000"/>
                </a:solidFill>
                <a:latin typeface="Avenir"/>
                <a:cs typeface="Avenir"/>
              </a:defRPr>
            </a:lvl1pPr>
            <a:lvl2pPr>
              <a:defRPr b="0" i="0">
                <a:solidFill>
                  <a:srgbClr val="000000"/>
                </a:solidFill>
                <a:latin typeface="Avenir"/>
                <a:cs typeface="Avenir"/>
              </a:defRPr>
            </a:lvl2pPr>
            <a:lvl3pPr>
              <a:defRPr b="0" i="0">
                <a:solidFill>
                  <a:srgbClr val="000000"/>
                </a:solidFill>
                <a:latin typeface="Avenir"/>
                <a:cs typeface="Avenir"/>
              </a:defRPr>
            </a:lvl3pPr>
            <a:lvl4pPr>
              <a:defRPr b="0" i="0">
                <a:solidFill>
                  <a:srgbClr val="000000"/>
                </a:solidFill>
                <a:latin typeface="Avenir"/>
                <a:cs typeface="Avenir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4" name="Text Placeholder 32"/>
          <p:cNvSpPr>
            <a:spLocks noGrp="1"/>
          </p:cNvSpPr>
          <p:nvPr>
            <p:ph type="body" sz="quarter" idx="18"/>
          </p:nvPr>
        </p:nvSpPr>
        <p:spPr>
          <a:xfrm>
            <a:off x="9367654" y="5729429"/>
            <a:ext cx="3759713" cy="1212850"/>
          </a:xfrm>
          <a:prstGeom prst="rect">
            <a:avLst/>
          </a:prstGeom>
        </p:spPr>
        <p:txBody>
          <a:bodyPr vert="horz" lIns="91308" tIns="45652" rIns="91308" bIns="45652"/>
          <a:lstStyle>
            <a:lvl1pPr>
              <a:defRPr b="0" i="0">
                <a:solidFill>
                  <a:srgbClr val="000000"/>
                </a:solidFill>
                <a:latin typeface="Avenir Book"/>
                <a:cs typeface="Avenir Book"/>
              </a:defRPr>
            </a:lvl1pPr>
            <a:lvl2pPr>
              <a:defRPr b="0" i="0">
                <a:solidFill>
                  <a:srgbClr val="000000"/>
                </a:solidFill>
                <a:latin typeface="Avenir Book"/>
                <a:cs typeface="Avenir Book"/>
              </a:defRPr>
            </a:lvl2pPr>
            <a:lvl3pPr>
              <a:defRPr b="0" i="0">
                <a:solidFill>
                  <a:srgbClr val="000000"/>
                </a:solidFill>
                <a:latin typeface="Avenir Book"/>
                <a:cs typeface="Avenir Book"/>
              </a:defRPr>
            </a:lvl3pPr>
            <a:lvl4pPr>
              <a:defRPr b="0" i="0">
                <a:solidFill>
                  <a:srgbClr val="000000"/>
                </a:solidFill>
                <a:latin typeface="Avenir Book"/>
                <a:cs typeface="Avenir Book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5" name="Text Placeholder 32"/>
          <p:cNvSpPr>
            <a:spLocks noGrp="1"/>
          </p:cNvSpPr>
          <p:nvPr>
            <p:ph type="body" sz="quarter" idx="19"/>
          </p:nvPr>
        </p:nvSpPr>
        <p:spPr>
          <a:xfrm>
            <a:off x="810523" y="4864859"/>
            <a:ext cx="8344739" cy="2127916"/>
          </a:xfrm>
          <a:prstGeom prst="rect">
            <a:avLst/>
          </a:prstGeom>
        </p:spPr>
        <p:txBody>
          <a:bodyPr vert="horz" lIns="91308" tIns="45652" rIns="91308" bIns="45652"/>
          <a:lstStyle>
            <a:lvl1pPr>
              <a:defRPr sz="2747">
                <a:solidFill>
                  <a:srgbClr val="000000"/>
                </a:solidFill>
                <a:latin typeface="Avenir Book"/>
                <a:cs typeface="Avenir Book"/>
              </a:defRPr>
            </a:lvl1pPr>
            <a:lvl2pPr>
              <a:defRPr sz="2473">
                <a:solidFill>
                  <a:srgbClr val="000000"/>
                </a:solidFill>
                <a:latin typeface="Avenir Book"/>
                <a:cs typeface="Avenir Book"/>
              </a:defRPr>
            </a:lvl2pPr>
            <a:lvl3pPr>
              <a:defRPr sz="2198">
                <a:solidFill>
                  <a:srgbClr val="000000"/>
                </a:solidFill>
                <a:latin typeface="Avenir Book"/>
                <a:cs typeface="Avenir Book"/>
              </a:defRPr>
            </a:lvl3pPr>
            <a:lvl4pPr>
              <a:defRPr sz="1923">
                <a:solidFill>
                  <a:srgbClr val="000000"/>
                </a:solidFill>
                <a:latin typeface="Avenir Book"/>
                <a:cs typeface="Avenir Book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Rectangle 13"/>
          <p:cNvSpPr/>
          <p:nvPr userDrawn="1"/>
        </p:nvSpPr>
        <p:spPr>
          <a:xfrm flipV="1">
            <a:off x="810523" y="779625"/>
            <a:ext cx="10048279" cy="45719"/>
          </a:xfrm>
          <a:prstGeom prst="rect">
            <a:avLst/>
          </a:prstGeom>
          <a:solidFill>
            <a:srgbClr val="BA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5433" tIns="62714" rIns="125433" bIns="62714" rtlCol="0" anchor="ctr"/>
          <a:lstStyle/>
          <a:p>
            <a:pPr algn="ctr"/>
            <a:endParaRPr lang="en-US" sz="2747">
              <a:ln>
                <a:noFill/>
              </a:ln>
              <a:solidFill>
                <a:srgbClr val="1183CC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810523" y="863219"/>
            <a:ext cx="10166927" cy="444500"/>
          </a:xfrm>
          <a:prstGeom prst="rect">
            <a:avLst/>
          </a:prstGeom>
        </p:spPr>
        <p:txBody>
          <a:bodyPr vert="horz" lIns="91308" tIns="45652" rIns="91308" bIns="45652"/>
          <a:lstStyle>
            <a:lvl1pPr marL="0" indent="0">
              <a:buNone/>
              <a:defRPr sz="2473" b="1" kern="0" cap="all" spc="165">
                <a:solidFill>
                  <a:srgbClr val="08436E"/>
                </a:solidFill>
                <a:latin typeface="Avenir Medium"/>
                <a:cs typeface="Avenir Medium"/>
              </a:defRPr>
            </a:lvl1pPr>
            <a:lvl2pPr>
              <a:defRPr sz="2473" b="1">
                <a:solidFill>
                  <a:srgbClr val="08436E"/>
                </a:solidFill>
              </a:defRPr>
            </a:lvl2pPr>
            <a:lvl3pPr>
              <a:defRPr sz="2198" b="1">
                <a:solidFill>
                  <a:srgbClr val="08436E"/>
                </a:solidFill>
              </a:defRPr>
            </a:lvl3pPr>
            <a:lvl4pPr>
              <a:defRPr sz="1923" b="1">
                <a:solidFill>
                  <a:srgbClr val="08436E"/>
                </a:solidFill>
              </a:defRPr>
            </a:lvl4pPr>
            <a:lvl5pPr>
              <a:defRPr sz="2198" b="1">
                <a:solidFill>
                  <a:srgbClr val="08436E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77AD98-F639-814A-DC5D-460532E5583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29128-9A40-700E-4524-C8EBF4358E7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882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2"/>
          <p:cNvSpPr>
            <a:spLocks noGrp="1"/>
          </p:cNvSpPr>
          <p:nvPr>
            <p:ph type="body" sz="quarter" idx="19"/>
          </p:nvPr>
        </p:nvSpPr>
        <p:spPr>
          <a:xfrm>
            <a:off x="691318" y="1813570"/>
            <a:ext cx="3764821" cy="5128719"/>
          </a:xfrm>
          <a:prstGeom prst="rect">
            <a:avLst/>
          </a:prstGeom>
        </p:spPr>
        <p:txBody>
          <a:bodyPr vert="horz" lIns="91298" tIns="45647" rIns="91298" bIns="45647"/>
          <a:lstStyle>
            <a:lvl1pPr>
              <a:defRPr sz="2747">
                <a:solidFill>
                  <a:srgbClr val="000000"/>
                </a:solidFill>
                <a:latin typeface="Verdana"/>
                <a:cs typeface="Verdana"/>
              </a:defRPr>
            </a:lvl1pPr>
            <a:lvl2pPr>
              <a:defRPr sz="2473">
                <a:solidFill>
                  <a:srgbClr val="000000"/>
                </a:solidFill>
                <a:latin typeface="Verdana"/>
                <a:cs typeface="Verdana"/>
              </a:defRPr>
            </a:lvl2pPr>
            <a:lvl3pPr>
              <a:defRPr sz="2198">
                <a:solidFill>
                  <a:srgbClr val="000000"/>
                </a:solidFill>
                <a:latin typeface="Verdana"/>
                <a:cs typeface="Verdana"/>
              </a:defRPr>
            </a:lvl3pPr>
            <a:lvl4pPr>
              <a:defRPr sz="1923">
                <a:solidFill>
                  <a:srgbClr val="000000"/>
                </a:solidFill>
                <a:latin typeface="Verdana"/>
                <a:cs typeface="Verdana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90881" y="760053"/>
            <a:ext cx="10167899" cy="563131"/>
          </a:xfrm>
          <a:prstGeom prst="rect">
            <a:avLst/>
          </a:prstGeom>
        </p:spPr>
        <p:txBody>
          <a:bodyPr lIns="91298" tIns="45647" rIns="91298" bIns="45647"/>
          <a:lstStyle>
            <a:lvl1pPr>
              <a:lnSpc>
                <a:spcPct val="130000"/>
              </a:lnSpc>
              <a:defRPr sz="3434" spc="0">
                <a:latin typeface="Verdana"/>
                <a:cs typeface="Verdana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691323" y="1369060"/>
            <a:ext cx="10166927" cy="444500"/>
          </a:xfrm>
          <a:prstGeom prst="rect">
            <a:avLst/>
          </a:prstGeom>
        </p:spPr>
        <p:txBody>
          <a:bodyPr vert="horz" lIns="91298" tIns="45647" rIns="91298" bIns="45647"/>
          <a:lstStyle>
            <a:lvl1pPr marL="0" indent="0">
              <a:buNone/>
              <a:defRPr sz="2473" b="1" kern="0" cap="all" spc="0">
                <a:solidFill>
                  <a:srgbClr val="08436E"/>
                </a:solidFill>
                <a:latin typeface="Verdana"/>
                <a:cs typeface="Verdana"/>
              </a:defRPr>
            </a:lvl1pPr>
            <a:lvl2pPr>
              <a:defRPr sz="2473" b="1">
                <a:solidFill>
                  <a:srgbClr val="08436E"/>
                </a:solidFill>
              </a:defRPr>
            </a:lvl2pPr>
            <a:lvl3pPr>
              <a:defRPr sz="2198" b="1">
                <a:solidFill>
                  <a:srgbClr val="08436E"/>
                </a:solidFill>
              </a:defRPr>
            </a:lvl3pPr>
            <a:lvl4pPr>
              <a:defRPr sz="1923" b="1">
                <a:solidFill>
                  <a:srgbClr val="08436E"/>
                </a:solidFill>
              </a:defRPr>
            </a:lvl4pPr>
            <a:lvl5pPr>
              <a:defRPr sz="2198" b="1">
                <a:solidFill>
                  <a:srgbClr val="08436E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2" name="Picture Placeholder 19"/>
          <p:cNvSpPr>
            <a:spLocks noGrp="1"/>
          </p:cNvSpPr>
          <p:nvPr>
            <p:ph type="pic" sz="quarter" idx="14"/>
          </p:nvPr>
        </p:nvSpPr>
        <p:spPr>
          <a:xfrm>
            <a:off x="4782012" y="1813569"/>
            <a:ext cx="8344299" cy="2877599"/>
          </a:xfrm>
          <a:prstGeom prst="rect">
            <a:avLst/>
          </a:prstGeom>
        </p:spPr>
        <p:txBody>
          <a:bodyPr lIns="91298" tIns="45647" rIns="91298" bIns="45647"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3" name="Text Placeholder 32"/>
          <p:cNvSpPr>
            <a:spLocks noGrp="1"/>
          </p:cNvSpPr>
          <p:nvPr>
            <p:ph type="body" sz="quarter" idx="21"/>
          </p:nvPr>
        </p:nvSpPr>
        <p:spPr>
          <a:xfrm>
            <a:off x="4781550" y="4814363"/>
            <a:ext cx="8344739" cy="2127916"/>
          </a:xfrm>
          <a:prstGeom prst="rect">
            <a:avLst/>
          </a:prstGeom>
        </p:spPr>
        <p:txBody>
          <a:bodyPr vert="horz" lIns="91298" tIns="45647" rIns="91298" bIns="45647"/>
          <a:lstStyle>
            <a:lvl1pPr>
              <a:defRPr sz="2747">
                <a:solidFill>
                  <a:srgbClr val="000000"/>
                </a:solidFill>
                <a:latin typeface="Verdana"/>
                <a:cs typeface="Verdana"/>
              </a:defRPr>
            </a:lvl1pPr>
            <a:lvl2pPr>
              <a:defRPr sz="2473">
                <a:solidFill>
                  <a:srgbClr val="000000"/>
                </a:solidFill>
                <a:latin typeface="Verdana"/>
                <a:cs typeface="Verdana"/>
              </a:defRPr>
            </a:lvl2pPr>
            <a:lvl3pPr>
              <a:defRPr sz="2198">
                <a:solidFill>
                  <a:srgbClr val="000000"/>
                </a:solidFill>
                <a:latin typeface="Verdana"/>
                <a:cs typeface="Verdana"/>
              </a:defRPr>
            </a:lvl3pPr>
            <a:lvl4pPr>
              <a:defRPr sz="1923">
                <a:solidFill>
                  <a:srgbClr val="000000"/>
                </a:solidFill>
                <a:latin typeface="Verdana"/>
                <a:cs typeface="Verdana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5C885BC-B151-73B3-FEA2-275F4DA7C75F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C3286E-9FF7-F9B4-6848-29498FC45B2D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528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1" y="7352227"/>
            <a:ext cx="13817601" cy="428278"/>
          </a:xfrm>
          <a:prstGeom prst="rect">
            <a:avLst/>
          </a:prstGeom>
          <a:solidFill>
            <a:srgbClr val="084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5433" tIns="62714" rIns="125433" bIns="62714" rtlCol="0" anchor="ctr"/>
          <a:lstStyle/>
          <a:p>
            <a:pPr algn="ctr"/>
            <a:endParaRPr lang="en-US" sz="2747" b="1">
              <a:ln>
                <a:noFill/>
              </a:ln>
              <a:latin typeface="Arial"/>
              <a:cs typeface="Arial"/>
            </a:endParaRPr>
          </a:p>
        </p:txBody>
      </p:sp>
      <p:sp>
        <p:nvSpPr>
          <p:cNvPr id="9" name="Rectangle 8"/>
          <p:cNvSpPr/>
          <p:nvPr userDrawn="1"/>
        </p:nvSpPr>
        <p:spPr>
          <a:xfrm flipV="1">
            <a:off x="-1" y="7328691"/>
            <a:ext cx="13817601" cy="45720"/>
          </a:xfrm>
          <a:prstGeom prst="rect">
            <a:avLst/>
          </a:prstGeom>
          <a:solidFill>
            <a:srgbClr val="118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5433" tIns="62714" rIns="125433" bIns="62714" rtlCol="0" anchor="ctr"/>
          <a:lstStyle/>
          <a:p>
            <a:pPr algn="ctr"/>
            <a:endParaRPr lang="en-US" sz="2747">
              <a:ln>
                <a:noFill/>
              </a:ln>
              <a:solidFill>
                <a:srgbClr val="1183CC"/>
              </a:solidFill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7174109" y="7405335"/>
            <a:ext cx="6018548" cy="338121"/>
          </a:xfrm>
          <a:prstGeom prst="rect">
            <a:avLst/>
          </a:prstGeom>
          <a:noFill/>
        </p:spPr>
        <p:txBody>
          <a:bodyPr wrap="square" lIns="125433" tIns="62714" rIns="125433" bIns="62714" rtlCol="0" anchor="ctr">
            <a:spAutoFit/>
          </a:bodyPr>
          <a:lstStyle/>
          <a:p>
            <a:pPr algn="r"/>
            <a:r>
              <a:rPr lang="en-US" sz="1374" b="1" kern="0" cap="all" spc="165" dirty="0">
                <a:solidFill>
                  <a:srgbClr val="1183CC"/>
                </a:solidFill>
                <a:latin typeface="Avenir Black"/>
                <a:cs typeface="Avenir Black"/>
              </a:rPr>
              <a:t>The George Washington University</a:t>
            </a:r>
          </a:p>
        </p:txBody>
      </p:sp>
      <p:pic>
        <p:nvPicPr>
          <p:cNvPr id="6" name="Picture 5" descr="gw_txt_4cp_pos.eps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6977" y="216490"/>
            <a:ext cx="1500397" cy="83432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574A8A-BFC3-1A7B-060A-0ECE1FBC2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58363" y="7204075"/>
            <a:ext cx="3109912" cy="414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109058-071F-418D-A992-2ACF89B91AC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789A34-57A7-432C-1297-465A3C34F8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6763" y="7204075"/>
            <a:ext cx="4664075" cy="414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693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719" r:id="rId3"/>
  </p:sldLayoutIdLst>
  <p:hf hdr="0" ftr="0" dt="0"/>
  <p:txStyles>
    <p:titleStyle>
      <a:lvl1pPr algn="l" defTabSz="698642" rtl="0" eaLnBrk="1" latinLnBrk="0" hangingPunct="1">
        <a:spcBef>
          <a:spcPct val="0"/>
        </a:spcBef>
        <a:buNone/>
        <a:defRPr sz="3846" b="1" i="0" kern="0" cap="all" spc="165" baseline="0">
          <a:solidFill>
            <a:srgbClr val="08436E"/>
          </a:solidFill>
          <a:latin typeface="AvenirNext LT Pro Bold"/>
          <a:ea typeface="+mj-ea"/>
          <a:cs typeface="AvenirNext LT Pro Bold"/>
        </a:defRPr>
      </a:lvl1pPr>
    </p:titleStyle>
    <p:bodyStyle>
      <a:lvl1pPr marL="311338" indent="-311338" algn="l" defTabSz="698642" rtl="0" eaLnBrk="1" latinLnBrk="0" hangingPunct="1">
        <a:spcBef>
          <a:spcPct val="20000"/>
        </a:spcBef>
        <a:buClr>
          <a:srgbClr val="BAA278"/>
        </a:buClr>
        <a:buFont typeface="Lucida Grande"/>
        <a:buChar char="▸"/>
        <a:defRPr sz="2198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1pPr>
      <a:lvl2pPr marL="624854" indent="-313518" algn="l" defTabSz="698642" rtl="0" eaLnBrk="1" latinLnBrk="0" hangingPunct="1">
        <a:spcBef>
          <a:spcPct val="20000"/>
        </a:spcBef>
        <a:buClr>
          <a:srgbClr val="BAA278"/>
        </a:buClr>
        <a:buFont typeface="Lucida Grande"/>
        <a:buChar char="▸"/>
        <a:tabLst/>
        <a:defRPr sz="1923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2pPr>
      <a:lvl3pPr marL="857819" indent="-232962" algn="l" defTabSz="698642" rtl="0" eaLnBrk="1" latinLnBrk="0" hangingPunct="1">
        <a:spcBef>
          <a:spcPct val="20000"/>
        </a:spcBef>
        <a:buClr>
          <a:srgbClr val="BAA278"/>
        </a:buClr>
        <a:buFont typeface="Lucida Grande"/>
        <a:buChar char="▸"/>
        <a:defRPr sz="1648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3pPr>
      <a:lvl4pPr marL="1090781" indent="-232962" algn="l" defTabSz="698642" rtl="0" eaLnBrk="1" latinLnBrk="0" hangingPunct="1">
        <a:spcBef>
          <a:spcPct val="20000"/>
        </a:spcBef>
        <a:buClr>
          <a:srgbClr val="BAA278"/>
        </a:buClr>
        <a:buFont typeface="Lucida Grande"/>
        <a:buChar char="▸"/>
        <a:defRPr sz="1511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4pPr>
      <a:lvl5pPr marL="2118414" indent="-232962" algn="r" defTabSz="698642" rtl="0" eaLnBrk="1" latinLnBrk="0" hangingPunct="1">
        <a:spcBef>
          <a:spcPct val="20000"/>
        </a:spcBef>
        <a:buFont typeface="Arial"/>
        <a:buChar char="•"/>
        <a:tabLst/>
        <a:defRPr sz="1648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5pPr>
      <a:lvl6pPr marL="3842525" indent="-349325" algn="l" defTabSz="698642" rtl="0" eaLnBrk="1" latinLnBrk="0" hangingPunct="1">
        <a:spcBef>
          <a:spcPct val="20000"/>
        </a:spcBef>
        <a:buFont typeface="Arial"/>
        <a:buChar char="•"/>
        <a:defRPr sz="3022" kern="1200">
          <a:solidFill>
            <a:schemeClr val="tx1"/>
          </a:solidFill>
          <a:latin typeface="+mn-lt"/>
          <a:ea typeface="+mn-ea"/>
          <a:cs typeface="+mn-cs"/>
        </a:defRPr>
      </a:lvl6pPr>
      <a:lvl7pPr marL="4541165" indent="-349325" algn="l" defTabSz="698642" rtl="0" eaLnBrk="1" latinLnBrk="0" hangingPunct="1">
        <a:spcBef>
          <a:spcPct val="20000"/>
        </a:spcBef>
        <a:buFont typeface="Arial"/>
        <a:buChar char="•"/>
        <a:defRPr sz="3022" kern="1200">
          <a:solidFill>
            <a:schemeClr val="tx1"/>
          </a:solidFill>
          <a:latin typeface="+mn-lt"/>
          <a:ea typeface="+mn-ea"/>
          <a:cs typeface="+mn-cs"/>
        </a:defRPr>
      </a:lvl7pPr>
      <a:lvl8pPr marL="5239806" indent="-349325" algn="l" defTabSz="698642" rtl="0" eaLnBrk="1" latinLnBrk="0" hangingPunct="1">
        <a:spcBef>
          <a:spcPct val="20000"/>
        </a:spcBef>
        <a:buFont typeface="Arial"/>
        <a:buChar char="•"/>
        <a:defRPr sz="3022" kern="1200">
          <a:solidFill>
            <a:schemeClr val="tx1"/>
          </a:solidFill>
          <a:latin typeface="+mn-lt"/>
          <a:ea typeface="+mn-ea"/>
          <a:cs typeface="+mn-cs"/>
        </a:defRPr>
      </a:lvl8pPr>
      <a:lvl9pPr marL="5938442" indent="-349325" algn="l" defTabSz="698642" rtl="0" eaLnBrk="1" latinLnBrk="0" hangingPunct="1">
        <a:spcBef>
          <a:spcPct val="20000"/>
        </a:spcBef>
        <a:buFont typeface="Arial"/>
        <a:buChar char="•"/>
        <a:defRPr sz="302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98642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1pPr>
      <a:lvl2pPr marL="698642" algn="l" defTabSz="698642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2pPr>
      <a:lvl3pPr marL="1397281" algn="l" defTabSz="698642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3pPr>
      <a:lvl4pPr marL="2095923" algn="l" defTabSz="698642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4pPr>
      <a:lvl5pPr marL="2794560" algn="l" defTabSz="698642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5pPr>
      <a:lvl6pPr marL="3493206" algn="l" defTabSz="698642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6pPr>
      <a:lvl7pPr marL="4191841" algn="l" defTabSz="698642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7pPr>
      <a:lvl8pPr marL="4890487" algn="l" defTabSz="698642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8pPr>
      <a:lvl9pPr marL="5589124" algn="l" defTabSz="698642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hyperlink" Target="http://engr-courses.engr.illinois.edu/ece584/papers/henz_whats.pdf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emf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712F166-26A4-F264-E8CC-86F355D67CAA}"/>
              </a:ext>
            </a:extLst>
          </p:cNvPr>
          <p:cNvSpPr txBox="1"/>
          <p:nvPr/>
        </p:nvSpPr>
        <p:spPr>
          <a:xfrm>
            <a:off x="1344201" y="2185812"/>
            <a:ext cx="11352619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8436E"/>
                </a:solidFill>
                <a:latin typeface="+mj-lt"/>
              </a:rPr>
              <a:t>Verifying Cyber-Physical Systems</a:t>
            </a:r>
          </a:p>
          <a:p>
            <a:pPr algn="ctr"/>
            <a:r>
              <a:rPr lang="en-US" sz="4400" dirty="0">
                <a:solidFill>
                  <a:srgbClr val="08436E"/>
                </a:solidFill>
                <a:latin typeface="+mj-lt"/>
              </a:rPr>
              <a:t> </a:t>
            </a:r>
          </a:p>
          <a:p>
            <a:pPr algn="ctr"/>
            <a:r>
              <a:rPr lang="en-US" sz="3600" dirty="0">
                <a:solidFill>
                  <a:srgbClr val="08436E"/>
                </a:solidFill>
                <a:latin typeface="+mj-lt"/>
              </a:rPr>
              <a:t>Chapter 9 – Reachability Analysis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9A615E-44A7-CEA7-A0C6-B46233468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FF0B33B8-8000-8D8A-F786-AF3F99146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9283" y="4611189"/>
            <a:ext cx="11762456" cy="3250861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8436E"/>
                </a:solidFill>
                <a:latin typeface="+mj-lt"/>
              </a:rPr>
              <a:t>Abenezer Taye</a:t>
            </a:r>
          </a:p>
          <a:p>
            <a:pPr algn="ctr"/>
            <a:endParaRPr lang="en-US" dirty="0">
              <a:solidFill>
                <a:srgbClr val="08436E"/>
              </a:solidFill>
              <a:latin typeface="+mj-lt"/>
            </a:endParaRPr>
          </a:p>
          <a:p>
            <a:pPr algn="ctr"/>
            <a:r>
              <a:rPr lang="en-US" sz="2400" dirty="0">
                <a:solidFill>
                  <a:srgbClr val="08436E"/>
                </a:solidFill>
                <a:latin typeface="+mj-lt"/>
              </a:rPr>
              <a:t>Feb 6, 2023</a:t>
            </a:r>
          </a:p>
          <a:p>
            <a:pPr algn="ctr"/>
            <a:r>
              <a:rPr lang="en-US" dirty="0">
                <a:solidFill>
                  <a:srgbClr val="08436E"/>
                </a:solidFill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49152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2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3173" b="1" dirty="0"/>
              <a:t>System Design Ecosystem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E46C637-A41D-077D-B4CC-123DDA333031}"/>
              </a:ext>
            </a:extLst>
          </p:cNvPr>
          <p:cNvGrpSpPr/>
          <p:nvPr/>
        </p:nvGrpSpPr>
        <p:grpSpPr>
          <a:xfrm>
            <a:off x="1513922" y="2032875"/>
            <a:ext cx="9799397" cy="4941622"/>
            <a:chOff x="2218431" y="2024223"/>
            <a:chExt cx="9094888" cy="432881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48A29B5-B6E2-B106-6080-671998A93F87}"/>
                </a:ext>
              </a:extLst>
            </p:cNvPr>
            <p:cNvGrpSpPr/>
            <p:nvPr/>
          </p:nvGrpSpPr>
          <p:grpSpPr>
            <a:xfrm>
              <a:off x="2218431" y="2024223"/>
              <a:ext cx="9094888" cy="4328817"/>
              <a:chOff x="2218431" y="2024223"/>
              <a:chExt cx="9094888" cy="4328817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87A0E05A-CE93-A6B9-DC9C-BC70F2FD5036}"/>
                  </a:ext>
                </a:extLst>
              </p:cNvPr>
              <p:cNvGrpSpPr/>
              <p:nvPr/>
            </p:nvGrpSpPr>
            <p:grpSpPr>
              <a:xfrm>
                <a:off x="2218431" y="2024223"/>
                <a:ext cx="9094888" cy="4328817"/>
                <a:chOff x="2218431" y="2024223"/>
                <a:chExt cx="9094888" cy="4328817"/>
              </a:xfrm>
            </p:grpSpPr>
            <p:pic>
              <p:nvPicPr>
                <p:cNvPr id="33" name="Content Placeholder 6">
                  <a:extLst>
                    <a:ext uri="{FF2B5EF4-FFF2-40B4-BE49-F238E27FC236}">
                      <a16:creationId xmlns:a16="http://schemas.microsoft.com/office/drawing/2014/main" id="{6F0E0D5D-C90C-0BBB-9FED-2A77EC9D24C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218431" y="2024223"/>
                  <a:ext cx="9094888" cy="4328817"/>
                </a:xfrm>
                <a:prstGeom prst="rect">
                  <a:avLst/>
                </a:prstGeom>
              </p:spPr>
            </p:pic>
            <p:sp>
              <p:nvSpPr>
                <p:cNvPr id="34" name="Rounded Rectangle 33">
                  <a:extLst>
                    <a:ext uri="{FF2B5EF4-FFF2-40B4-BE49-F238E27FC236}">
                      <a16:creationId xmlns:a16="http://schemas.microsoft.com/office/drawing/2014/main" id="{5B8BF05A-626F-DFE6-F056-62B2538BBA5D}"/>
                    </a:ext>
                  </a:extLst>
                </p:cNvPr>
                <p:cNvSpPr/>
                <p:nvPr/>
              </p:nvSpPr>
              <p:spPr>
                <a:xfrm>
                  <a:off x="4368800" y="3589867"/>
                  <a:ext cx="1828152" cy="722489"/>
                </a:xfrm>
                <a:prstGeom prst="round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15F90FF6-B295-EE38-E5EF-0E2882AB424C}"/>
                  </a:ext>
                </a:extLst>
              </p:cNvPr>
              <p:cNvSpPr/>
              <p:nvPr/>
            </p:nvSpPr>
            <p:spPr>
              <a:xfrm>
                <a:off x="4368800" y="4435258"/>
                <a:ext cx="1828152" cy="722489"/>
              </a:xfrm>
              <a:prstGeom prst="round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79FA7B0E-72AF-445F-8801-D39B36AF743E}"/>
                </a:ext>
              </a:extLst>
            </p:cNvPr>
            <p:cNvSpPr/>
            <p:nvPr/>
          </p:nvSpPr>
          <p:spPr>
            <a:xfrm>
              <a:off x="6908800" y="3886199"/>
              <a:ext cx="1828152" cy="934157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63822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3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37">
                <a:extLst>
                  <a:ext uri="{FF2B5EF4-FFF2-40B4-BE49-F238E27FC236}">
                    <a16:creationId xmlns:a16="http://schemas.microsoft.com/office/drawing/2014/main" id="{D5A71C11-69B8-635C-9A8F-2FD5342DD2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2427" y="1500266"/>
                <a:ext cx="12345848" cy="5193178"/>
              </a:xfrm>
            </p:spPr>
            <p:txBody>
              <a:bodyPr/>
              <a:lstStyle>
                <a:lvl1pPr marL="311338" indent="-31133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219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1pPr>
                <a:lvl2pPr marL="624854" indent="-31351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tabLst/>
                  <a:defRPr sz="1923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2pPr>
                <a:lvl3pPr marL="857819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3pPr>
                <a:lvl4pPr marL="1090781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511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4pPr>
                <a:lvl5pPr marL="2118414" indent="-232962" algn="r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tabLst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5pPr>
                <a:lvl6pPr marL="384252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4116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39806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938442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sz="2400" b="1" dirty="0">
                    <a:solidFill>
                      <a:srgbClr val="00B0F0"/>
                    </a:solidFill>
                    <a:latin typeface="+mn-lt"/>
                    <a:ea typeface="Cambria Math" panose="02040503050406030204" pitchFamily="18" charset="0"/>
                    <a:sym typeface="Wingdings" pitchFamily="2" charset="2"/>
                  </a:rPr>
                  <a:t>Invariant verification problem / Safety verification problem: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800" dirty="0">
                    <a:solidFill>
                      <a:schemeClr val="tx1"/>
                    </a:solidFill>
                    <a:latin typeface="+mn-lt"/>
                    <a:ea typeface="Cambria Math" panose="02040503050406030204" pitchFamily="18" charset="0"/>
                    <a:sym typeface="Wingdings" pitchFamily="2" charset="2"/>
                  </a:rPr>
                  <a:t>Deciding whether a given set of states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+mn-lt"/>
                    <a:ea typeface="Cambria Math" panose="02040503050406030204" pitchFamily="18" charset="0"/>
                    <a:sym typeface="Wingdings" pitchFamily="2" charset="2"/>
                  </a:rPr>
                  <a:t> is reachable for system A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chemeClr val="tx1"/>
                    </a:solidFill>
                    <a:latin typeface="+mn-lt"/>
                    <a:ea typeface="Cambria Math" panose="02040503050406030204" pitchFamily="18" charset="0"/>
                    <a:sym typeface="Wingdings" pitchFamily="2" charset="2"/>
                  </a:rPr>
                  <a:t>Testing can partially answer such verification problems: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800" dirty="0">
                    <a:solidFill>
                      <a:schemeClr val="tx1"/>
                    </a:solidFill>
                    <a:latin typeface="+mn-lt"/>
                    <a:ea typeface="Cambria Math" panose="02040503050406030204" pitchFamily="18" charset="0"/>
                    <a:sym typeface="Wingdings" pitchFamily="2" charset="2"/>
                  </a:rPr>
                  <a:t>Generate finite number of executions of A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𝑅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+mn-lt"/>
                    <a:ea typeface="Cambria Math" panose="02040503050406030204" pitchFamily="18" charset="0"/>
                    <a:sym typeface="Wingdings" pitchFamily="2" charset="2"/>
                  </a:rPr>
                  <a:t> 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800" dirty="0">
                    <a:solidFill>
                      <a:schemeClr val="tx1"/>
                    </a:solidFill>
                    <a:latin typeface="+mn-lt"/>
                    <a:ea typeface="Cambria Math" panose="02040503050406030204" pitchFamily="18" charset="0"/>
                    <a:sym typeface="Wingdings" pitchFamily="2" charset="2"/>
                  </a:rPr>
                  <a:t>Check whether these executions reach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𝑓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</m:oMath>
                </a14:m>
                <a:endParaRPr lang="en-US" sz="2400" dirty="0">
                  <a:solidFill>
                    <a:schemeClr val="tx1"/>
                  </a:solidFill>
                  <a:latin typeface="+mn-lt"/>
                  <a:ea typeface="Cambria Math" panose="02040503050406030204" pitchFamily="18" charset="0"/>
                  <a:sym typeface="Wingdings" pitchFamily="2" charset="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675" dirty="0">
                    <a:solidFill>
                      <a:schemeClr val="tx1"/>
                    </a:solidFill>
                    <a:latin typeface="+mn-lt"/>
                    <a:ea typeface="Cambria Math" panose="02040503050406030204" pitchFamily="18" charset="0"/>
                    <a:sym typeface="Wingdings" pitchFamily="2" charset="2"/>
                  </a:rPr>
                  <a:t>If:</a:t>
                </a:r>
                <a:endParaRPr lang="en-US" sz="2075" dirty="0">
                  <a:solidFill>
                    <a:schemeClr val="tx1"/>
                  </a:solidFill>
                  <a:latin typeface="+mn-lt"/>
                  <a:ea typeface="Cambria Math" panose="02040503050406030204" pitchFamily="18" charset="0"/>
                  <a:sym typeface="Wingdings" pitchFamily="2" charset="2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+mn-lt"/>
                    <a:ea typeface="Cambria Math" panose="02040503050406030204" pitchFamily="18" charset="0"/>
                    <a:sym typeface="Wingdings" pitchFamily="2" charset="2"/>
                  </a:rPr>
                  <a:t> represents an undesirable/bad behavior of the system  debug the system design.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800" dirty="0">
                    <a:solidFill>
                      <a:schemeClr val="tx1"/>
                    </a:solidFill>
                    <a:latin typeface="+mn-lt"/>
                    <a:ea typeface="Cambria Math" panose="02040503050406030204" pitchFamily="18" charset="0"/>
                    <a:sym typeface="Wingdings" pitchFamily="2" charset="2"/>
                  </a:rPr>
                  <a:t>Finite tests do not touch unsafe states  can’t say for sure the system is safe because A has infinite many executions.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chemeClr val="tx1"/>
                    </a:solidFill>
                    <a:latin typeface="+mn-lt"/>
                    <a:ea typeface="Cambria Math" panose="02040503050406030204" pitchFamily="18" charset="0"/>
                    <a:sym typeface="Wingdings" pitchFamily="2" charset="2"/>
                  </a:rPr>
                  <a:t>Alternative  Reachability Analysis  </a:t>
                </a:r>
              </a:p>
            </p:txBody>
          </p:sp>
        </mc:Choice>
        <mc:Fallback>
          <p:sp>
            <p:nvSpPr>
              <p:cNvPr id="2" name="Content Placeholder 37">
                <a:extLst>
                  <a:ext uri="{FF2B5EF4-FFF2-40B4-BE49-F238E27FC236}">
                    <a16:creationId xmlns:a16="http://schemas.microsoft.com/office/drawing/2014/main" id="{D5A71C11-69B8-635C-9A8F-2FD5342DD2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27" y="1500266"/>
                <a:ext cx="12345848" cy="5193178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3173" b="1" dirty="0"/>
              <a:t>Introduction </a:t>
            </a:r>
          </a:p>
        </p:txBody>
      </p:sp>
      <p:pic>
        <p:nvPicPr>
          <p:cNvPr id="14" name="Picture 13" descr="Icon&#10;&#10;Description automatically generated">
            <a:extLst>
              <a:ext uri="{FF2B5EF4-FFF2-40B4-BE49-F238E27FC236}">
                <a16:creationId xmlns:a16="http://schemas.microsoft.com/office/drawing/2014/main" id="{E27AE6C0-F6C0-1F2B-38C8-66025DF69E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5864" y="2473680"/>
            <a:ext cx="6042541" cy="2124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521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4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p:sp>
        <p:nvSpPr>
          <p:cNvPr id="2" name="Content Placeholder 37">
            <a:extLst>
              <a:ext uri="{FF2B5EF4-FFF2-40B4-BE49-F238E27FC236}">
                <a16:creationId xmlns:a16="http://schemas.microsoft.com/office/drawing/2014/main" id="{D5A71C11-69B8-635C-9A8F-2FD5342DD221}"/>
              </a:ext>
            </a:extLst>
          </p:cNvPr>
          <p:cNvSpPr txBox="1">
            <a:spLocks/>
          </p:cNvSpPr>
          <p:nvPr/>
        </p:nvSpPr>
        <p:spPr>
          <a:xfrm>
            <a:off x="690883" y="1839800"/>
            <a:ext cx="12345848" cy="5193178"/>
          </a:xfrm>
        </p:spPr>
        <p:txBody>
          <a:bodyPr/>
          <a:lstStyle>
            <a:lvl1pPr marL="311338" indent="-31133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219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624854" indent="-31351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tabLst/>
              <a:defRPr sz="192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857819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090781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51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118414" indent="-232962" algn="r" defTabSz="698642" rtl="0" eaLnBrk="1" latinLnBrk="0" hangingPunct="1">
              <a:spcBef>
                <a:spcPct val="20000"/>
              </a:spcBef>
              <a:buFont typeface="Arial"/>
              <a:buChar char="•"/>
              <a:tabLst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384252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4116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239806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938442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n-lt"/>
                <a:ea typeface="Cambria Math" panose="02040503050406030204" pitchFamily="18" charset="0"/>
                <a:sym typeface="Wingdings" pitchFamily="2" charset="2"/>
              </a:rPr>
              <a:t>Typical problem in reachability analysis  </a:t>
            </a:r>
            <a:r>
              <a:rPr lang="en-US" sz="2000" b="1" dirty="0">
                <a:solidFill>
                  <a:srgbClr val="00B0F0"/>
                </a:solidFill>
                <a:latin typeface="+mn-lt"/>
                <a:ea typeface="Cambria Math" panose="02040503050406030204" pitchFamily="18" charset="0"/>
                <a:sym typeface="Wingdings" pitchFamily="2" charset="2"/>
              </a:rPr>
              <a:t>State Space Explosion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n-lt"/>
                <a:ea typeface="Cambria Math" panose="02040503050406030204" pitchFamily="18" charset="0"/>
                <a:sym typeface="Wingdings" pitchFamily="2" charset="2"/>
              </a:rPr>
              <a:t>Dimension of the system 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n-lt"/>
                <a:ea typeface="Cambria Math" panose="02040503050406030204" pitchFamily="18" charset="0"/>
                <a:sym typeface="Wingdings" pitchFamily="2" charset="2"/>
              </a:rPr>
              <a:t>Time horizon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n-lt"/>
                <a:ea typeface="Cambria Math" panose="02040503050406030204" pitchFamily="18" charset="0"/>
                <a:sym typeface="Wingdings" pitchFamily="2" charset="2"/>
              </a:rPr>
              <a:t>Degree of uncertainty in the model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n-lt"/>
                <a:ea typeface="Cambria Math" panose="02040503050406030204" pitchFamily="18" charset="0"/>
                <a:sym typeface="Wingdings" pitchFamily="2" charset="2"/>
              </a:rPr>
              <a:t>Focus on specific classes of Hybrid Automata for which safety properties (invariants) can be verified completely automatically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n-lt"/>
                <a:ea typeface="Cambria Math" panose="02040503050406030204" pitchFamily="18" charset="0"/>
                <a:sym typeface="Wingdings" pitchFamily="2" charset="2"/>
              </a:rPr>
              <a:t>Timed Automata  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n-lt"/>
                <a:ea typeface="Cambria Math" panose="02040503050406030204" pitchFamily="18" charset="0"/>
                <a:sym typeface="Wingdings" pitchFamily="2" charset="2"/>
              </a:rPr>
              <a:t>Rational time automata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n-lt"/>
                <a:ea typeface="Cambria Math" panose="02040503050406030204" pitchFamily="18" charset="0"/>
                <a:sym typeface="Wingdings" pitchFamily="2" charset="2"/>
              </a:rPr>
              <a:t>Multi-rate automata</a:t>
            </a:r>
          </a:p>
          <a:p>
            <a:pPr lvl="1">
              <a:lnSpc>
                <a:spcPct val="150000"/>
              </a:lnSpc>
            </a:pPr>
            <a:endParaRPr lang="en-US" sz="1725" dirty="0">
              <a:solidFill>
                <a:schemeClr val="tx1"/>
              </a:solidFill>
              <a:latin typeface="+mn-lt"/>
              <a:ea typeface="Cambria Math" panose="02040503050406030204" pitchFamily="18" charset="0"/>
              <a:sym typeface="Wingdings" pitchFamily="2" charset="2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3173" b="1" dirty="0"/>
              <a:t>Introduction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960AD7-496D-B658-B59F-C99D4ACAE651}"/>
              </a:ext>
            </a:extLst>
          </p:cNvPr>
          <p:cNvSpPr txBox="1"/>
          <p:nvPr/>
        </p:nvSpPr>
        <p:spPr>
          <a:xfrm>
            <a:off x="5342708" y="4762961"/>
            <a:ext cx="4689565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1539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+mn-lt"/>
                <a:ea typeface="Cambria Math" panose="02040503050406030204" pitchFamily="18" charset="0"/>
                <a:sym typeface="Wingdings" pitchFamily="2" charset="2"/>
              </a:rPr>
              <a:t>Rectangular Initialized HA</a:t>
            </a:r>
          </a:p>
          <a:p>
            <a:pPr marL="851539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+mn-lt"/>
                <a:ea typeface="Cambria Math" panose="02040503050406030204" pitchFamily="18" charset="0"/>
                <a:sym typeface="Wingdings" pitchFamily="2" charset="2"/>
              </a:rPr>
              <a:t>Rectangular HA</a:t>
            </a:r>
          </a:p>
          <a:p>
            <a:pPr marL="851539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+mn-lt"/>
                <a:ea typeface="Cambria Math" panose="02040503050406030204" pitchFamily="18" charset="0"/>
                <a:sym typeface="Wingdings" pitchFamily="2" charset="2"/>
              </a:rPr>
              <a:t>Linear HA </a:t>
            </a:r>
          </a:p>
          <a:p>
            <a:pPr marL="851539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+mn-lt"/>
                <a:ea typeface="Cambria Math" panose="02040503050406030204" pitchFamily="18" charset="0"/>
                <a:sym typeface="Wingdings" pitchFamily="2" charset="2"/>
              </a:rPr>
              <a:t>Nonlinear HA</a:t>
            </a:r>
          </a:p>
        </p:txBody>
      </p:sp>
    </p:spTree>
    <p:extLst>
      <p:ext uri="{BB962C8B-B14F-4D97-AF65-F5344CB8AC3E}">
        <p14:creationId xmlns:p14="http://schemas.microsoft.com/office/powerpoint/2010/main" val="1650527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5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3600" b="1" dirty="0"/>
              <a:t>Integral Timed Automata</a:t>
            </a:r>
            <a:endParaRPr lang="en-US" sz="20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046818-BD51-DD74-AE4A-51412037994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2167954"/>
                <a:ext cx="6781880" cy="452596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11338" indent="-31133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219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1pPr>
                <a:lvl2pPr marL="624854" indent="-31351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tabLst/>
                  <a:defRPr sz="1923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2pPr>
                <a:lvl3pPr marL="857819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3pPr>
                <a:lvl4pPr marL="1090781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511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4pPr>
                <a:lvl5pPr marL="2118414" indent="-232962" algn="r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tabLst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5pPr>
                <a:lvl6pPr marL="384252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4116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39806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938442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b="1" dirty="0">
                    <a:solidFill>
                      <a:schemeClr val="tx1"/>
                    </a:solidFill>
                  </a:rPr>
                  <a:t>Definition.</a:t>
                </a:r>
                <a:r>
                  <a:rPr lang="en-US" sz="2400" dirty="0"/>
                  <a:t> </a:t>
                </a:r>
                <a:r>
                  <a:rPr lang="en-US" sz="2400" b="1" i="1" dirty="0">
                    <a:solidFill>
                      <a:srgbClr val="00B0F0"/>
                    </a:solidFill>
                  </a:rPr>
                  <a:t>integral timed automaton </a:t>
                </a:r>
                <a:r>
                  <a:rPr lang="en-US" sz="2400" dirty="0">
                    <a:solidFill>
                      <a:schemeClr val="tx1"/>
                    </a:solidFill>
                  </a:rPr>
                  <a:t>is a HIOA 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=〈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/>
                      </a:rPr>
                      <m:t>𝑉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 smtClean="0">
                        <a:solidFill>
                          <a:schemeClr val="tx1"/>
                        </a:solidFill>
                        <a:latin typeface="Cambria Math"/>
                      </a:rPr>
                      <m:t>Θ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/>
                      </a:rPr>
                      <m:t>, 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/>
                      </a:rPr>
                      <m:t>𝐴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/>
                      </a:rPr>
                      <m:t>, 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𝒟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, 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𝒯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〉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where </a:t>
                </a:r>
              </a:p>
              <a:p>
                <a:pPr lvl="1"/>
                <a:r>
                  <a:rPr lang="en-US" sz="2000" dirty="0">
                    <a:solidFill>
                      <a:schemeClr val="tx1"/>
                    </a:solidFill>
                  </a:rPr>
                  <a:t>V = X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𝑙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/>
                      </a:rPr>
                      <m:t>𝑋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a set of n clocks and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/>
                      </a:rPr>
                      <m:t>𝑙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a discrete state variable of finite type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000" b="1" baseline="-250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sz="2000" dirty="0">
                    <a:solidFill>
                      <a:schemeClr val="tx1"/>
                    </a:solidFill>
                  </a:rPr>
                  <a:t>A is a finite set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𝒟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is a set of transitions such that </a:t>
                </a:r>
              </a:p>
              <a:p>
                <a:pPr lvl="2"/>
                <a:r>
                  <a:rPr lang="en-US" sz="1800" dirty="0">
                    <a:solidFill>
                      <a:schemeClr val="tx1"/>
                    </a:solidFill>
                  </a:rPr>
                  <a:t>The guards are described by clock constraings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smtClean="0">
                        <a:solidFill>
                          <a:schemeClr val="tx1"/>
                        </a:solidFill>
                        <a:latin typeface="Cambria Math"/>
                      </a:rPr>
                      <m:t>Φ</m:t>
                    </m:r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/>
                      </a:rPr>
                      <m:t>𝑋</m:t>
                    </m:r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 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𝑙</m:t>
                        </m:r>
                      </m:e>
                    </m:d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/>
                      </a:rPr>
                      <m:t>𝑎</m:t>
                    </m:r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/>
                      </a:rPr>
                      <m:t>→</m:t>
                    </m:r>
                    <m:d>
                      <m:dPr>
                        <m:begChr m:val="〈"/>
                        <m:endChr m:val="〉"/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𝑙</m:t>
                            </m:r>
                          </m:e>
                          <m:sup>
                            <m: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 implies either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/>
                      </a:rPr>
                      <m:t>=0</m:t>
                    </m:r>
                  </m:oMath>
                </a14:m>
                <a:endParaRPr lang="en-US" sz="1800" dirty="0">
                  <a:solidFill>
                    <a:schemeClr val="tx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𝒯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set of clock trajectories for the clock variables in X</a:t>
                </a:r>
              </a:p>
              <a:p>
                <a:endParaRPr lang="en-US" sz="2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046818-BD51-DD74-AE4A-514120379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167954"/>
                <a:ext cx="6781880" cy="4525963"/>
              </a:xfrm>
              <a:prstGeom prst="rect">
                <a:avLst/>
              </a:prstGeom>
              <a:blipFill>
                <a:blip r:embed="rId4"/>
                <a:stretch>
                  <a:fillRect l="-1495" t="-8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3822B62F-C8BF-9B8F-ED01-E0E8B24B795B}"/>
              </a:ext>
            </a:extLst>
          </p:cNvPr>
          <p:cNvSpPr/>
          <p:nvPr/>
        </p:nvSpPr>
        <p:spPr>
          <a:xfrm>
            <a:off x="7519195" y="2569734"/>
            <a:ext cx="503856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/>
              <a:t>Description</a:t>
            </a:r>
          </a:p>
          <a:p>
            <a:r>
              <a:rPr lang="en-US" sz="1800" dirty="0"/>
              <a:t>Switch can be turned on whenever at least 2 time units have elapsed since the last turn on. Switches off automatically 15 time units after the last on.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E97B751-DAC6-43AB-42ED-46AF2676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9196" y="3997484"/>
            <a:ext cx="5038565" cy="2420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A77ABC0-EADB-4395-634A-E193F8CD2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9195" y="2001749"/>
            <a:ext cx="5038565" cy="655027"/>
          </a:xfrm>
        </p:spPr>
        <p:txBody>
          <a:bodyPr/>
          <a:lstStyle/>
          <a:p>
            <a:r>
              <a:rPr lang="en-US" sz="2400" cap="none" dirty="0"/>
              <a:t>Example: Light Switch</a:t>
            </a:r>
          </a:p>
        </p:txBody>
      </p:sp>
    </p:spTree>
    <p:extLst>
      <p:ext uri="{BB962C8B-B14F-4D97-AF65-F5344CB8AC3E}">
        <p14:creationId xmlns:p14="http://schemas.microsoft.com/office/powerpoint/2010/main" val="848693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6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3600" b="1" dirty="0"/>
              <a:t>Control State Reachability Problem</a:t>
            </a:r>
            <a:endParaRPr lang="en-US" sz="2000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A0E8EC-8EF6-FCD6-9640-F85C9A2660D0}"/>
              </a:ext>
            </a:extLst>
          </p:cNvPr>
          <p:cNvSpPr txBox="1">
            <a:spLocks/>
          </p:cNvSpPr>
          <p:nvPr/>
        </p:nvSpPr>
        <p:spPr>
          <a:xfrm>
            <a:off x="475343" y="1809205"/>
            <a:ext cx="1286691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4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Given an ITA 𝒜, check if a particular (discrete) control state is reachable from the initial states</a:t>
            </a:r>
          </a:p>
          <a:p>
            <a:pPr marL="0" lvl="0" indent="0">
              <a:buNone/>
            </a:pPr>
            <a:endParaRPr lang="en-US" sz="24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24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problem is decidable </a:t>
            </a:r>
            <a:r>
              <a:rPr lang="en-US" sz="2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[Alur Dill]</a:t>
            </a:r>
          </a:p>
          <a:p>
            <a:pPr lvl="0"/>
            <a:endParaRPr lang="en-US" sz="24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24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idea: </a:t>
            </a:r>
          </a:p>
          <a:p>
            <a:pPr lvl="1"/>
            <a:r>
              <a:rPr lang="en-US" sz="2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Construct a finite automaton </a:t>
            </a:r>
            <a:r>
              <a:rPr lang="en-US" sz="20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that is a time-abstract </a:t>
            </a:r>
            <a:r>
              <a:rPr lang="en-US" sz="200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bisimilar</a:t>
            </a:r>
            <a:r>
              <a:rPr lang="en-US" sz="2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the ITA </a:t>
            </a:r>
            <a:r>
              <a:rPr lang="en-US" sz="20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(behaves identically with respect to control state reachability)</a:t>
            </a:r>
          </a:p>
          <a:p>
            <a:pPr lvl="1"/>
            <a:r>
              <a:rPr lang="en-US" sz="2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 is, Finite Automaton </a:t>
            </a:r>
            <a:r>
              <a:rPr lang="en-US" sz="20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  <a:r>
              <a:rPr lang="en-US" sz="2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behaves identically to ITA </a:t>
            </a:r>
            <a:r>
              <a:rPr lang="en-US" sz="20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00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w.r.t.</a:t>
            </a:r>
            <a:r>
              <a:rPr lang="en-US" sz="2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control state reachability, but does not preserve timing information.</a:t>
            </a:r>
            <a:r>
              <a:rPr lang="en-US" sz="20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/>
            <a:r>
              <a:rPr lang="en-US" sz="2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 reachability of FSM </a:t>
            </a:r>
            <a:r>
              <a:rPr lang="en-US" sz="20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  <a:r>
              <a:rPr lang="en-US" sz="2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graph search techniques 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pic>
        <p:nvPicPr>
          <p:cNvPr id="12" name="Picture 11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8C18F246-01E2-AF9E-463C-72803A917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1976" y="2599377"/>
            <a:ext cx="6490063" cy="128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727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7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3600" b="1" dirty="0"/>
              <a:t>Rational Timed Automata</a:t>
            </a:r>
            <a:endParaRPr lang="en-US" sz="20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22B62F-C8BF-9B8F-ED01-E0E8B24B795B}"/>
              </a:ext>
            </a:extLst>
          </p:cNvPr>
          <p:cNvSpPr/>
          <p:nvPr/>
        </p:nvSpPr>
        <p:spPr>
          <a:xfrm>
            <a:off x="7506132" y="2648112"/>
            <a:ext cx="503856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/>
              <a:t>Description</a:t>
            </a:r>
          </a:p>
          <a:p>
            <a:r>
              <a:rPr lang="en-US" sz="1800" dirty="0"/>
              <a:t>Switch can be turned on whenever at least 2.25 time units have elapsed since the last turn off or on. Switches off automatically 15.5 time units after the last on.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77ABC0-EADB-4395-634A-E193F8CD2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6131" y="1993085"/>
            <a:ext cx="5038565" cy="655027"/>
          </a:xfrm>
        </p:spPr>
        <p:txBody>
          <a:bodyPr/>
          <a:lstStyle/>
          <a:p>
            <a:r>
              <a:rPr lang="en-US" sz="2400" cap="none" dirty="0"/>
              <a:t>Example: Light Switch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F00B9A4C-3905-4D3B-5459-0A55703236D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1412" y="2167954"/>
                <a:ext cx="6257109" cy="452596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311338" indent="-31133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219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1pPr>
                <a:lvl2pPr marL="624854" indent="-31351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tabLst/>
                  <a:defRPr sz="1923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2pPr>
                <a:lvl3pPr marL="857819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3pPr>
                <a:lvl4pPr marL="1090781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511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4pPr>
                <a:lvl5pPr marL="2118414" indent="-232962" algn="r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tabLst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5pPr>
                <a:lvl6pPr marL="384252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4116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39806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938442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b="1" dirty="0">
                    <a:solidFill>
                      <a:schemeClr val="tx1"/>
                    </a:solidFill>
                  </a:rPr>
                  <a:t>Definition. </a:t>
                </a:r>
                <a:r>
                  <a:rPr lang="en-US" sz="2400" dirty="0">
                    <a:solidFill>
                      <a:schemeClr val="tx1"/>
                    </a:solidFill>
                  </a:rPr>
                  <a:t>A </a:t>
                </a:r>
                <a:r>
                  <a:rPr lang="en-US" sz="2400" b="1" i="1" dirty="0">
                    <a:solidFill>
                      <a:srgbClr val="00B0F0"/>
                    </a:solidFill>
                  </a:rPr>
                  <a:t>rational timed automaton</a:t>
                </a:r>
                <a:r>
                  <a:rPr lang="en-US" sz="2400" b="1" dirty="0">
                    <a:solidFill>
                      <a:srgbClr val="00B0F0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is a HA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𝓐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/>
                      </a:rPr>
                      <m:t>〈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/>
                      </a:rPr>
                      <m:t>𝑉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 smtClean="0">
                        <a:solidFill>
                          <a:schemeClr val="tx1"/>
                        </a:solidFill>
                        <a:latin typeface="Cambria Math"/>
                      </a:rPr>
                      <m:t>Θ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/>
                      </a:rPr>
                      <m:t>, 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/>
                      </a:rPr>
                      <m:t>𝐴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/>
                      </a:rPr>
                      <m:t>, 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𝒟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, 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𝒯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〉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where </a:t>
                </a:r>
              </a:p>
              <a:p>
                <a:pPr lvl="1"/>
                <a:r>
                  <a:rPr lang="en-US" sz="2000" dirty="0">
                    <a:solidFill>
                      <a:schemeClr val="tx1"/>
                    </a:solidFill>
                  </a:rPr>
                  <a:t>V = X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𝑙𝑜𝑐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/>
                      </a:rPr>
                      <m:t>𝑋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a set of n clocks and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/>
                      </a:rPr>
                      <m:t>𝑙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a discrete state variable of finite type Ł</a:t>
                </a:r>
                <a:endParaRPr lang="en-US" sz="2000" baseline="-250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sz="2000" dirty="0">
                    <a:solidFill>
                      <a:schemeClr val="tx1"/>
                    </a:solidFill>
                  </a:rPr>
                  <a:t>A is a finite set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𝒟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is a set of transitions such that </a:t>
                </a:r>
              </a:p>
              <a:p>
                <a:pPr lvl="2"/>
                <a:r>
                  <a:rPr lang="en-US" sz="1800" dirty="0">
                    <a:solidFill>
                      <a:schemeClr val="tx1"/>
                    </a:solidFill>
                  </a:rPr>
                  <a:t>The guards are described by </a:t>
                </a:r>
                <a:r>
                  <a:rPr lang="en-US" sz="1800" b="1" dirty="0">
                    <a:solidFill>
                      <a:srgbClr val="00B0F0"/>
                    </a:solidFill>
                  </a:rPr>
                  <a:t>rational</a:t>
                </a:r>
                <a:r>
                  <a:rPr lang="en-US" sz="18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</a:rPr>
                  <a:t>clock constraings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smtClean="0">
                        <a:solidFill>
                          <a:schemeClr val="tx1"/>
                        </a:solidFill>
                        <a:latin typeface="Cambria Math"/>
                      </a:rPr>
                      <m:t>Φ</m:t>
                    </m:r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/>
                      </a:rPr>
                      <m:t>𝑋</m:t>
                    </m:r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 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𝑙</m:t>
                        </m:r>
                      </m:e>
                    </m:d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/>
                      </a:rPr>
                      <m:t>𝑎</m:t>
                    </m:r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/>
                      </a:rPr>
                      <m:t>→</m:t>
                    </m:r>
                    <m:d>
                      <m:dPr>
                        <m:begChr m:val="〈"/>
                        <m:endChr m:val="〉"/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𝑙</m:t>
                            </m:r>
                          </m:e>
                          <m:sup>
                            <m: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 implies either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/>
                      </a:rPr>
                      <m:t>=0</m:t>
                    </m:r>
                  </m:oMath>
                </a14:m>
                <a:endParaRPr lang="en-US" sz="1800" dirty="0">
                  <a:solidFill>
                    <a:schemeClr val="tx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𝒯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set of clock trajectories for the clock variables in X</a:t>
                </a:r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F00B9A4C-3905-4D3B-5459-0A5570323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12" y="2167954"/>
                <a:ext cx="6257109" cy="4525963"/>
              </a:xfrm>
              <a:prstGeom prst="rect">
                <a:avLst/>
              </a:prstGeom>
              <a:blipFill>
                <a:blip r:embed="rId4"/>
                <a:stretch>
                  <a:fillRect l="-1420" t="-838" r="-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42D70FBC-FA1F-AA3B-43B6-BAD0F107AD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8648" y="4611668"/>
            <a:ext cx="4573532" cy="210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417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8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4000" b="1" dirty="0"/>
              <a:t>Multi-Rate Automaton</a:t>
            </a:r>
            <a:endParaRPr lang="en-US" sz="20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B0FEAF-76E5-7915-1609-D1C34D3FA62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1600200"/>
                <a:ext cx="8229600" cy="452596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11338" indent="-31133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219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1pPr>
                <a:lvl2pPr marL="624854" indent="-31351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tabLst/>
                  <a:defRPr sz="1923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2pPr>
                <a:lvl3pPr marL="857819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3pPr>
                <a:lvl4pPr marL="1090781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511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4pPr>
                <a:lvl5pPr marL="2118414" indent="-232962" algn="r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tabLst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5pPr>
                <a:lvl6pPr marL="384252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4116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39806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938442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en-US" b="1" dirty="0"/>
                  <a:t>Definition. </a:t>
                </a:r>
                <a:r>
                  <a:rPr lang="en-US" dirty="0">
                    <a:solidFill>
                      <a:schemeClr val="tx1"/>
                    </a:solidFill>
                  </a:rPr>
                  <a:t>A </a:t>
                </a:r>
                <a:r>
                  <a:rPr lang="en-US" b="1" dirty="0">
                    <a:solidFill>
                      <a:srgbClr val="00B0F0"/>
                    </a:solidFill>
                  </a:rPr>
                  <a:t>multi-rate automaton </a:t>
                </a:r>
                <a:r>
                  <a:rPr lang="en-US" dirty="0">
                    <a:solidFill>
                      <a:schemeClr val="tx1"/>
                    </a:solidFill>
                  </a:rPr>
                  <a:t>is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𝓐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〈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𝑉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, 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𝑄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US" smtClean="0">
                        <a:solidFill>
                          <a:schemeClr val="tx1"/>
                        </a:solidFill>
                        <a:latin typeface="Cambria Math"/>
                      </a:rPr>
                      <m:t>Θ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, 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𝐴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, 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𝒟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, 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𝒯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〉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where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V = X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𝑙𝑜𝑐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where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𝑋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a set of n </a:t>
                </a:r>
                <a:r>
                  <a:rPr lang="en-US" b="1" dirty="0">
                    <a:solidFill>
                      <a:srgbClr val="00B0F0"/>
                    </a:solidFill>
                  </a:rPr>
                  <a:t>continuous variables</a:t>
                </a:r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𝑙𝑜𝑐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a discrete state variable of finite type Ł</a:t>
                </a:r>
                <a:endParaRPr lang="en-US" baseline="-25000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A is a finite set of actions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𝒟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is a set of transitions such that 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The guards are described by </a:t>
                </a:r>
                <a:r>
                  <a:rPr lang="en-US" b="1" dirty="0">
                    <a:solidFill>
                      <a:srgbClr val="00B0F0"/>
                    </a:solidFill>
                  </a:rPr>
                  <a:t>rational</a:t>
                </a:r>
                <a:r>
                  <a:rPr lang="en-US" b="1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clock constraings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solidFill>
                          <a:schemeClr val="tx1"/>
                        </a:solidFill>
                        <a:latin typeface="Cambria Math"/>
                      </a:rPr>
                      <m:t>Φ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𝑋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  <a:p>
                <a:pPr lvl="2">
                  <a:lnSpc>
                    <a:spcPct val="12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𝑙</m:t>
                        </m:r>
                      </m:e>
                    </m:d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𝑎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→</m:t>
                    </m:r>
                    <m:d>
                      <m:dPr>
                        <m:begChr m:val="〈"/>
                        <m:endChr m:val="〉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𝑙</m:t>
                            </m:r>
                          </m:e>
                          <m:sup>
                            <m: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implies either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𝑐</m:t>
                    </m:r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𝑜𝑟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𝒯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set of trajectories such that </a:t>
                </a:r>
              </a:p>
              <a:p>
                <a:pPr marL="457200" lvl="1" indent="0">
                  <a:lnSpc>
                    <a:spcPct val="120000"/>
                  </a:lnSpc>
                  <a:buFont typeface="Lucida Grande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for each variable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charset="0"/>
                      </a:rPr>
                      <m:t>∈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𝑋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 ∃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𝑘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𝑠𝑢𝑐h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𝑡h𝑎𝑡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𝜏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𝒯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, 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𝑡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𝜏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.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𝑑𝑜𝑚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  </m:t>
                    </m:r>
                  </m:oMath>
                </a14:m>
                <a:endParaRPr lang="en-US" i="1" dirty="0">
                  <a:solidFill>
                    <a:schemeClr val="tx1"/>
                  </a:solidFill>
                  <a:latin typeface="Cambria Math"/>
                </a:endParaRPr>
              </a:p>
              <a:p>
                <a:pPr marL="457200" lvl="1" indent="0">
                  <a:lnSpc>
                    <a:spcPct val="120000"/>
                  </a:lnSpc>
                  <a:buFont typeface="Lucida Grande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𝜏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/>
                        </a:rPr>
                        <m:t>.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𝜏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/>
                        </a:rPr>
                        <m:t>.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𝑘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𝑡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B0FEAF-76E5-7915-1609-D1C34D3FA6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00200"/>
                <a:ext cx="8229600" cy="4525963"/>
              </a:xfrm>
              <a:prstGeom prst="rect">
                <a:avLst/>
              </a:prstGeom>
              <a:blipFill>
                <a:blip r:embed="rId4"/>
                <a:stretch>
                  <a:fillRect l="-1080" t="-280" r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>
            <a:extLst>
              <a:ext uri="{FF2B5EF4-FFF2-40B4-BE49-F238E27FC236}">
                <a16:creationId xmlns:a16="http://schemas.microsoft.com/office/drawing/2014/main" id="{C5BE048C-982B-1532-1BA4-68601F3C8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6108" y="3088494"/>
            <a:ext cx="5819775" cy="220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8228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9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4400" b="1" dirty="0"/>
              <a:t>Rectangular HA</a:t>
            </a:r>
            <a:endParaRPr lang="en-US" sz="20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FC92F620-D1B7-44E5-D50F-DCCEC6EDD7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7734" y="1517277"/>
                <a:ext cx="8496300" cy="502920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311338" indent="-31133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219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1pPr>
                <a:lvl2pPr marL="624854" indent="-31351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tabLst/>
                  <a:defRPr sz="1923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2pPr>
                <a:lvl3pPr marL="857819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3pPr>
                <a:lvl4pPr marL="1090781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511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4pPr>
                <a:lvl5pPr marL="2118414" indent="-232962" algn="r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tabLst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5pPr>
                <a:lvl6pPr marL="384252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4116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39806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938442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Lucida Grande"/>
                  <a:buNone/>
                </a:pPr>
                <a:r>
                  <a:rPr lang="en-US" sz="2000" b="1" dirty="0">
                    <a:solidFill>
                      <a:schemeClr val="tx1"/>
                    </a:solidFill>
                  </a:rPr>
                  <a:t>Definition. </a:t>
                </a:r>
                <a:r>
                  <a:rPr lang="en-US" sz="2000" dirty="0">
                    <a:solidFill>
                      <a:schemeClr val="tx1"/>
                    </a:solidFill>
                  </a:rPr>
                  <a:t>An </a:t>
                </a:r>
                <a:r>
                  <a:rPr lang="en-US" sz="2000" b="1" dirty="0">
                    <a:solidFill>
                      <a:srgbClr val="00B0F0"/>
                    </a:solidFill>
                  </a:rPr>
                  <a:t>rectangular hybrid automaton (RHA) </a:t>
                </a:r>
                <a:r>
                  <a:rPr lang="en-US" sz="2000" dirty="0">
                    <a:solidFill>
                      <a:schemeClr val="tx1"/>
                    </a:solidFill>
                  </a:rPr>
                  <a:t>is a HA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𝓐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 charset="0"/>
                        <a:ea typeface="Cambria Math"/>
                      </a:rPr>
                      <m:t>=⟨</m:t>
                    </m:r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charset="0"/>
                        <a:ea typeface="Cambria Math"/>
                      </a:rPr>
                      <m:t>𝑉</m:t>
                    </m:r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charset="0"/>
                        <a:ea typeface="Cambria Math"/>
                      </a:rPr>
                      <m:t>,</m:t>
                    </m:r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charset="0"/>
                        <a:ea typeface="Cambria Math"/>
                      </a:rPr>
                      <m:t>𝐴</m:t>
                    </m:r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charset="0"/>
                        <a:ea typeface="Cambria Math"/>
                      </a:rPr>
                      <m:t>,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𝒯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  <a:ea typeface="Cambria Math"/>
                      </a:rPr>
                      <m:t>,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𝒟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  <a:ea typeface="Cambria Math"/>
                      </a:rPr>
                      <m:t>⟩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 where </a:t>
                </a:r>
              </a:p>
              <a:p>
                <a:pPr lvl="1"/>
                <a:r>
                  <a:rPr lang="en-US" sz="2000" dirty="0">
                    <a:solidFill>
                      <a:schemeClr val="tx1"/>
                    </a:solidFill>
                  </a:rPr>
                  <a:t>V = X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𝑙𝑜𝑐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, where X is a set of n </a:t>
                </a:r>
                <a:r>
                  <a:rPr lang="en-US" sz="2000" b="1" dirty="0">
                    <a:solidFill>
                      <a:srgbClr val="00B0F0"/>
                    </a:solidFill>
                  </a:rPr>
                  <a:t>continuous variables</a:t>
                </a:r>
                <a:r>
                  <a:rPr lang="en-US" sz="2000" dirty="0">
                    <a:solidFill>
                      <a:srgbClr val="00B0F0"/>
                    </a:solidFill>
                  </a:rPr>
                  <a:t> </a:t>
                </a:r>
                <a:r>
                  <a:rPr lang="en-US" sz="2000" dirty="0">
                    <a:solidFill>
                      <a:schemeClr val="tx1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𝑙𝑜𝑐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a discrete state variable of finite type L</a:t>
                </a:r>
                <a:endParaRPr lang="en-US" sz="2000" baseline="-250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sz="2000" dirty="0">
                    <a:solidFill>
                      <a:schemeClr val="tx1"/>
                    </a:solidFill>
                  </a:rPr>
                  <a:t>A is a finite set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𝒯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/>
                              </a:rPr>
                              <m:t>∪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/>
                              </a:rPr>
                              <m:t>ℓ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𝒯</m:t>
                        </m:r>
                      </m:e>
                      <m:sub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/>
                          </a:rPr>
                          <m:t>ℓ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set of trajectories for X</a:t>
                </a:r>
              </a:p>
              <a:p>
                <a:pPr lvl="2"/>
                <a:r>
                  <a:rPr lang="en-US" sz="2000" dirty="0">
                    <a:solidFill>
                      <a:schemeClr val="tx1"/>
                    </a:solidFill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𝜏</m:t>
                    </m:r>
                    <m:r>
                      <m:rPr>
                        <m:lit/>
                      </m:rP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∈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𝒯</m:t>
                        </m:r>
                      </m:e>
                      <m:sub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/>
                          </a:rPr>
                          <m:t>ℓ</m:t>
                        </m:r>
                      </m:sub>
                    </m:sSub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  <a:ea typeface="Cambria Math"/>
                      </a:rPr>
                      <m:t>, 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  <a:ea typeface="Cambria Math"/>
                      </a:rPr>
                      <m:t>𝑥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  <a:ea typeface="Cambria Math"/>
                      </a:rPr>
                      <m:t>∈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  <a:ea typeface="Cambria Math"/>
                      </a:rPr>
                      <m:t>𝑋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either (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i</a:t>
                </a:r>
                <a:r>
                  <a:rPr lang="en-US" sz="2000" dirty="0">
                    <a:solidFill>
                      <a:schemeClr val="tx1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𝑑</m:t>
                    </m:r>
                    <m:d>
                      <m:d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𝑘</m:t>
                        </m:r>
                      </m:e>
                      <m:sub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ℓ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or (ii)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𝑑</m:t>
                    </m:r>
                    <m:d>
                      <m:d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ℓ1 </m:t>
                            </m:r>
                          </m:sub>
                        </m:sSub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ℓ2 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en-US" sz="2000" dirty="0">
                    <a:solidFill>
                      <a:schemeClr val="tx1"/>
                    </a:solidFill>
                  </a:rPr>
                  <a:t>Equivalently, (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i</a:t>
                </a:r>
                <a:r>
                  <a:rPr lang="en-US" sz="2000" dirty="0">
                    <a:solidFill>
                      <a:schemeClr val="tx1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𝜏</m:t>
                    </m:r>
                    <m:d>
                      <m:d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⌈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𝑥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𝜏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(0)⌈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𝑥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𝑘</m:t>
                        </m:r>
                      </m:e>
                      <m:sub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ℓ</m:t>
                        </m:r>
                      </m:sub>
                    </m:sSub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914400" lvl="2" indent="0">
                  <a:buFont typeface="Lucida Grande"/>
                  <a:buNone/>
                </a:pPr>
                <a:r>
                  <a:rPr lang="en-US" sz="2000" dirty="0">
                    <a:solidFill>
                      <a:schemeClr val="tx1"/>
                    </a:solidFill>
                  </a:rPr>
                  <a:t>	(ii)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charset="0"/>
                      </a:rPr>
                      <m:t>𝜏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charset="0"/>
                      </a:rPr>
                      <m:t>(0)⌈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charset="0"/>
                      </a:rPr>
                      <m:t>𝑥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𝑘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ℓ</m:t>
                        </m:r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charset="0"/>
                      </a:rPr>
                      <m:t>𝑡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≤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𝜏</m:t>
                    </m:r>
                    <m:d>
                      <m:d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⌈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𝑥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≤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charset="0"/>
                      </a:rPr>
                      <m:t>𝜏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charset="0"/>
                      </a:rPr>
                      <m:t>(0)⌈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charset="0"/>
                      </a:rPr>
                      <m:t>𝑥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𝑘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ℓ</m:t>
                        </m:r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𝒟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is a set of transitions such that </a:t>
                </a:r>
              </a:p>
              <a:p>
                <a:pPr lvl="2"/>
                <a:r>
                  <a:rPr lang="en-US" sz="2000" dirty="0">
                    <a:solidFill>
                      <a:schemeClr val="tx1"/>
                    </a:solidFill>
                  </a:rPr>
                  <a:t>Guards are described by </a:t>
                </a:r>
                <a:r>
                  <a:rPr lang="en-US" sz="2000" b="1" dirty="0">
                    <a:solidFill>
                      <a:srgbClr val="00B0F0"/>
                    </a:solidFill>
                  </a:rPr>
                  <a:t>rational</a:t>
                </a:r>
                <a:r>
                  <a:rPr lang="en-US" sz="20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>
                    <a:solidFill>
                      <a:schemeClr val="tx1"/>
                    </a:solidFill>
                  </a:rPr>
                  <a:t>clock constraings  </a:t>
                </a:r>
              </a:p>
              <a:p>
                <a:pPr lvl="2"/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𝑙</m:t>
                        </m:r>
                      </m:e>
                    </m:d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→</m:t>
                        </m:r>
                      </m:e>
                      <m:sub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  <m:d>
                      <m:dPr>
                        <m:begChr m:val="〈"/>
                        <m:endChr m:val="〉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𝑙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implies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′</m:t>
                        </m:r>
                      </m:sup>
                    </m:sSup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𝑥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𝑜𝑟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′</m:t>
                        </m:r>
                      </m:sup>
                    </m:sSup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∈[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𝑐</m:t>
                        </m:r>
                      </m:e>
                      <m:sub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𝑐</m:t>
                        </m:r>
                      </m:e>
                      <m:sub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]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Given an RHA, check if a particular location is reachable from the initial states?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Is this problem decidable? No </a:t>
                </a:r>
              </a:p>
              <a:p>
                <a:pPr lvl="1"/>
                <a:r>
                  <a:rPr lang="en-US" sz="1800" b="1" dirty="0">
                    <a:solidFill>
                      <a:schemeClr val="tx1"/>
                    </a:solidFill>
                  </a:rPr>
                  <a:t>[Henz95]</a:t>
                </a:r>
                <a:r>
                  <a:rPr lang="en-US" sz="1800" dirty="0">
                    <a:solidFill>
                      <a:schemeClr val="tx1"/>
                    </a:solidFill>
                  </a:rPr>
                  <a:t> Thomas </a:t>
                </a:r>
                <a:r>
                  <a:rPr lang="en-US" sz="1800" dirty="0" err="1">
                    <a:solidFill>
                      <a:schemeClr val="tx1"/>
                    </a:solidFill>
                  </a:rPr>
                  <a:t>Henzinger</a:t>
                </a:r>
                <a:r>
                  <a:rPr lang="en-US" sz="1800" dirty="0">
                    <a:solidFill>
                      <a:schemeClr val="tx1"/>
                    </a:solidFill>
                  </a:rPr>
                  <a:t>, Peter </a:t>
                </a:r>
                <a:r>
                  <a:rPr lang="en-US" sz="1800" dirty="0" err="1">
                    <a:solidFill>
                      <a:schemeClr val="tx1"/>
                    </a:solidFill>
                  </a:rPr>
                  <a:t>Kopke</a:t>
                </a:r>
                <a:r>
                  <a:rPr lang="en-US" sz="1800" dirty="0">
                    <a:solidFill>
                      <a:schemeClr val="tx1"/>
                    </a:solidFill>
                  </a:rPr>
                  <a:t>, Anuj Puri, and Pravin </a:t>
                </a:r>
                <a:r>
                  <a:rPr lang="en-US" sz="1800" dirty="0" err="1">
                    <a:solidFill>
                      <a:schemeClr val="tx1"/>
                    </a:solidFill>
                  </a:rPr>
                  <a:t>Varaiya</a:t>
                </a:r>
                <a:r>
                  <a:rPr lang="en-US" sz="1800" dirty="0">
                    <a:solidFill>
                      <a:schemeClr val="tx1"/>
                    </a:solidFill>
                  </a:rPr>
                  <a:t>. </a:t>
                </a:r>
                <a:r>
                  <a:rPr lang="en-US" sz="1800" dirty="0">
                    <a:hlinkClick r:id="rId4"/>
                  </a:rPr>
                  <a:t>What's Decidable About Hybrid Automata?. Journal of Computer and System Sciences, pages 373–382. ACM Press, 1995. </a:t>
                </a:r>
                <a:endParaRPr lang="en-US" sz="1800" dirty="0"/>
              </a:p>
              <a:p>
                <a:pPr lvl="1"/>
                <a:endParaRPr lang="en-US" sz="2275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FC92F620-D1B7-44E5-D50F-DCCEC6EDD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734" y="1517277"/>
                <a:ext cx="8496300" cy="5029200"/>
              </a:xfrm>
              <a:prstGeom prst="rect">
                <a:avLst/>
              </a:prstGeom>
              <a:blipFill>
                <a:blip r:embed="rId5"/>
                <a:stretch>
                  <a:fillRect l="-746" t="-756" r="-1343" b="-2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500B558-8227-E1AE-D5C6-9A21DDA7C008}"/>
              </a:ext>
            </a:extLst>
          </p:cNvPr>
          <p:cNvSpPr txBox="1"/>
          <p:nvPr/>
        </p:nvSpPr>
        <p:spPr>
          <a:xfrm>
            <a:off x="8776076" y="2850083"/>
            <a:ext cx="4996107" cy="70788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Generalizes multi-rate automata by allowing nondeterministic trajectories and resets.</a:t>
            </a:r>
          </a:p>
        </p:txBody>
      </p:sp>
    </p:spTree>
    <p:extLst>
      <p:ext uri="{BB962C8B-B14F-4D97-AF65-F5344CB8AC3E}">
        <p14:creationId xmlns:p14="http://schemas.microsoft.com/office/powerpoint/2010/main" val="1976059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10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4400" b="1" dirty="0"/>
              <a:t>Initialized Rectangular HA</a:t>
            </a:r>
            <a:endParaRPr lang="en-US" sz="20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0F240A-CB7C-BE2F-7AB8-9AEDF0BAD6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1674031"/>
                <a:ext cx="11390811" cy="622899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311338" indent="-31133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219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1pPr>
                <a:lvl2pPr marL="624854" indent="-31351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tabLst/>
                  <a:defRPr sz="1923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2pPr>
                <a:lvl3pPr marL="857819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3pPr>
                <a:lvl4pPr marL="1090781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511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4pPr>
                <a:lvl5pPr marL="2118414" indent="-232962" algn="r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tabLst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5pPr>
                <a:lvl6pPr marL="384252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4116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39806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938442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Lucida Grande"/>
                  <a:buNone/>
                </a:pPr>
                <a:r>
                  <a:rPr lang="en-US" sz="2000" b="1" dirty="0">
                    <a:solidFill>
                      <a:schemeClr val="tx1"/>
                    </a:solidFill>
                  </a:rPr>
                  <a:t>Definition. </a:t>
                </a:r>
                <a:r>
                  <a:rPr lang="en-US" sz="2000" b="1" i="1" dirty="0">
                    <a:solidFill>
                      <a:srgbClr val="00B0F0"/>
                    </a:solidFill>
                  </a:rPr>
                  <a:t>An initialized rectangular hybrid automaton </a:t>
                </a:r>
                <a:r>
                  <a:rPr lang="en-US" sz="2000" b="1" dirty="0">
                    <a:solidFill>
                      <a:srgbClr val="00B0F0"/>
                    </a:solidFill>
                  </a:rPr>
                  <a:t>(IRHA) </a:t>
                </a:r>
                <a:r>
                  <a:rPr lang="en-US" sz="2000" dirty="0">
                    <a:solidFill>
                      <a:schemeClr val="tx1"/>
                    </a:solidFill>
                  </a:rPr>
                  <a:t>is a RHA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𝓐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 where </a:t>
                </a:r>
              </a:p>
              <a:p>
                <a:pPr lvl="1"/>
                <a:r>
                  <a:rPr lang="en-US" sz="2000" dirty="0">
                    <a:solidFill>
                      <a:schemeClr val="tx1"/>
                    </a:solidFill>
                  </a:rPr>
                  <a:t>V = X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𝑙𝑜𝑐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where  X is a set of n continuous variables and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𝑙𝑜𝑐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a discrete state variable of finite type Ł</a:t>
                </a:r>
                <a:endParaRPr lang="en-US" sz="2000" baseline="-250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sz="2000" dirty="0">
                    <a:solidFill>
                      <a:schemeClr val="tx1"/>
                    </a:solidFill>
                  </a:rPr>
                  <a:t>A is a finite set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𝒯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/>
                              </a:rPr>
                              <m:t>∪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/>
                              </a:rPr>
                              <m:t>ℓ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𝒯</m:t>
                        </m:r>
                      </m:e>
                      <m:sub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/>
                          </a:rPr>
                          <m:t>ℓ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set of trajectories for X</a:t>
                </a:r>
              </a:p>
              <a:p>
                <a:pPr lvl="2"/>
                <a:r>
                  <a:rPr lang="en-US" sz="2000" dirty="0">
                    <a:solidFill>
                      <a:schemeClr val="tx1"/>
                    </a:solidFill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𝜏</m:t>
                    </m:r>
                    <m:r>
                      <m:rPr>
                        <m:lit/>
                      </m:rP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∈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𝒯</m:t>
                        </m:r>
                      </m:e>
                      <m:sub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/>
                          </a:rPr>
                          <m:t>ℓ</m:t>
                        </m:r>
                      </m:sub>
                    </m:sSub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  <a:ea typeface="Cambria Math"/>
                      </a:rPr>
                      <m:t>, 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  <a:ea typeface="Cambria Math"/>
                      </a:rPr>
                      <m:t>𝑥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  <a:ea typeface="Cambria Math"/>
                      </a:rPr>
                      <m:t>∈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  <a:ea typeface="Cambria Math"/>
                      </a:rPr>
                      <m:t>𝑋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either (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i</a:t>
                </a:r>
                <a:r>
                  <a:rPr lang="en-US" sz="2000" dirty="0">
                    <a:solidFill>
                      <a:schemeClr val="tx1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𝑑</m:t>
                    </m:r>
                    <m:d>
                      <m:d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𝑘</m:t>
                        </m:r>
                      </m:e>
                      <m:sub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ℓ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or (ii)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𝑑</m:t>
                    </m:r>
                    <m:d>
                      <m:d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ℓ1 </m:t>
                            </m:r>
                          </m:sub>
                        </m:sSub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ℓ2 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en-US" sz="2000" dirty="0">
                    <a:solidFill>
                      <a:schemeClr val="tx1"/>
                    </a:solidFill>
                  </a:rPr>
                  <a:t>Equivalently, (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i</a:t>
                </a:r>
                <a:r>
                  <a:rPr lang="en-US" sz="2000" dirty="0">
                    <a:solidFill>
                      <a:schemeClr val="tx1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𝜏</m:t>
                    </m:r>
                    <m:d>
                      <m:d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⌈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𝑥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𝜏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(0)⌈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𝑥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𝑘</m:t>
                        </m:r>
                      </m:e>
                      <m:sub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ℓ</m:t>
                        </m:r>
                      </m:sub>
                    </m:sSub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914400" lvl="2" indent="0">
                  <a:buFont typeface="Lucida Grande"/>
                  <a:buNone/>
                </a:pPr>
                <a:r>
                  <a:rPr lang="en-US" sz="2000" dirty="0">
                    <a:solidFill>
                      <a:schemeClr val="tx1"/>
                    </a:solidFill>
                  </a:rPr>
                  <a:t>	(ii)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charset="0"/>
                      </a:rPr>
                      <m:t>𝜏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charset="0"/>
                      </a:rPr>
                      <m:t>(0)⌈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charset="0"/>
                      </a:rPr>
                      <m:t>𝑥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𝑘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ℓ</m:t>
                        </m:r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charset="0"/>
                      </a:rPr>
                      <m:t>𝑡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≤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𝜏</m:t>
                    </m:r>
                    <m:d>
                      <m:d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⌈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𝑥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≤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charset="0"/>
                      </a:rPr>
                      <m:t>𝜏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charset="0"/>
                      </a:rPr>
                      <m:t>(0)⌈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charset="0"/>
                      </a:rPr>
                      <m:t>𝑥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𝑘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ℓ</m:t>
                        </m:r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𝒟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is a set of transitions such that </a:t>
                </a:r>
              </a:p>
              <a:p>
                <a:pPr lvl="2"/>
                <a:r>
                  <a:rPr lang="en-US" sz="2000" dirty="0">
                    <a:solidFill>
                      <a:schemeClr val="tx1"/>
                    </a:solidFill>
                  </a:rPr>
                  <a:t>Guards are described by</a:t>
                </a:r>
                <a:r>
                  <a:rPr lang="en-US" sz="2000" dirty="0"/>
                  <a:t> 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rational </a:t>
                </a:r>
                <a:r>
                  <a:rPr lang="en-US" sz="2000" dirty="0">
                    <a:solidFill>
                      <a:schemeClr val="tx1"/>
                    </a:solidFill>
                  </a:rPr>
                  <a:t>clock constraings  </a:t>
                </a:r>
              </a:p>
              <a:p>
                <a:pPr lvl="2"/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𝑙</m:t>
                        </m:r>
                      </m:e>
                    </m:d>
                    <m:sSub>
                      <m:sSubPr>
                        <m:ctrlP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→</m:t>
                        </m:r>
                      </m:e>
                      <m:sub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  <m:d>
                      <m:dPr>
                        <m:begChr m:val="〈"/>
                        <m:endChr m:val="〉"/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𝑙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implies if dynamics changes from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ℓ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ℓ′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′</m:t>
                        </m:r>
                      </m:sup>
                    </m:sSup>
                    <m:r>
                      <a:rPr lang="en-US" sz="200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∈[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𝑐</m:t>
                        </m:r>
                      </m:e>
                      <m:sub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200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𝑐</m:t>
                        </m:r>
                      </m:e>
                      <m:sub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sz="200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]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, otherwise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′</m:t>
                        </m:r>
                      </m:sup>
                    </m:sSup>
                    <m:r>
                      <a:rPr lang="en-US" sz="200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=</m:t>
                    </m:r>
                    <m:r>
                      <a:rPr lang="en-US" sz="200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𝑥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sz="2275" dirty="0">
                    <a:solidFill>
                      <a:srgbClr val="FF0000"/>
                    </a:solidFill>
                  </a:rPr>
                  <a:t> 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For initialized Rectangular HA, control state reachability is decidable</a:t>
                </a:r>
              </a:p>
              <a:p>
                <a:pPr lvl="1"/>
                <a:r>
                  <a:rPr lang="en-US" sz="1800" dirty="0">
                    <a:solidFill>
                      <a:schemeClr val="tx1"/>
                    </a:solidFill>
                  </a:rPr>
                  <a:t>Can we drop the initialization restriction?</a:t>
                </a:r>
              </a:p>
              <a:p>
                <a:pPr lvl="2"/>
                <a:r>
                  <a:rPr lang="en-US" sz="1600" dirty="0">
                    <a:solidFill>
                      <a:schemeClr val="tx1"/>
                    </a:solidFill>
                  </a:rPr>
                  <a:t>No, problem becomes undecidable </a:t>
                </a:r>
              </a:p>
              <a:p>
                <a:pPr lvl="1"/>
                <a:endParaRPr lang="en-US" sz="2275" dirty="0">
                  <a:solidFill>
                    <a:srgbClr val="FF0000"/>
                  </a:solidFill>
                </a:endParaRPr>
              </a:p>
              <a:p>
                <a:pPr lvl="1"/>
                <a:endParaRPr lang="en-US" sz="2000" dirty="0"/>
              </a:p>
              <a:p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0F240A-CB7C-BE2F-7AB8-9AEDF0BAD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74031"/>
                <a:ext cx="11390811" cy="6228998"/>
              </a:xfrm>
              <a:prstGeom prst="rect">
                <a:avLst/>
              </a:prstGeom>
              <a:blipFill>
                <a:blip r:embed="rId4"/>
                <a:stretch>
                  <a:fillRect l="-557" t="-611" r="-6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1F62703-5392-7323-3663-455FD793A894}"/>
              </a:ext>
            </a:extLst>
          </p:cNvPr>
          <p:cNvSpPr txBox="1"/>
          <p:nvPr/>
        </p:nvSpPr>
        <p:spPr>
          <a:xfrm>
            <a:off x="8776076" y="2850083"/>
            <a:ext cx="4996107" cy="70788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continuous variables are forced to be initialized every time their dynamics changes</a:t>
            </a:r>
          </a:p>
        </p:txBody>
      </p:sp>
    </p:spTree>
    <p:extLst>
      <p:ext uri="{BB962C8B-B14F-4D97-AF65-F5344CB8AC3E}">
        <p14:creationId xmlns:p14="http://schemas.microsoft.com/office/powerpoint/2010/main" val="980588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FFD13-DE4C-CBFF-E543-251C3FD90371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11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5C0CD48-BA7C-391F-CCB3-A9543E9B619C}"/>
              </a:ext>
            </a:extLst>
          </p:cNvPr>
          <p:cNvSpPr>
            <a:spLocks noGrp="1"/>
          </p:cNvSpPr>
          <p:nvPr/>
        </p:nvSpPr>
        <p:spPr>
          <a:xfrm>
            <a:off x="822961" y="2176282"/>
            <a:ext cx="11665130" cy="21925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200" b="1" dirty="0">
                <a:solidFill>
                  <a:srgbClr val="08436E"/>
                </a:solidFill>
                <a:ea typeface="+mn-ea"/>
                <a:cs typeface="+mn-cs"/>
              </a:rPr>
              <a:t>Data Structures for Reachability Analysis </a:t>
            </a:r>
            <a:endParaRPr lang="en-US" sz="5400" dirty="0">
              <a:solidFill>
                <a:srgbClr val="08436E"/>
              </a:solidFill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A6DED9-925A-BB9D-460C-740E3DACF382}"/>
              </a:ext>
            </a:extLst>
          </p:cNvPr>
          <p:cNvSpPr/>
          <p:nvPr/>
        </p:nvSpPr>
        <p:spPr>
          <a:xfrm flipV="1">
            <a:off x="1638413" y="4507150"/>
            <a:ext cx="10540772" cy="76983"/>
          </a:xfrm>
          <a:prstGeom prst="rect">
            <a:avLst/>
          </a:prstGeom>
          <a:solidFill>
            <a:srgbClr val="BA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5421" tIns="62707" rIns="125421" bIns="62707" rtlCol="0" anchor="ctr"/>
          <a:lstStyle/>
          <a:p>
            <a:pPr algn="ctr" defTabSz="698559"/>
            <a:endParaRPr lang="en-US" sz="2747">
              <a:solidFill>
                <a:srgbClr val="1183CC"/>
              </a:solidFill>
              <a:latin typeface="Calib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08078AA-060F-7217-B8B6-AF3BEB84A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5073" y="130632"/>
            <a:ext cx="1353332" cy="98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744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12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4400" b="1" dirty="0"/>
              <a:t>Common Data Structures for RA</a:t>
            </a:r>
            <a:endParaRPr lang="en-US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F240A-CB7C-BE2F-7AB8-9AEDF0BAD689}"/>
              </a:ext>
            </a:extLst>
          </p:cNvPr>
          <p:cNvSpPr txBox="1">
            <a:spLocks/>
          </p:cNvSpPr>
          <p:nvPr/>
        </p:nvSpPr>
        <p:spPr>
          <a:xfrm>
            <a:off x="457200" y="1674031"/>
            <a:ext cx="11390811" cy="5029200"/>
          </a:xfrm>
          <a:prstGeom prst="rect">
            <a:avLst/>
          </a:prstGeom>
        </p:spPr>
        <p:txBody>
          <a:bodyPr>
            <a:noAutofit/>
          </a:bodyPr>
          <a:lstStyle>
            <a:lvl1pPr marL="311338" indent="-31133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219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624854" indent="-31351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tabLst/>
              <a:defRPr sz="192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857819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090781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51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118414" indent="-232962" algn="r" defTabSz="698642" rtl="0" eaLnBrk="1" latinLnBrk="0" hangingPunct="1">
              <a:spcBef>
                <a:spcPct val="20000"/>
              </a:spcBef>
              <a:buFont typeface="Arial"/>
              <a:buChar char="•"/>
              <a:tabLst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384252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4116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239806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938442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Hyperrectangles</a:t>
            </a:r>
          </a:p>
          <a:p>
            <a:r>
              <a:rPr lang="en-US" sz="2400" dirty="0" err="1">
                <a:solidFill>
                  <a:schemeClr val="tx1"/>
                </a:solidFill>
              </a:rPr>
              <a:t>Polyhedra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rgbClr val="00B0F0"/>
                </a:solidFill>
              </a:rPr>
              <a:t>[</a:t>
            </a:r>
            <a:r>
              <a:rPr lang="en-US" sz="2400" dirty="0" err="1">
                <a:solidFill>
                  <a:srgbClr val="00B0F0"/>
                </a:solidFill>
              </a:rPr>
              <a:t>Halbwachs</a:t>
            </a:r>
            <a:r>
              <a:rPr lang="en-US" sz="2400" dirty="0">
                <a:solidFill>
                  <a:srgbClr val="00B0F0"/>
                </a:solidFill>
              </a:rPr>
              <a:t> et al. 1994]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Zonotopes </a:t>
            </a:r>
            <a:r>
              <a:rPr lang="en-US" sz="2400" dirty="0">
                <a:solidFill>
                  <a:srgbClr val="00B0F0"/>
                </a:solidFill>
              </a:rPr>
              <a:t>[Girard 2005]</a:t>
            </a:r>
          </a:p>
          <a:p>
            <a:r>
              <a:rPr lang="en-US" sz="2400" dirty="0">
                <a:solidFill>
                  <a:schemeClr val="tx1"/>
                </a:solidFill>
              </a:rPr>
              <a:t>Ellipsoids </a:t>
            </a:r>
            <a:r>
              <a:rPr lang="en-US" sz="2400" dirty="0">
                <a:solidFill>
                  <a:srgbClr val="00B0F0"/>
                </a:solidFill>
              </a:rPr>
              <a:t>[</a:t>
            </a:r>
            <a:r>
              <a:rPr lang="en-US" sz="2400" dirty="0" err="1">
                <a:solidFill>
                  <a:srgbClr val="00B0F0"/>
                </a:solidFill>
              </a:rPr>
              <a:t>Kurzhanskiy</a:t>
            </a:r>
            <a:r>
              <a:rPr lang="en-US" sz="2400" dirty="0">
                <a:solidFill>
                  <a:srgbClr val="00B0F0"/>
                </a:solidFill>
              </a:rPr>
              <a:t> 2001]</a:t>
            </a:r>
          </a:p>
          <a:p>
            <a:r>
              <a:rPr lang="en-US" sz="2400" dirty="0">
                <a:solidFill>
                  <a:schemeClr val="tx1"/>
                </a:solidFill>
              </a:rPr>
              <a:t>Support functions </a:t>
            </a:r>
            <a:r>
              <a:rPr lang="en-US" sz="2400" dirty="0">
                <a:solidFill>
                  <a:srgbClr val="00B0F0"/>
                </a:solidFill>
              </a:rPr>
              <a:t>[</a:t>
            </a:r>
            <a:r>
              <a:rPr lang="en-US" sz="2400" dirty="0" err="1">
                <a:solidFill>
                  <a:srgbClr val="00B0F0"/>
                </a:solidFill>
              </a:rPr>
              <a:t>Guernic</a:t>
            </a:r>
            <a:r>
              <a:rPr lang="en-US" sz="2400" dirty="0">
                <a:solidFill>
                  <a:srgbClr val="00B0F0"/>
                </a:solidFill>
              </a:rPr>
              <a:t> et al. 2009]</a:t>
            </a:r>
          </a:p>
          <a:p>
            <a:r>
              <a:rPr lang="en-US" sz="2400" dirty="0">
                <a:solidFill>
                  <a:schemeClr val="tx1"/>
                </a:solidFill>
              </a:rPr>
              <a:t>Generalized star set </a:t>
            </a:r>
            <a:r>
              <a:rPr lang="en-US" sz="2400" dirty="0">
                <a:solidFill>
                  <a:srgbClr val="00B0F0"/>
                </a:solidFill>
              </a:rPr>
              <a:t>[</a:t>
            </a:r>
            <a:r>
              <a:rPr lang="en-US" sz="2400" dirty="0" err="1">
                <a:solidFill>
                  <a:srgbClr val="00B0F0"/>
                </a:solidFill>
              </a:rPr>
              <a:t>Duggirala</a:t>
            </a:r>
            <a:r>
              <a:rPr lang="en-US" sz="2400" dirty="0">
                <a:solidFill>
                  <a:srgbClr val="00B0F0"/>
                </a:solidFill>
              </a:rPr>
              <a:t> and Viswanathan 2018]</a:t>
            </a:r>
          </a:p>
          <a:p>
            <a:pPr lvl="1"/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10083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13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4400" b="1" dirty="0"/>
              <a:t>Hyper-rectangles</a:t>
            </a:r>
            <a:endParaRPr lang="en-US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F240A-CB7C-BE2F-7AB8-9AEDF0BAD689}"/>
              </a:ext>
            </a:extLst>
          </p:cNvPr>
          <p:cNvSpPr txBox="1">
            <a:spLocks/>
          </p:cNvSpPr>
          <p:nvPr/>
        </p:nvSpPr>
        <p:spPr>
          <a:xfrm>
            <a:off x="457200" y="1674031"/>
            <a:ext cx="11390811" cy="5029200"/>
          </a:xfrm>
          <a:prstGeom prst="rect">
            <a:avLst/>
          </a:prstGeom>
        </p:spPr>
        <p:txBody>
          <a:bodyPr>
            <a:noAutofit/>
          </a:bodyPr>
          <a:lstStyle>
            <a:lvl1pPr marL="311338" indent="-31133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219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624854" indent="-31351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tabLst/>
              <a:defRPr sz="192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857819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090781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51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118414" indent="-232962" algn="r" defTabSz="698642" rtl="0" eaLnBrk="1" latinLnBrk="0" hangingPunct="1">
              <a:spcBef>
                <a:spcPct val="20000"/>
              </a:spcBef>
              <a:buFont typeface="Arial"/>
              <a:buChar char="•"/>
              <a:tabLst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384252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4116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239806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938442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A hyperrectangle is the n-dimensional generalization of an interval [</a:t>
            </a:r>
            <a:r>
              <a:rPr lang="en-US" sz="2400" dirty="0" err="1">
                <a:solidFill>
                  <a:schemeClr val="tx1"/>
                </a:solidFill>
              </a:rPr>
              <a:t>a,b</a:t>
            </a:r>
            <a:r>
              <a:rPr lang="en-US" sz="2400" dirty="0">
                <a:solidFill>
                  <a:schemeClr val="tx1"/>
                </a:solidFill>
              </a:rPr>
              <a:t>].  </a:t>
            </a:r>
            <a:endParaRPr lang="en-US" sz="2400" dirty="0">
              <a:solidFill>
                <a:srgbClr val="00B0F0"/>
              </a:solidFill>
            </a:endParaRPr>
          </a:p>
          <a:p>
            <a:pPr lvl="1"/>
            <a:endParaRPr lang="en-US" sz="2000" dirty="0"/>
          </a:p>
          <a:p>
            <a:endParaRPr lang="en-US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115B4B-32F1-C72A-DE32-65438F194B4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4071"/>
          <a:stretch/>
        </p:blipFill>
        <p:spPr>
          <a:xfrm>
            <a:off x="2401475" y="2666080"/>
            <a:ext cx="9014649" cy="327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984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14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4400" b="1" dirty="0"/>
              <a:t>Polytopes</a:t>
            </a:r>
            <a:endParaRPr lang="en-US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F240A-CB7C-BE2F-7AB8-9AEDF0BAD689}"/>
              </a:ext>
            </a:extLst>
          </p:cNvPr>
          <p:cNvSpPr txBox="1">
            <a:spLocks/>
          </p:cNvSpPr>
          <p:nvPr/>
        </p:nvSpPr>
        <p:spPr>
          <a:xfrm>
            <a:off x="457200" y="1674031"/>
            <a:ext cx="11390811" cy="5029200"/>
          </a:xfrm>
          <a:prstGeom prst="rect">
            <a:avLst/>
          </a:prstGeom>
        </p:spPr>
        <p:txBody>
          <a:bodyPr>
            <a:noAutofit/>
          </a:bodyPr>
          <a:lstStyle>
            <a:lvl1pPr marL="311338" indent="-31133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219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624854" indent="-31351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tabLst/>
              <a:defRPr sz="192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857819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090781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51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118414" indent="-232962" algn="r" defTabSz="698642" rtl="0" eaLnBrk="1" latinLnBrk="0" hangingPunct="1">
              <a:spcBef>
                <a:spcPct val="20000"/>
              </a:spcBef>
              <a:buFont typeface="Arial"/>
              <a:buChar char="•"/>
              <a:tabLst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384252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4116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239806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938442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Generalize hyperrectangles by representing sets as intersections of arbitrary –not necessarily orthogonal – half-spaces.</a:t>
            </a:r>
            <a:endParaRPr lang="en-US" sz="2400" dirty="0">
              <a:solidFill>
                <a:srgbClr val="00B0F0"/>
              </a:solidFill>
            </a:endParaRPr>
          </a:p>
          <a:p>
            <a:pPr lvl="1"/>
            <a:endParaRPr lang="en-US" sz="2000" dirty="0"/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4DC89C-4811-A2F2-85C3-783E4D503FE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0564"/>
          <a:stretch/>
        </p:blipFill>
        <p:spPr>
          <a:xfrm>
            <a:off x="2049869" y="3446368"/>
            <a:ext cx="9717862" cy="325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884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15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4400" b="1" dirty="0"/>
              <a:t>Zonotopes</a:t>
            </a:r>
            <a:endParaRPr lang="en-US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F240A-CB7C-BE2F-7AB8-9AEDF0BAD689}"/>
              </a:ext>
            </a:extLst>
          </p:cNvPr>
          <p:cNvSpPr txBox="1">
            <a:spLocks/>
          </p:cNvSpPr>
          <p:nvPr/>
        </p:nvSpPr>
        <p:spPr>
          <a:xfrm>
            <a:off x="457200" y="1674031"/>
            <a:ext cx="11390811" cy="5029200"/>
          </a:xfrm>
          <a:prstGeom prst="rect">
            <a:avLst/>
          </a:prstGeom>
        </p:spPr>
        <p:txBody>
          <a:bodyPr>
            <a:noAutofit/>
          </a:bodyPr>
          <a:lstStyle>
            <a:lvl1pPr marL="311338" indent="-31133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219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624854" indent="-31351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tabLst/>
              <a:defRPr sz="192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857819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090781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51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118414" indent="-232962" algn="r" defTabSz="698642" rtl="0" eaLnBrk="1" latinLnBrk="0" hangingPunct="1">
              <a:spcBef>
                <a:spcPct val="20000"/>
              </a:spcBef>
              <a:buFont typeface="Arial"/>
              <a:buChar char="•"/>
              <a:tabLst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384252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4116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239806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938442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A zonotope is specified by a center, and a collection of generator vectors. </a:t>
            </a:r>
          </a:p>
          <a:p>
            <a:r>
              <a:rPr lang="en-US" sz="2400" dirty="0">
                <a:solidFill>
                  <a:schemeClr val="tx1"/>
                </a:solidFill>
              </a:rPr>
              <a:t>Each vector defines a line segment centered at the center.</a:t>
            </a:r>
            <a:endParaRPr lang="en-US" sz="2400" dirty="0">
              <a:solidFill>
                <a:srgbClr val="00B0F0"/>
              </a:solidFill>
            </a:endParaRPr>
          </a:p>
          <a:p>
            <a:pPr lvl="1"/>
            <a:endParaRPr lang="en-US" sz="2000" dirty="0"/>
          </a:p>
          <a:p>
            <a:endParaRPr lang="en-US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0B887A-EB4B-5ACF-A78B-ADBE92F4194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0962"/>
          <a:stretch/>
        </p:blipFill>
        <p:spPr>
          <a:xfrm>
            <a:off x="1917315" y="3354500"/>
            <a:ext cx="9752680" cy="324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449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16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4400" b="1" dirty="0"/>
              <a:t>Ellipsoids</a:t>
            </a:r>
            <a:endParaRPr lang="en-US" sz="20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0F240A-CB7C-BE2F-7AB8-9AEDF0BAD6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1674031"/>
                <a:ext cx="11390811" cy="502920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311338" indent="-31133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219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1pPr>
                <a:lvl2pPr marL="624854" indent="-31351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tabLst/>
                  <a:defRPr sz="1923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2pPr>
                <a:lvl3pPr marL="857819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3pPr>
                <a:lvl4pPr marL="1090781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511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4pPr>
                <a:lvl5pPr marL="2118414" indent="-232962" algn="r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tabLst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5pPr>
                <a:lvl6pPr marL="384252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4116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39806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938442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>
                    <a:solidFill>
                      <a:schemeClr val="tx1"/>
                    </a:solidFill>
                  </a:rPr>
                  <a:t>Ellipsoids generalize spheres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>
                  <a:solidFill>
                    <a:srgbClr val="00B0F0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It is defined by a center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and a shape matric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𝑛𝑥𝑛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pPr lvl="1"/>
                <a:endParaRPr lang="en-US" sz="2000" dirty="0"/>
              </a:p>
              <a:p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0F240A-CB7C-BE2F-7AB8-9AEDF0BAD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74031"/>
                <a:ext cx="11390811" cy="5029200"/>
              </a:xfrm>
              <a:prstGeom prst="rect">
                <a:avLst/>
              </a:prstGeom>
              <a:blipFill>
                <a:blip r:embed="rId4"/>
                <a:stretch>
                  <a:fillRect l="-891" t="-1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2CA5F42-E77F-3B5A-1874-76C3278B51D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6414"/>
          <a:stretch/>
        </p:blipFill>
        <p:spPr>
          <a:xfrm>
            <a:off x="2112902" y="3722915"/>
            <a:ext cx="9591796" cy="271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465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FFD13-DE4C-CBFF-E543-251C3FD90371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17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5C0CD48-BA7C-391F-CCB3-A9543E9B619C}"/>
              </a:ext>
            </a:extLst>
          </p:cNvPr>
          <p:cNvSpPr>
            <a:spLocks noGrp="1"/>
          </p:cNvSpPr>
          <p:nvPr/>
        </p:nvSpPr>
        <p:spPr>
          <a:xfrm>
            <a:off x="3210205" y="2176282"/>
            <a:ext cx="7397189" cy="21925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200" b="1" dirty="0">
                <a:solidFill>
                  <a:srgbClr val="08436E"/>
                </a:solidFill>
                <a:ea typeface="+mn-ea"/>
                <a:cs typeface="+mn-cs"/>
              </a:rPr>
              <a:t>Thank You!!!</a:t>
            </a:r>
            <a:endParaRPr lang="en-US" sz="6000" b="1" dirty="0">
              <a:solidFill>
                <a:srgbClr val="08436E"/>
              </a:solidFill>
              <a:ea typeface="+mn-ea"/>
              <a:cs typeface="+mn-cs"/>
            </a:endParaRPr>
          </a:p>
          <a:p>
            <a:pPr algn="ctr"/>
            <a:r>
              <a:rPr lang="en-US" sz="5400" dirty="0">
                <a:solidFill>
                  <a:srgbClr val="08436E"/>
                </a:solidFill>
                <a:ea typeface="+mn-ea"/>
                <a:cs typeface="+mn-cs"/>
              </a:rPr>
              <a:t>Q&amp;A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A6DED9-925A-BB9D-460C-740E3DACF382}"/>
              </a:ext>
            </a:extLst>
          </p:cNvPr>
          <p:cNvSpPr/>
          <p:nvPr/>
        </p:nvSpPr>
        <p:spPr>
          <a:xfrm flipV="1">
            <a:off x="1638413" y="4507150"/>
            <a:ext cx="10540772" cy="76983"/>
          </a:xfrm>
          <a:prstGeom prst="rect">
            <a:avLst/>
          </a:prstGeom>
          <a:solidFill>
            <a:srgbClr val="BA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5421" tIns="62707" rIns="125421" bIns="62707" rtlCol="0" anchor="ctr"/>
          <a:lstStyle/>
          <a:p>
            <a:pPr algn="ctr" defTabSz="698559"/>
            <a:endParaRPr lang="en-US" sz="2747">
              <a:solidFill>
                <a:srgbClr val="1183CC"/>
              </a:solidFill>
              <a:latin typeface="Calib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08078AA-060F-7217-B8B6-AF3BEB84A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5073" y="130632"/>
            <a:ext cx="1353332" cy="98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049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43395</TotalTime>
  <Words>1272</Words>
  <Application>Microsoft Macintosh PowerPoint</Application>
  <PresentationFormat>Custom</PresentationFormat>
  <Paragraphs>155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30" baseType="lpstr">
      <vt:lpstr>Arial</vt:lpstr>
      <vt:lpstr>Avenir</vt:lpstr>
      <vt:lpstr>Avenir Black</vt:lpstr>
      <vt:lpstr>Avenir Book</vt:lpstr>
      <vt:lpstr>Avenir Medium</vt:lpstr>
      <vt:lpstr>AvenirNext LT Pro Bold</vt:lpstr>
      <vt:lpstr>Calibri</vt:lpstr>
      <vt:lpstr>Calibri Light</vt:lpstr>
      <vt:lpstr>Cambria Math</vt:lpstr>
      <vt:lpstr>Lucida Grande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Example: Light Switch</vt:lpstr>
      <vt:lpstr>PowerPoint Presentation</vt:lpstr>
      <vt:lpstr>Example: Light Switch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Rex</dc:creator>
  <cp:keywords/>
  <dc:description/>
  <cp:lastModifiedBy>Taye, Abenezer Girma</cp:lastModifiedBy>
  <cp:revision>538</cp:revision>
  <cp:lastPrinted>2016-12-21T01:41:29Z</cp:lastPrinted>
  <dcterms:created xsi:type="dcterms:W3CDTF">2014-12-17T18:59:26Z</dcterms:created>
  <dcterms:modified xsi:type="dcterms:W3CDTF">2023-02-06T14:59:21Z</dcterms:modified>
  <cp:category/>
</cp:coreProperties>
</file>