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751" r:id="rId1"/>
  </p:sldMasterIdLst>
  <p:notesMasterIdLst>
    <p:notesMasterId r:id="rId16"/>
  </p:notesMasterIdLst>
  <p:sldIdLst>
    <p:sldId id="256" r:id="rId2"/>
    <p:sldId id="257" r:id="rId3"/>
    <p:sldId id="258" r:id="rId4"/>
    <p:sldId id="259" r:id="rId5"/>
    <p:sldId id="261" r:id="rId6"/>
    <p:sldId id="262" r:id="rId7"/>
    <p:sldId id="263" r:id="rId8"/>
    <p:sldId id="269" r:id="rId9"/>
    <p:sldId id="265" r:id="rId10"/>
    <p:sldId id="266" r:id="rId11"/>
    <p:sldId id="267" r:id="rId12"/>
    <p:sldId id="268" r:id="rId13"/>
    <p:sldId id="260" r:id="rId14"/>
    <p:sldId id="270" r:id="rId1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470"/>
    <p:restoredTop sz="94667"/>
  </p:normalViewPr>
  <p:slideViewPr>
    <p:cSldViewPr snapToGrid="0" snapToObjects="1">
      <p:cViewPr varScale="1">
        <p:scale>
          <a:sx n="97" d="100"/>
          <a:sy n="97" d="100"/>
        </p:scale>
        <p:origin x="1168" y="20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22943A3-34D7-7C43-8302-10A0A21D9251}" type="datetimeFigureOut">
              <a:rPr lang="en-US" smtClean="0"/>
              <a:t>2/9/22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8E0340E-30CA-0F4F-AB80-7A978230766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076570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8E0340E-30CA-0F4F-AB80-7A9782307661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683537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>
            <a:extLst>
              <a:ext uri="{FF2B5EF4-FFF2-40B4-BE49-F238E27FC236}">
                <a16:creationId xmlns:a16="http://schemas.microsoft.com/office/drawing/2014/main" id="{748618E9-EE2D-4864-9EEE-58939BD4FB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-6214" y="-1"/>
            <a:ext cx="12214827" cy="6858000"/>
            <a:chOff x="-6214" y="-1"/>
            <a:chExt cx="12214827" cy="6858000"/>
          </a:xfrm>
        </p:grpSpPr>
        <p:cxnSp>
          <p:nvCxnSpPr>
            <p:cNvPr id="8" name="Straight Connector 7">
              <a:extLst>
                <a:ext uri="{FF2B5EF4-FFF2-40B4-BE49-F238E27FC236}">
                  <a16:creationId xmlns:a16="http://schemas.microsoft.com/office/drawing/2014/main" id="{317D1EC0-23FF-4FC8-B22D-E34878EAA4CC}"/>
                </a:ext>
              </a:extLst>
            </p:cNvPr>
            <p:cNvCxnSpPr>
              <a:cxnSpLocks/>
            </p:cNvCxnSpPr>
            <p:nvPr/>
          </p:nvCxnSpPr>
          <p:spPr>
            <a:xfrm>
              <a:off x="-6214" y="6686283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Connector 8">
              <a:extLst>
                <a:ext uri="{FF2B5EF4-FFF2-40B4-BE49-F238E27FC236}">
                  <a16:creationId xmlns:a16="http://schemas.microsoft.com/office/drawing/2014/main" id="{5AB929A7-258C-4469-AAB4-A67D713F7A80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Straight Connector 9">
              <a:extLst>
                <a:ext uri="{FF2B5EF4-FFF2-40B4-BE49-F238E27FC236}">
                  <a16:creationId xmlns:a16="http://schemas.microsoft.com/office/drawing/2014/main" id="{DA635CDB-2D00-49D5-B26E-0694A25000C7}"/>
                </a:ext>
              </a:extLst>
            </p:cNvPr>
            <p:cNvCxnSpPr>
              <a:cxnSpLocks/>
            </p:cNvCxnSpPr>
            <p:nvPr/>
          </p:nvCxnSpPr>
          <p:spPr>
            <a:xfrm>
              <a:off x="1199325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Connector 10">
              <a:extLst>
                <a:ext uri="{FF2B5EF4-FFF2-40B4-BE49-F238E27FC236}">
                  <a16:creationId xmlns:a16="http://schemas.microsoft.com/office/drawing/2014/main" id="{B4288D7A-F857-418D-92F2-368E841B9F27}"/>
                </a:ext>
              </a:extLst>
            </p:cNvPr>
            <p:cNvCxnSpPr>
              <a:cxnSpLocks/>
            </p:cNvCxnSpPr>
            <p:nvPr/>
          </p:nvCxnSpPr>
          <p:spPr>
            <a:xfrm>
              <a:off x="19252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11">
              <a:extLst>
                <a:ext uri="{FF2B5EF4-FFF2-40B4-BE49-F238E27FC236}">
                  <a16:creationId xmlns:a16="http://schemas.microsoft.com/office/drawing/2014/main" id="{F1084F50-7F3C-4A4A-877E-FFD9EC7CD88B}"/>
                </a:ext>
              </a:extLst>
            </p:cNvPr>
            <p:cNvCxnSpPr>
              <a:cxnSpLocks/>
            </p:cNvCxnSpPr>
            <p:nvPr/>
          </p:nvCxnSpPr>
          <p:spPr>
            <a:xfrm>
              <a:off x="1175922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Straight Connector 12">
              <a:extLst>
                <a:ext uri="{FF2B5EF4-FFF2-40B4-BE49-F238E27FC236}">
                  <a16:creationId xmlns:a16="http://schemas.microsoft.com/office/drawing/2014/main" id="{331E64C1-F4C0-4A94-B319-BB1A0A2450B5}"/>
                </a:ext>
              </a:extLst>
            </p:cNvPr>
            <p:cNvCxnSpPr>
              <a:cxnSpLocks/>
            </p:cNvCxnSpPr>
            <p:nvPr/>
          </p:nvCxnSpPr>
          <p:spPr>
            <a:xfrm>
              <a:off x="2159316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Connector 13">
              <a:extLst>
                <a:ext uri="{FF2B5EF4-FFF2-40B4-BE49-F238E27FC236}">
                  <a16:creationId xmlns:a16="http://schemas.microsoft.com/office/drawing/2014/main" id="{363D8374-8052-417F-AB69-B97EAC43D513}"/>
                </a:ext>
              </a:extLst>
            </p:cNvPr>
            <p:cNvCxnSpPr>
              <a:cxnSpLocks/>
            </p:cNvCxnSpPr>
            <p:nvPr/>
          </p:nvCxnSpPr>
          <p:spPr>
            <a:xfrm>
              <a:off x="3142710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C7750734-4D51-4019-A003-38A3DE49B434}"/>
                </a:ext>
              </a:extLst>
            </p:cNvPr>
            <p:cNvCxnSpPr>
              <a:cxnSpLocks/>
            </p:cNvCxnSpPr>
            <p:nvPr/>
          </p:nvCxnSpPr>
          <p:spPr>
            <a:xfrm>
              <a:off x="4126104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Connector 15">
              <a:extLst>
                <a:ext uri="{FF2B5EF4-FFF2-40B4-BE49-F238E27FC236}">
                  <a16:creationId xmlns:a16="http://schemas.microsoft.com/office/drawing/2014/main" id="{71B693D1-DBA2-4D3B-9B37-D9EE8C4112F4}"/>
                </a:ext>
              </a:extLst>
            </p:cNvPr>
            <p:cNvCxnSpPr>
              <a:cxnSpLocks/>
            </p:cNvCxnSpPr>
            <p:nvPr/>
          </p:nvCxnSpPr>
          <p:spPr>
            <a:xfrm>
              <a:off x="510949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Connector 16">
              <a:extLst>
                <a:ext uri="{FF2B5EF4-FFF2-40B4-BE49-F238E27FC236}">
                  <a16:creationId xmlns:a16="http://schemas.microsoft.com/office/drawing/2014/main" id="{1BCD3EA8-E4C0-4AF6-817F-F9F29157A499}"/>
                </a:ext>
              </a:extLst>
            </p:cNvPr>
            <p:cNvCxnSpPr>
              <a:cxnSpLocks/>
            </p:cNvCxnSpPr>
            <p:nvPr/>
          </p:nvCxnSpPr>
          <p:spPr>
            <a:xfrm>
              <a:off x="6092892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>
              <a:extLst>
                <a:ext uri="{FF2B5EF4-FFF2-40B4-BE49-F238E27FC236}">
                  <a16:creationId xmlns:a16="http://schemas.microsoft.com/office/drawing/2014/main" id="{7A170FB3-B397-4AC9-85FD-65388F26D90A}"/>
                </a:ext>
              </a:extLst>
            </p:cNvPr>
            <p:cNvCxnSpPr>
              <a:cxnSpLocks/>
            </p:cNvCxnSpPr>
            <p:nvPr/>
          </p:nvCxnSpPr>
          <p:spPr>
            <a:xfrm>
              <a:off x="7076286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>
              <a:extLst>
                <a:ext uri="{FF2B5EF4-FFF2-40B4-BE49-F238E27FC236}">
                  <a16:creationId xmlns:a16="http://schemas.microsoft.com/office/drawing/2014/main" id="{BE5EC0B9-49C7-4777-AEC5-B5EF8DE40498}"/>
                </a:ext>
              </a:extLst>
            </p:cNvPr>
            <p:cNvCxnSpPr>
              <a:cxnSpLocks/>
            </p:cNvCxnSpPr>
            <p:nvPr/>
          </p:nvCxnSpPr>
          <p:spPr>
            <a:xfrm>
              <a:off x="8059680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>
              <a:extLst>
                <a:ext uri="{FF2B5EF4-FFF2-40B4-BE49-F238E27FC236}">
                  <a16:creationId xmlns:a16="http://schemas.microsoft.com/office/drawing/2014/main" id="{7902048B-30F7-4434-87A5-140F9BB4BEB1}"/>
                </a:ext>
              </a:extLst>
            </p:cNvPr>
            <p:cNvCxnSpPr>
              <a:cxnSpLocks/>
            </p:cNvCxnSpPr>
            <p:nvPr/>
          </p:nvCxnSpPr>
          <p:spPr>
            <a:xfrm>
              <a:off x="9043074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>
              <a:extLst>
                <a:ext uri="{FF2B5EF4-FFF2-40B4-BE49-F238E27FC236}">
                  <a16:creationId xmlns:a16="http://schemas.microsoft.com/office/drawing/2014/main" id="{0500A6E2-A41C-4751-8A4E-9A0C5718D930}"/>
                </a:ext>
              </a:extLst>
            </p:cNvPr>
            <p:cNvCxnSpPr>
              <a:cxnSpLocks/>
            </p:cNvCxnSpPr>
            <p:nvPr/>
          </p:nvCxnSpPr>
          <p:spPr>
            <a:xfrm>
              <a:off x="1002646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Connector 21">
              <a:extLst>
                <a:ext uri="{FF2B5EF4-FFF2-40B4-BE49-F238E27FC236}">
                  <a16:creationId xmlns:a16="http://schemas.microsoft.com/office/drawing/2014/main" id="{FC259517-7BE7-45F9-81C0-3A6362BF143C}"/>
                </a:ext>
              </a:extLst>
            </p:cNvPr>
            <p:cNvCxnSpPr>
              <a:cxnSpLocks/>
            </p:cNvCxnSpPr>
            <p:nvPr/>
          </p:nvCxnSpPr>
          <p:spPr>
            <a:xfrm>
              <a:off x="11009862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Straight Connector 22">
              <a:extLst>
                <a:ext uri="{FF2B5EF4-FFF2-40B4-BE49-F238E27FC236}">
                  <a16:creationId xmlns:a16="http://schemas.microsoft.com/office/drawing/2014/main" id="{90652F56-7B71-42B2-AB68-22204A6DF177}"/>
                </a:ext>
              </a:extLst>
            </p:cNvPr>
            <p:cNvCxnSpPr>
              <a:cxnSpLocks/>
            </p:cNvCxnSpPr>
            <p:nvPr/>
          </p:nvCxnSpPr>
          <p:spPr>
            <a:xfrm>
              <a:off x="12185786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Straight Connector 23">
              <a:extLst>
                <a:ext uri="{FF2B5EF4-FFF2-40B4-BE49-F238E27FC236}">
                  <a16:creationId xmlns:a16="http://schemas.microsoft.com/office/drawing/2014/main" id="{1059830E-1C3D-4D42-8789-524971CB4657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171716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Straight Connector 24">
              <a:extLst>
                <a:ext uri="{FF2B5EF4-FFF2-40B4-BE49-F238E27FC236}">
                  <a16:creationId xmlns:a16="http://schemas.microsoft.com/office/drawing/2014/main" id="{B53325A7-86D3-4B52-A7E3-ADDF408B4067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714597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Straight Connector 25">
              <a:extLst>
                <a:ext uri="{FF2B5EF4-FFF2-40B4-BE49-F238E27FC236}">
                  <a16:creationId xmlns:a16="http://schemas.microsoft.com/office/drawing/2014/main" id="{6D53F46F-EC12-484C-A4E7-791E57687AC1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1257478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Straight Connector 26">
              <a:extLst>
                <a:ext uri="{FF2B5EF4-FFF2-40B4-BE49-F238E27FC236}">
                  <a16:creationId xmlns:a16="http://schemas.microsoft.com/office/drawing/2014/main" id="{464ED9CA-8950-47B8-A9ED-22B45CE15FBC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1800359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Straight Connector 27">
              <a:extLst>
                <a:ext uri="{FF2B5EF4-FFF2-40B4-BE49-F238E27FC236}">
                  <a16:creationId xmlns:a16="http://schemas.microsoft.com/office/drawing/2014/main" id="{E4429F7B-9FD7-438F-8ECA-3FCAD0061805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2343240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Straight Connector 28">
              <a:extLst>
                <a:ext uri="{FF2B5EF4-FFF2-40B4-BE49-F238E27FC236}">
                  <a16:creationId xmlns:a16="http://schemas.microsoft.com/office/drawing/2014/main" id="{0C558100-D455-4B41-890C-BCC898B2D165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2886121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Straight Connector 29">
              <a:extLst>
                <a:ext uri="{FF2B5EF4-FFF2-40B4-BE49-F238E27FC236}">
                  <a16:creationId xmlns:a16="http://schemas.microsoft.com/office/drawing/2014/main" id="{F2886397-398A-4318-BE16-2CBAC1902F9E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3429002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Straight Connector 30">
              <a:extLst>
                <a:ext uri="{FF2B5EF4-FFF2-40B4-BE49-F238E27FC236}">
                  <a16:creationId xmlns:a16="http://schemas.microsoft.com/office/drawing/2014/main" id="{7D32A3A6-CE6E-4ABD-8522-2C8DC88C070E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3971883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Straight Connector 31">
              <a:extLst>
                <a:ext uri="{FF2B5EF4-FFF2-40B4-BE49-F238E27FC236}">
                  <a16:creationId xmlns:a16="http://schemas.microsoft.com/office/drawing/2014/main" id="{F9014C09-5B84-4798-8BDE-C80D76E67B8E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4514764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Straight Connector 32">
              <a:extLst>
                <a:ext uri="{FF2B5EF4-FFF2-40B4-BE49-F238E27FC236}">
                  <a16:creationId xmlns:a16="http://schemas.microsoft.com/office/drawing/2014/main" id="{2A29EB9E-ED9D-4C69-8A26-9A7A0A830569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5057645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Straight Connector 33">
              <a:extLst>
                <a:ext uri="{FF2B5EF4-FFF2-40B4-BE49-F238E27FC236}">
                  <a16:creationId xmlns:a16="http://schemas.microsoft.com/office/drawing/2014/main" id="{AA2899F9-1795-416F-8F3D-26EEB684DB6A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5600526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Straight Connector 34">
              <a:extLst>
                <a:ext uri="{FF2B5EF4-FFF2-40B4-BE49-F238E27FC236}">
                  <a16:creationId xmlns:a16="http://schemas.microsoft.com/office/drawing/2014/main" id="{E3043474-8625-495C-BD06-3627FD286C55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6857999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Straight Connector 35">
              <a:extLst>
                <a:ext uri="{FF2B5EF4-FFF2-40B4-BE49-F238E27FC236}">
                  <a16:creationId xmlns:a16="http://schemas.microsoft.com/office/drawing/2014/main" id="{D432CE47-7631-408E-8DDC-79EE378B707B}"/>
                </a:ext>
              </a:extLst>
            </p:cNvPr>
            <p:cNvCxnSpPr>
              <a:cxnSpLocks/>
            </p:cNvCxnSpPr>
            <p:nvPr/>
          </p:nvCxnSpPr>
          <p:spPr>
            <a:xfrm>
              <a:off x="16613" y="6143407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" name="Straight Connector 36">
              <a:extLst>
                <a:ext uri="{FF2B5EF4-FFF2-40B4-BE49-F238E27FC236}">
                  <a16:creationId xmlns:a16="http://schemas.microsoft.com/office/drawing/2014/main" id="{B2C8832D-8B8D-4036-B913-2D363143274B}"/>
                </a:ext>
              </a:extLst>
            </p:cNvPr>
            <p:cNvCxnSpPr>
              <a:cxnSpLocks/>
            </p:cNvCxnSpPr>
            <p:nvPr/>
          </p:nvCxnSpPr>
          <p:spPr>
            <a:xfrm>
              <a:off x="684225" y="171716"/>
              <a:ext cx="0" cy="6511464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" name="Straight Connector 37">
              <a:extLst>
                <a:ext uri="{FF2B5EF4-FFF2-40B4-BE49-F238E27FC236}">
                  <a16:creationId xmlns:a16="http://schemas.microsoft.com/office/drawing/2014/main" id="{1CCEFEAF-E87B-4FF2-A947-94CABAA0610D}"/>
                </a:ext>
              </a:extLst>
            </p:cNvPr>
            <p:cNvCxnSpPr>
              <a:cxnSpLocks/>
            </p:cNvCxnSpPr>
            <p:nvPr/>
          </p:nvCxnSpPr>
          <p:spPr>
            <a:xfrm>
              <a:off x="11508412" y="173267"/>
              <a:ext cx="0" cy="6511464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343A7CD3-94E1-42A9-BAB7-2AFCD9FCBD1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91078" y="722903"/>
            <a:ext cx="10495904" cy="2460770"/>
          </a:xfrm>
        </p:spPr>
        <p:txBody>
          <a:bodyPr anchor="b">
            <a:normAutofit/>
          </a:bodyPr>
          <a:lstStyle>
            <a:lvl1pPr algn="l"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467609B-8FD3-4FF7-8EBC-6619CA868B3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91078" y="3428997"/>
            <a:ext cx="10495904" cy="2306639"/>
          </a:xfrm>
        </p:spPr>
        <p:txBody>
          <a:bodyPr/>
          <a:lstStyle>
            <a:lvl1pPr marL="0" indent="0" algn="l">
              <a:buNone/>
              <a:defRPr sz="2400">
                <a:solidFill>
                  <a:schemeClr val="tx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39" name="Right Triangle 38">
            <a:extLst>
              <a:ext uri="{FF2B5EF4-FFF2-40B4-BE49-F238E27FC236}">
                <a16:creationId xmlns:a16="http://schemas.microsoft.com/office/drawing/2014/main" id="{2437C4A8-8E3A-4ADA-93B9-64737CE1ABB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rot="13500000">
            <a:off x="-281093" y="2607907"/>
            <a:ext cx="568289" cy="568289"/>
          </a:xfrm>
          <a:prstGeom prst="rtTriangle">
            <a:avLst/>
          </a:prstGeom>
          <a:solidFill>
            <a:schemeClr val="accent1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CC7A76F-3401-4F50-AE85-8F2AA247B9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B7C203-56B9-E546-AD2E-CBFE2F89AB6A}" type="datetime1">
              <a:rPr lang="en-US" smtClean="0"/>
              <a:t>2/9/22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EF02E50-D34E-4DD4-8B3B-55D08F25F5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91078" y="236364"/>
            <a:ext cx="4114800" cy="417126"/>
          </a:xfrm>
        </p:spPr>
        <p:txBody>
          <a:bodyPr/>
          <a:lstStyle/>
          <a:p>
            <a:r>
              <a:rPr lang="en-US"/>
              <a:t>Verifying Cyber-Physical Systems - Book Review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7B53B71-D2FA-4DDC-9C9C-E26F7B591A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15108C-154A-4A5A-9C05-91A49A422BA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5787620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0D8D6B-70A2-430A-9F5D-DA093D8C16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94A2845-6CA6-4745-A951-25B8D5319D8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A049424-7A20-4BA1-9F60-671A5DBB3B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111301-637C-E740-8D11-A7EE68D71AF3}" type="datetime1">
              <a:rPr lang="en-US" smtClean="0"/>
              <a:t>2/9/22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F1BD2B2-E17F-402E-8EA3-5C7C1118A8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Verifying Cyber-Physical Systems - Book Review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0D23070-8658-4AC0-B2A3-4BE605A840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15108C-154A-4A5A-9C05-91A49A422BA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2262414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>
            <a:extLst>
              <a:ext uri="{FF2B5EF4-FFF2-40B4-BE49-F238E27FC236}">
                <a16:creationId xmlns:a16="http://schemas.microsoft.com/office/drawing/2014/main" id="{A69DB7AC-F7D7-430A-A2A7-CD3EBBF1D3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-6214" y="-1"/>
            <a:ext cx="12214827" cy="6858000"/>
            <a:chOff x="-6214" y="-1"/>
            <a:chExt cx="12214827" cy="6858000"/>
          </a:xfrm>
        </p:grpSpPr>
        <p:cxnSp>
          <p:nvCxnSpPr>
            <p:cNvPr id="8" name="Straight Connector 7">
              <a:extLst>
                <a:ext uri="{FF2B5EF4-FFF2-40B4-BE49-F238E27FC236}">
                  <a16:creationId xmlns:a16="http://schemas.microsoft.com/office/drawing/2014/main" id="{66AAF10E-F092-4160-BF4A-FF568555B790}"/>
                </a:ext>
              </a:extLst>
            </p:cNvPr>
            <p:cNvCxnSpPr>
              <a:cxnSpLocks/>
            </p:cNvCxnSpPr>
            <p:nvPr/>
          </p:nvCxnSpPr>
          <p:spPr>
            <a:xfrm>
              <a:off x="-6214" y="6686283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Connector 8">
              <a:extLst>
                <a:ext uri="{FF2B5EF4-FFF2-40B4-BE49-F238E27FC236}">
                  <a16:creationId xmlns:a16="http://schemas.microsoft.com/office/drawing/2014/main" id="{36341C04-9B94-4385-A661-7B8C17000497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Straight Connector 9">
              <a:extLst>
                <a:ext uri="{FF2B5EF4-FFF2-40B4-BE49-F238E27FC236}">
                  <a16:creationId xmlns:a16="http://schemas.microsoft.com/office/drawing/2014/main" id="{F4C1D709-6A0F-409C-B2D0-C248E562265E}"/>
                </a:ext>
              </a:extLst>
            </p:cNvPr>
            <p:cNvCxnSpPr>
              <a:cxnSpLocks/>
            </p:cNvCxnSpPr>
            <p:nvPr/>
          </p:nvCxnSpPr>
          <p:spPr>
            <a:xfrm>
              <a:off x="1199325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Connector 10">
              <a:extLst>
                <a:ext uri="{FF2B5EF4-FFF2-40B4-BE49-F238E27FC236}">
                  <a16:creationId xmlns:a16="http://schemas.microsoft.com/office/drawing/2014/main" id="{B999BE53-BA11-4B67-BFBB-6281DB50C75D}"/>
                </a:ext>
              </a:extLst>
            </p:cNvPr>
            <p:cNvCxnSpPr>
              <a:cxnSpLocks/>
            </p:cNvCxnSpPr>
            <p:nvPr/>
          </p:nvCxnSpPr>
          <p:spPr>
            <a:xfrm>
              <a:off x="19252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11">
              <a:extLst>
                <a:ext uri="{FF2B5EF4-FFF2-40B4-BE49-F238E27FC236}">
                  <a16:creationId xmlns:a16="http://schemas.microsoft.com/office/drawing/2014/main" id="{9B662D93-31C1-4DFB-A938-E631F89AA9F0}"/>
                </a:ext>
              </a:extLst>
            </p:cNvPr>
            <p:cNvCxnSpPr>
              <a:cxnSpLocks/>
            </p:cNvCxnSpPr>
            <p:nvPr/>
          </p:nvCxnSpPr>
          <p:spPr>
            <a:xfrm>
              <a:off x="1175922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Straight Connector 12">
              <a:extLst>
                <a:ext uri="{FF2B5EF4-FFF2-40B4-BE49-F238E27FC236}">
                  <a16:creationId xmlns:a16="http://schemas.microsoft.com/office/drawing/2014/main" id="{97ECC8DA-0BEC-4508-89D4-12FA35B481F5}"/>
                </a:ext>
              </a:extLst>
            </p:cNvPr>
            <p:cNvCxnSpPr>
              <a:cxnSpLocks/>
            </p:cNvCxnSpPr>
            <p:nvPr/>
          </p:nvCxnSpPr>
          <p:spPr>
            <a:xfrm>
              <a:off x="2159316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Connector 13">
              <a:extLst>
                <a:ext uri="{FF2B5EF4-FFF2-40B4-BE49-F238E27FC236}">
                  <a16:creationId xmlns:a16="http://schemas.microsoft.com/office/drawing/2014/main" id="{67DC8E6C-1B78-4B89-82DD-BBA778CD1482}"/>
                </a:ext>
              </a:extLst>
            </p:cNvPr>
            <p:cNvCxnSpPr>
              <a:cxnSpLocks/>
            </p:cNvCxnSpPr>
            <p:nvPr/>
          </p:nvCxnSpPr>
          <p:spPr>
            <a:xfrm>
              <a:off x="3142710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28E5F54A-0315-4B15-B865-1F0460526260}"/>
                </a:ext>
              </a:extLst>
            </p:cNvPr>
            <p:cNvCxnSpPr>
              <a:cxnSpLocks/>
            </p:cNvCxnSpPr>
            <p:nvPr/>
          </p:nvCxnSpPr>
          <p:spPr>
            <a:xfrm>
              <a:off x="4126104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Connector 15">
              <a:extLst>
                <a:ext uri="{FF2B5EF4-FFF2-40B4-BE49-F238E27FC236}">
                  <a16:creationId xmlns:a16="http://schemas.microsoft.com/office/drawing/2014/main" id="{4DD7F352-DE39-4835-8D3F-69CDEC490F1E}"/>
                </a:ext>
              </a:extLst>
            </p:cNvPr>
            <p:cNvCxnSpPr>
              <a:cxnSpLocks/>
            </p:cNvCxnSpPr>
            <p:nvPr/>
          </p:nvCxnSpPr>
          <p:spPr>
            <a:xfrm>
              <a:off x="510949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Connector 16">
              <a:extLst>
                <a:ext uri="{FF2B5EF4-FFF2-40B4-BE49-F238E27FC236}">
                  <a16:creationId xmlns:a16="http://schemas.microsoft.com/office/drawing/2014/main" id="{49D6F20A-F777-4F41-B23B-735A64FA5DA3}"/>
                </a:ext>
              </a:extLst>
            </p:cNvPr>
            <p:cNvCxnSpPr>
              <a:cxnSpLocks/>
            </p:cNvCxnSpPr>
            <p:nvPr/>
          </p:nvCxnSpPr>
          <p:spPr>
            <a:xfrm>
              <a:off x="6092892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>
              <a:extLst>
                <a:ext uri="{FF2B5EF4-FFF2-40B4-BE49-F238E27FC236}">
                  <a16:creationId xmlns:a16="http://schemas.microsoft.com/office/drawing/2014/main" id="{21BBADBA-0F74-418B-BC50-AD44596C3EF8}"/>
                </a:ext>
              </a:extLst>
            </p:cNvPr>
            <p:cNvCxnSpPr>
              <a:cxnSpLocks/>
            </p:cNvCxnSpPr>
            <p:nvPr/>
          </p:nvCxnSpPr>
          <p:spPr>
            <a:xfrm>
              <a:off x="7076286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>
              <a:extLst>
                <a:ext uri="{FF2B5EF4-FFF2-40B4-BE49-F238E27FC236}">
                  <a16:creationId xmlns:a16="http://schemas.microsoft.com/office/drawing/2014/main" id="{3918BE26-88E5-457C-8095-745F34D15366}"/>
                </a:ext>
              </a:extLst>
            </p:cNvPr>
            <p:cNvCxnSpPr>
              <a:cxnSpLocks/>
            </p:cNvCxnSpPr>
            <p:nvPr/>
          </p:nvCxnSpPr>
          <p:spPr>
            <a:xfrm>
              <a:off x="8059680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>
              <a:extLst>
                <a:ext uri="{FF2B5EF4-FFF2-40B4-BE49-F238E27FC236}">
                  <a16:creationId xmlns:a16="http://schemas.microsoft.com/office/drawing/2014/main" id="{4FB269E0-E058-4340-B93D-7D40FFF521F3}"/>
                </a:ext>
              </a:extLst>
            </p:cNvPr>
            <p:cNvCxnSpPr>
              <a:cxnSpLocks/>
            </p:cNvCxnSpPr>
            <p:nvPr/>
          </p:nvCxnSpPr>
          <p:spPr>
            <a:xfrm>
              <a:off x="9043074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>
              <a:extLst>
                <a:ext uri="{FF2B5EF4-FFF2-40B4-BE49-F238E27FC236}">
                  <a16:creationId xmlns:a16="http://schemas.microsoft.com/office/drawing/2014/main" id="{EDDD9AEE-5501-4385-B339-4616F567B53D}"/>
                </a:ext>
              </a:extLst>
            </p:cNvPr>
            <p:cNvCxnSpPr>
              <a:cxnSpLocks/>
            </p:cNvCxnSpPr>
            <p:nvPr/>
          </p:nvCxnSpPr>
          <p:spPr>
            <a:xfrm>
              <a:off x="1002646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Connector 21">
              <a:extLst>
                <a:ext uri="{FF2B5EF4-FFF2-40B4-BE49-F238E27FC236}">
                  <a16:creationId xmlns:a16="http://schemas.microsoft.com/office/drawing/2014/main" id="{84D29C61-8926-4C98-882B-AB90108C8386}"/>
                </a:ext>
              </a:extLst>
            </p:cNvPr>
            <p:cNvCxnSpPr>
              <a:cxnSpLocks/>
            </p:cNvCxnSpPr>
            <p:nvPr/>
          </p:nvCxnSpPr>
          <p:spPr>
            <a:xfrm>
              <a:off x="11009862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Straight Connector 22">
              <a:extLst>
                <a:ext uri="{FF2B5EF4-FFF2-40B4-BE49-F238E27FC236}">
                  <a16:creationId xmlns:a16="http://schemas.microsoft.com/office/drawing/2014/main" id="{CAC585F9-B633-4F7E-AADE-75079DC17158}"/>
                </a:ext>
              </a:extLst>
            </p:cNvPr>
            <p:cNvCxnSpPr>
              <a:cxnSpLocks/>
            </p:cNvCxnSpPr>
            <p:nvPr/>
          </p:nvCxnSpPr>
          <p:spPr>
            <a:xfrm>
              <a:off x="12185786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Straight Connector 23">
              <a:extLst>
                <a:ext uri="{FF2B5EF4-FFF2-40B4-BE49-F238E27FC236}">
                  <a16:creationId xmlns:a16="http://schemas.microsoft.com/office/drawing/2014/main" id="{E5DC6366-5525-4FBC-9886-D4409F6B2993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171716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Straight Connector 24">
              <a:extLst>
                <a:ext uri="{FF2B5EF4-FFF2-40B4-BE49-F238E27FC236}">
                  <a16:creationId xmlns:a16="http://schemas.microsoft.com/office/drawing/2014/main" id="{7CC03CF9-098C-4140-806A-023D3DC3F2E3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714597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Straight Connector 25">
              <a:extLst>
                <a:ext uri="{FF2B5EF4-FFF2-40B4-BE49-F238E27FC236}">
                  <a16:creationId xmlns:a16="http://schemas.microsoft.com/office/drawing/2014/main" id="{D9C41BC4-89DF-4EC4-A141-9EF16D8EEB5B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1257478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Straight Connector 26">
              <a:extLst>
                <a:ext uri="{FF2B5EF4-FFF2-40B4-BE49-F238E27FC236}">
                  <a16:creationId xmlns:a16="http://schemas.microsoft.com/office/drawing/2014/main" id="{432AD067-E64C-499E-9C0A-A72525874417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1800359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Straight Connector 27">
              <a:extLst>
                <a:ext uri="{FF2B5EF4-FFF2-40B4-BE49-F238E27FC236}">
                  <a16:creationId xmlns:a16="http://schemas.microsoft.com/office/drawing/2014/main" id="{6653DD54-FA2B-4B91-A94E-3C46AE21B385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2343240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Straight Connector 28">
              <a:extLst>
                <a:ext uri="{FF2B5EF4-FFF2-40B4-BE49-F238E27FC236}">
                  <a16:creationId xmlns:a16="http://schemas.microsoft.com/office/drawing/2014/main" id="{586AC204-156B-442E-B028-01036BD1F267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2886121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Straight Connector 29">
              <a:extLst>
                <a:ext uri="{FF2B5EF4-FFF2-40B4-BE49-F238E27FC236}">
                  <a16:creationId xmlns:a16="http://schemas.microsoft.com/office/drawing/2014/main" id="{303512DE-F013-431A-9F6E-ADDA88FB2DD5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3429002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Straight Connector 30">
              <a:extLst>
                <a:ext uri="{FF2B5EF4-FFF2-40B4-BE49-F238E27FC236}">
                  <a16:creationId xmlns:a16="http://schemas.microsoft.com/office/drawing/2014/main" id="{8E95FEE1-61A9-4065-B9F8-5589180AC62B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3971883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Straight Connector 31">
              <a:extLst>
                <a:ext uri="{FF2B5EF4-FFF2-40B4-BE49-F238E27FC236}">
                  <a16:creationId xmlns:a16="http://schemas.microsoft.com/office/drawing/2014/main" id="{5028AA59-C1FA-46C0-BFDD-1C1D3404C81C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4514764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Straight Connector 32">
              <a:extLst>
                <a:ext uri="{FF2B5EF4-FFF2-40B4-BE49-F238E27FC236}">
                  <a16:creationId xmlns:a16="http://schemas.microsoft.com/office/drawing/2014/main" id="{0A5C99EE-B791-470A-8639-0357A751EB43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5057645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Straight Connector 33">
              <a:extLst>
                <a:ext uri="{FF2B5EF4-FFF2-40B4-BE49-F238E27FC236}">
                  <a16:creationId xmlns:a16="http://schemas.microsoft.com/office/drawing/2014/main" id="{454F4204-F48B-4AF5-B11E-0CE7D972AC37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5600526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Straight Connector 34">
              <a:extLst>
                <a:ext uri="{FF2B5EF4-FFF2-40B4-BE49-F238E27FC236}">
                  <a16:creationId xmlns:a16="http://schemas.microsoft.com/office/drawing/2014/main" id="{076643FE-3966-4B82-9623-C61A56EDD20C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6857999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Straight Connector 35">
              <a:extLst>
                <a:ext uri="{FF2B5EF4-FFF2-40B4-BE49-F238E27FC236}">
                  <a16:creationId xmlns:a16="http://schemas.microsoft.com/office/drawing/2014/main" id="{2DD769C5-B1B1-45BD-A40A-67E6568C8434}"/>
                </a:ext>
              </a:extLst>
            </p:cNvPr>
            <p:cNvCxnSpPr>
              <a:cxnSpLocks/>
            </p:cNvCxnSpPr>
            <p:nvPr/>
          </p:nvCxnSpPr>
          <p:spPr>
            <a:xfrm>
              <a:off x="16613" y="6143407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" name="Straight Connector 36">
              <a:extLst>
                <a:ext uri="{FF2B5EF4-FFF2-40B4-BE49-F238E27FC236}">
                  <a16:creationId xmlns:a16="http://schemas.microsoft.com/office/drawing/2014/main" id="{2A511707-50C7-48B2-81F7-5C82BF57795C}"/>
                </a:ext>
              </a:extLst>
            </p:cNvPr>
            <p:cNvCxnSpPr>
              <a:cxnSpLocks/>
            </p:cNvCxnSpPr>
            <p:nvPr/>
          </p:nvCxnSpPr>
          <p:spPr>
            <a:xfrm>
              <a:off x="684225" y="171716"/>
              <a:ext cx="0" cy="6511464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" name="Straight Connector 37">
              <a:extLst>
                <a:ext uri="{FF2B5EF4-FFF2-40B4-BE49-F238E27FC236}">
                  <a16:creationId xmlns:a16="http://schemas.microsoft.com/office/drawing/2014/main" id="{838D44F3-CCFE-48A0-8414-FFF5E43D9184}"/>
                </a:ext>
              </a:extLst>
            </p:cNvPr>
            <p:cNvCxnSpPr>
              <a:cxnSpLocks/>
            </p:cNvCxnSpPr>
            <p:nvPr/>
          </p:nvCxnSpPr>
          <p:spPr>
            <a:xfrm>
              <a:off x="11508412" y="173267"/>
              <a:ext cx="0" cy="6511464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2D126FE0-8204-40BB-AD46-4A0C7A4751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1078" y="718115"/>
            <a:ext cx="10312571" cy="2781501"/>
          </a:xfrm>
        </p:spPr>
        <p:txBody>
          <a:bodyPr anchor="b">
            <a:normAutofit/>
          </a:bodyPr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B25E350-4200-419C-A167-527DD6B7779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91078" y="3753350"/>
            <a:ext cx="10312571" cy="1991572"/>
          </a:xfrm>
        </p:spPr>
        <p:txBody>
          <a:bodyPr/>
          <a:lstStyle>
            <a:lvl1pPr marL="0" indent="0">
              <a:buNone/>
              <a:defRPr lang="en-US" sz="24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9" name="Right Triangle 38">
            <a:extLst>
              <a:ext uri="{FF2B5EF4-FFF2-40B4-BE49-F238E27FC236}">
                <a16:creationId xmlns:a16="http://schemas.microsoft.com/office/drawing/2014/main" id="{6741F519-22CF-4C01-B140-5480DBAB30F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rot="13500000">
            <a:off x="-281093" y="2607907"/>
            <a:ext cx="568289" cy="568289"/>
          </a:xfrm>
          <a:prstGeom prst="rtTriangle">
            <a:avLst/>
          </a:prstGeom>
          <a:solidFill>
            <a:schemeClr val="accent1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05D1550-9064-4767-B70A-3501AF956C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629862-B14F-7A43-BC9C-CDBF2F2DD738}" type="datetime1">
              <a:rPr lang="en-US" smtClean="0"/>
              <a:t>2/9/22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81E1C33-2E8E-4041-9683-12048CB8AB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Verifying Cyber-Physical Systems - Book Review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2D36992-B921-4F3F-9C4A-0D67E618D1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15108C-154A-4A5A-9C05-91A49A422BA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064869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ACFDF5-4B31-4F1B-83BA-82A9510379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1078" y="722903"/>
            <a:ext cx="10312571" cy="1354844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14EC9A6-F718-4497-8A75-637EE17458E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91078" y="2345843"/>
            <a:ext cx="5009584" cy="327437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D503E57-9695-4508-9778-B3DB1FB5FAB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935075" y="2345843"/>
            <a:ext cx="5068574" cy="327437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474CEE6-B9DC-4CCC-8F4C-0B4DADFB01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E9A4DC-8870-4144-8FDE-A8E524FFBD54}" type="datetime1">
              <a:rPr lang="en-US" smtClean="0"/>
              <a:t>2/9/22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AC85191-5804-47C9-95EB-D49D715737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Verifying Cyber-Physical Systems - Book Review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D6B0A03-44F6-4299-B45D-E07A023906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15108C-154A-4A5A-9C05-91A49A422BA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4362053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6920E6-CC97-4BD8-92FE-8F36024D0E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1078" y="722900"/>
            <a:ext cx="10320062" cy="140750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73872FB-EDD5-42FB-8A9A-279EAD4FB0D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91078" y="2331481"/>
            <a:ext cx="4963444" cy="540072"/>
          </a:xfrm>
        </p:spPr>
        <p:txBody>
          <a:bodyPr anchor="b"/>
          <a:lstStyle>
            <a:lvl1pPr marL="0" indent="0">
              <a:buNone/>
              <a:defRPr sz="2400" b="0" i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45F28C1-95C8-476A-8D93-D580DD39D8F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91078" y="2954564"/>
            <a:ext cx="4963444" cy="279035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4315485-EE1A-41B0-873A-BA9D06E88BF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03351" y="2331481"/>
            <a:ext cx="4900298" cy="540072"/>
          </a:xfrm>
        </p:spPr>
        <p:txBody>
          <a:bodyPr anchor="b"/>
          <a:lstStyle>
            <a:lvl1pPr marL="0" indent="0">
              <a:buNone/>
              <a:defRPr sz="2400" b="0" i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581A6FB-1583-4A1B-A4A7-C65062C57B7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03351" y="2954564"/>
            <a:ext cx="4900298" cy="279035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3A29EA7-E61E-4617-9DA9-40B9299B328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83587" y="6215870"/>
            <a:ext cx="3843779" cy="417126"/>
          </a:xfrm>
        </p:spPr>
        <p:txBody>
          <a:bodyPr/>
          <a:lstStyle/>
          <a:p>
            <a:fld id="{F7FFBB20-AEBD-3446-BE3B-EEAF1A461906}" type="datetime1">
              <a:rPr lang="en-US" smtClean="0"/>
              <a:t>2/9/22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56249CC-EB72-46A6-87D9-5FBDA8E450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91078" y="236364"/>
            <a:ext cx="4114800" cy="417126"/>
          </a:xfrm>
        </p:spPr>
        <p:txBody>
          <a:bodyPr/>
          <a:lstStyle/>
          <a:p>
            <a:r>
              <a:rPr lang="en-US"/>
              <a:t>Verifying Cyber-Physical Systems - Book Review</a:t>
            </a:r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AA04EE7-47BE-4ECE-A170-793C4E5695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15108C-154A-4A5A-9C05-91A49A422BA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67365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EE4946-24AD-40DD-95A7-49BA49C227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1078" y="722903"/>
            <a:ext cx="10501177" cy="1401231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D8CF342-49F6-482D-943E-7E50B1694A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FD59AF-BA39-D54E-9593-7C63AF6BB779}" type="datetime1">
              <a:rPr lang="en-US" smtClean="0"/>
              <a:t>2/9/22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64033E5-3797-4FF8-866F-9FD9325A9F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91078" y="236364"/>
            <a:ext cx="4114800" cy="417126"/>
          </a:xfrm>
        </p:spPr>
        <p:txBody>
          <a:bodyPr/>
          <a:lstStyle/>
          <a:p>
            <a:r>
              <a:rPr lang="en-US"/>
              <a:t>Verifying Cyber-Physical Systems - Book Review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6DC1E67-424D-4638-98F8-38E71A4100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15108C-154A-4A5A-9C05-91A49A422BA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7032263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4">
            <a:extLst>
              <a:ext uri="{FF2B5EF4-FFF2-40B4-BE49-F238E27FC236}">
                <a16:creationId xmlns:a16="http://schemas.microsoft.com/office/drawing/2014/main" id="{45BED274-5EB4-4EF4-B353-E55BD502655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-6214" y="-1"/>
            <a:ext cx="12214827" cy="6858000"/>
            <a:chOff x="-6214" y="-1"/>
            <a:chExt cx="12214827" cy="6858000"/>
          </a:xfrm>
        </p:grpSpPr>
        <p:cxnSp>
          <p:nvCxnSpPr>
            <p:cNvPr id="6" name="Straight Connector 5">
              <a:extLst>
                <a:ext uri="{FF2B5EF4-FFF2-40B4-BE49-F238E27FC236}">
                  <a16:creationId xmlns:a16="http://schemas.microsoft.com/office/drawing/2014/main" id="{E0418BE5-560E-4E49-B12D-B555511FED72}"/>
                </a:ext>
              </a:extLst>
            </p:cNvPr>
            <p:cNvCxnSpPr>
              <a:cxnSpLocks/>
            </p:cNvCxnSpPr>
            <p:nvPr/>
          </p:nvCxnSpPr>
          <p:spPr>
            <a:xfrm>
              <a:off x="-6214" y="6686283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" name="Straight Connector 6">
              <a:extLst>
                <a:ext uri="{FF2B5EF4-FFF2-40B4-BE49-F238E27FC236}">
                  <a16:creationId xmlns:a16="http://schemas.microsoft.com/office/drawing/2014/main" id="{849D1162-73B9-420F-BCBE-95039D00CD24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" name="Straight Connector 7">
              <a:extLst>
                <a:ext uri="{FF2B5EF4-FFF2-40B4-BE49-F238E27FC236}">
                  <a16:creationId xmlns:a16="http://schemas.microsoft.com/office/drawing/2014/main" id="{92BA76FE-316A-48E2-A03B-4E05691C4348}"/>
                </a:ext>
              </a:extLst>
            </p:cNvPr>
            <p:cNvCxnSpPr>
              <a:cxnSpLocks/>
            </p:cNvCxnSpPr>
            <p:nvPr/>
          </p:nvCxnSpPr>
          <p:spPr>
            <a:xfrm>
              <a:off x="1199325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Connector 8">
              <a:extLst>
                <a:ext uri="{FF2B5EF4-FFF2-40B4-BE49-F238E27FC236}">
                  <a16:creationId xmlns:a16="http://schemas.microsoft.com/office/drawing/2014/main" id="{0E678FBC-A6AD-4422-BA24-A4172F8862CA}"/>
                </a:ext>
              </a:extLst>
            </p:cNvPr>
            <p:cNvCxnSpPr>
              <a:cxnSpLocks/>
            </p:cNvCxnSpPr>
            <p:nvPr/>
          </p:nvCxnSpPr>
          <p:spPr>
            <a:xfrm>
              <a:off x="19252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Straight Connector 9">
              <a:extLst>
                <a:ext uri="{FF2B5EF4-FFF2-40B4-BE49-F238E27FC236}">
                  <a16:creationId xmlns:a16="http://schemas.microsoft.com/office/drawing/2014/main" id="{DD3C5C3E-2D08-43F0-AFAC-E15360CA7D34}"/>
                </a:ext>
              </a:extLst>
            </p:cNvPr>
            <p:cNvCxnSpPr>
              <a:cxnSpLocks/>
            </p:cNvCxnSpPr>
            <p:nvPr/>
          </p:nvCxnSpPr>
          <p:spPr>
            <a:xfrm>
              <a:off x="1175922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Connector 10">
              <a:extLst>
                <a:ext uri="{FF2B5EF4-FFF2-40B4-BE49-F238E27FC236}">
                  <a16:creationId xmlns:a16="http://schemas.microsoft.com/office/drawing/2014/main" id="{E0BEAC62-AF92-4A65-9790-6F6E0C6C5A1F}"/>
                </a:ext>
              </a:extLst>
            </p:cNvPr>
            <p:cNvCxnSpPr>
              <a:cxnSpLocks/>
            </p:cNvCxnSpPr>
            <p:nvPr/>
          </p:nvCxnSpPr>
          <p:spPr>
            <a:xfrm>
              <a:off x="2159316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11">
              <a:extLst>
                <a:ext uri="{FF2B5EF4-FFF2-40B4-BE49-F238E27FC236}">
                  <a16:creationId xmlns:a16="http://schemas.microsoft.com/office/drawing/2014/main" id="{3C77D7C5-E76E-4E82-BFC4-9A75D2C8089D}"/>
                </a:ext>
              </a:extLst>
            </p:cNvPr>
            <p:cNvCxnSpPr>
              <a:cxnSpLocks/>
            </p:cNvCxnSpPr>
            <p:nvPr/>
          </p:nvCxnSpPr>
          <p:spPr>
            <a:xfrm>
              <a:off x="3142710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Straight Connector 12">
              <a:extLst>
                <a:ext uri="{FF2B5EF4-FFF2-40B4-BE49-F238E27FC236}">
                  <a16:creationId xmlns:a16="http://schemas.microsoft.com/office/drawing/2014/main" id="{C66E0152-96B9-4067-80D3-D9BDE6D7EC95}"/>
                </a:ext>
              </a:extLst>
            </p:cNvPr>
            <p:cNvCxnSpPr>
              <a:cxnSpLocks/>
            </p:cNvCxnSpPr>
            <p:nvPr/>
          </p:nvCxnSpPr>
          <p:spPr>
            <a:xfrm>
              <a:off x="4126104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Connector 13">
              <a:extLst>
                <a:ext uri="{FF2B5EF4-FFF2-40B4-BE49-F238E27FC236}">
                  <a16:creationId xmlns:a16="http://schemas.microsoft.com/office/drawing/2014/main" id="{0918AFCC-B9DA-4092-8FBA-2CFEDB0388E3}"/>
                </a:ext>
              </a:extLst>
            </p:cNvPr>
            <p:cNvCxnSpPr>
              <a:cxnSpLocks/>
            </p:cNvCxnSpPr>
            <p:nvPr/>
          </p:nvCxnSpPr>
          <p:spPr>
            <a:xfrm>
              <a:off x="510949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91EC7D33-C87E-4812-A722-53C5D99272B5}"/>
                </a:ext>
              </a:extLst>
            </p:cNvPr>
            <p:cNvCxnSpPr>
              <a:cxnSpLocks/>
            </p:cNvCxnSpPr>
            <p:nvPr/>
          </p:nvCxnSpPr>
          <p:spPr>
            <a:xfrm>
              <a:off x="6092892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Connector 15">
              <a:extLst>
                <a:ext uri="{FF2B5EF4-FFF2-40B4-BE49-F238E27FC236}">
                  <a16:creationId xmlns:a16="http://schemas.microsoft.com/office/drawing/2014/main" id="{95F239E3-501A-4C3C-9BE4-6BFA0D3126B7}"/>
                </a:ext>
              </a:extLst>
            </p:cNvPr>
            <p:cNvCxnSpPr>
              <a:cxnSpLocks/>
            </p:cNvCxnSpPr>
            <p:nvPr/>
          </p:nvCxnSpPr>
          <p:spPr>
            <a:xfrm>
              <a:off x="7076286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Connector 16">
              <a:extLst>
                <a:ext uri="{FF2B5EF4-FFF2-40B4-BE49-F238E27FC236}">
                  <a16:creationId xmlns:a16="http://schemas.microsoft.com/office/drawing/2014/main" id="{9B62BF3B-95BB-4188-AAE5-015A0EF3D186}"/>
                </a:ext>
              </a:extLst>
            </p:cNvPr>
            <p:cNvCxnSpPr>
              <a:cxnSpLocks/>
            </p:cNvCxnSpPr>
            <p:nvPr/>
          </p:nvCxnSpPr>
          <p:spPr>
            <a:xfrm>
              <a:off x="8059680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>
              <a:extLst>
                <a:ext uri="{FF2B5EF4-FFF2-40B4-BE49-F238E27FC236}">
                  <a16:creationId xmlns:a16="http://schemas.microsoft.com/office/drawing/2014/main" id="{B14E5F0F-0124-40D0-A0BF-AE307A0E15F4}"/>
                </a:ext>
              </a:extLst>
            </p:cNvPr>
            <p:cNvCxnSpPr>
              <a:cxnSpLocks/>
            </p:cNvCxnSpPr>
            <p:nvPr/>
          </p:nvCxnSpPr>
          <p:spPr>
            <a:xfrm>
              <a:off x="9043074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>
              <a:extLst>
                <a:ext uri="{FF2B5EF4-FFF2-40B4-BE49-F238E27FC236}">
                  <a16:creationId xmlns:a16="http://schemas.microsoft.com/office/drawing/2014/main" id="{2BADC3B1-26C7-4CF1-B29D-4D0DEA3E2633}"/>
                </a:ext>
              </a:extLst>
            </p:cNvPr>
            <p:cNvCxnSpPr>
              <a:cxnSpLocks/>
            </p:cNvCxnSpPr>
            <p:nvPr/>
          </p:nvCxnSpPr>
          <p:spPr>
            <a:xfrm>
              <a:off x="1002646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>
              <a:extLst>
                <a:ext uri="{FF2B5EF4-FFF2-40B4-BE49-F238E27FC236}">
                  <a16:creationId xmlns:a16="http://schemas.microsoft.com/office/drawing/2014/main" id="{A0A7DF6E-1132-4A80-9B18-593B1ACD7784}"/>
                </a:ext>
              </a:extLst>
            </p:cNvPr>
            <p:cNvCxnSpPr>
              <a:cxnSpLocks/>
            </p:cNvCxnSpPr>
            <p:nvPr/>
          </p:nvCxnSpPr>
          <p:spPr>
            <a:xfrm>
              <a:off x="11009862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>
              <a:extLst>
                <a:ext uri="{FF2B5EF4-FFF2-40B4-BE49-F238E27FC236}">
                  <a16:creationId xmlns:a16="http://schemas.microsoft.com/office/drawing/2014/main" id="{9EF19589-10D8-4A8F-A0B1-F7CE380E3001}"/>
                </a:ext>
              </a:extLst>
            </p:cNvPr>
            <p:cNvCxnSpPr>
              <a:cxnSpLocks/>
            </p:cNvCxnSpPr>
            <p:nvPr/>
          </p:nvCxnSpPr>
          <p:spPr>
            <a:xfrm>
              <a:off x="12185786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Connector 21">
              <a:extLst>
                <a:ext uri="{FF2B5EF4-FFF2-40B4-BE49-F238E27FC236}">
                  <a16:creationId xmlns:a16="http://schemas.microsoft.com/office/drawing/2014/main" id="{28E6BB32-C4F8-4914-88D3-7DC5E79D023E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171716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Straight Connector 22">
              <a:extLst>
                <a:ext uri="{FF2B5EF4-FFF2-40B4-BE49-F238E27FC236}">
                  <a16:creationId xmlns:a16="http://schemas.microsoft.com/office/drawing/2014/main" id="{A8F046EE-9DBA-4924-A19C-ED8741F5F810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714597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Straight Connector 23">
              <a:extLst>
                <a:ext uri="{FF2B5EF4-FFF2-40B4-BE49-F238E27FC236}">
                  <a16:creationId xmlns:a16="http://schemas.microsoft.com/office/drawing/2014/main" id="{8AABBC44-ABA8-4913-824E-64D344724644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1257478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Straight Connector 24">
              <a:extLst>
                <a:ext uri="{FF2B5EF4-FFF2-40B4-BE49-F238E27FC236}">
                  <a16:creationId xmlns:a16="http://schemas.microsoft.com/office/drawing/2014/main" id="{54272B22-1C39-47A0-8551-73666AFBEECC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1800359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Straight Connector 25">
              <a:extLst>
                <a:ext uri="{FF2B5EF4-FFF2-40B4-BE49-F238E27FC236}">
                  <a16:creationId xmlns:a16="http://schemas.microsoft.com/office/drawing/2014/main" id="{08CDFF66-464C-4ABF-BB01-00500A3B7517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2343240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Straight Connector 26">
              <a:extLst>
                <a:ext uri="{FF2B5EF4-FFF2-40B4-BE49-F238E27FC236}">
                  <a16:creationId xmlns:a16="http://schemas.microsoft.com/office/drawing/2014/main" id="{3079FC88-BD3B-4C04-9B90-0FC93C179217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2886121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Straight Connector 27">
              <a:extLst>
                <a:ext uri="{FF2B5EF4-FFF2-40B4-BE49-F238E27FC236}">
                  <a16:creationId xmlns:a16="http://schemas.microsoft.com/office/drawing/2014/main" id="{B1FCAED8-8687-4141-A7C3-0D88ACEDFECA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3429002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Straight Connector 28">
              <a:extLst>
                <a:ext uri="{FF2B5EF4-FFF2-40B4-BE49-F238E27FC236}">
                  <a16:creationId xmlns:a16="http://schemas.microsoft.com/office/drawing/2014/main" id="{065038E6-7B32-460F-B804-D6C105FF44C9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3971883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Straight Connector 29">
              <a:extLst>
                <a:ext uri="{FF2B5EF4-FFF2-40B4-BE49-F238E27FC236}">
                  <a16:creationId xmlns:a16="http://schemas.microsoft.com/office/drawing/2014/main" id="{EC5DAE85-AD17-454B-AB64-CEFF52FDAB9D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4514764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Straight Connector 30">
              <a:extLst>
                <a:ext uri="{FF2B5EF4-FFF2-40B4-BE49-F238E27FC236}">
                  <a16:creationId xmlns:a16="http://schemas.microsoft.com/office/drawing/2014/main" id="{8C603643-2066-4967-AE4B-9DA143843B25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5057645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Straight Connector 31">
              <a:extLst>
                <a:ext uri="{FF2B5EF4-FFF2-40B4-BE49-F238E27FC236}">
                  <a16:creationId xmlns:a16="http://schemas.microsoft.com/office/drawing/2014/main" id="{437E9533-9B07-43E3-B939-7BADC01FEE86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5600526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Straight Connector 32">
              <a:extLst>
                <a:ext uri="{FF2B5EF4-FFF2-40B4-BE49-F238E27FC236}">
                  <a16:creationId xmlns:a16="http://schemas.microsoft.com/office/drawing/2014/main" id="{EDCCAAEE-AB2E-4534-893A-3DB109499FBB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6857999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Straight Connector 33">
              <a:extLst>
                <a:ext uri="{FF2B5EF4-FFF2-40B4-BE49-F238E27FC236}">
                  <a16:creationId xmlns:a16="http://schemas.microsoft.com/office/drawing/2014/main" id="{48BD39A2-970F-4714-AAA6-67EE99A0EAA9}"/>
                </a:ext>
              </a:extLst>
            </p:cNvPr>
            <p:cNvCxnSpPr>
              <a:cxnSpLocks/>
            </p:cNvCxnSpPr>
            <p:nvPr/>
          </p:nvCxnSpPr>
          <p:spPr>
            <a:xfrm>
              <a:off x="16613" y="6143407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Straight Connector 34">
              <a:extLst>
                <a:ext uri="{FF2B5EF4-FFF2-40B4-BE49-F238E27FC236}">
                  <a16:creationId xmlns:a16="http://schemas.microsoft.com/office/drawing/2014/main" id="{CF4A1387-348B-4E46-9B65-FDF76ED0EF20}"/>
                </a:ext>
              </a:extLst>
            </p:cNvPr>
            <p:cNvCxnSpPr>
              <a:cxnSpLocks/>
            </p:cNvCxnSpPr>
            <p:nvPr/>
          </p:nvCxnSpPr>
          <p:spPr>
            <a:xfrm>
              <a:off x="684225" y="171716"/>
              <a:ext cx="0" cy="6511464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Straight Connector 35">
              <a:extLst>
                <a:ext uri="{FF2B5EF4-FFF2-40B4-BE49-F238E27FC236}">
                  <a16:creationId xmlns:a16="http://schemas.microsoft.com/office/drawing/2014/main" id="{BF5DAF27-A54D-442A-93E4-BA7F04EAE379}"/>
                </a:ext>
              </a:extLst>
            </p:cNvPr>
            <p:cNvCxnSpPr>
              <a:cxnSpLocks/>
            </p:cNvCxnSpPr>
            <p:nvPr/>
          </p:nvCxnSpPr>
          <p:spPr>
            <a:xfrm>
              <a:off x="11508412" y="173267"/>
              <a:ext cx="0" cy="6511464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2EA265F-80A1-448D-A6EB-CE8D6F6EC7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8ED8CA-DCEF-0442-A289-187E5A89F606}" type="datetime1">
              <a:rPr lang="en-US" smtClean="0"/>
              <a:t>2/9/22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815D00D-89E6-4E7A-9A4D-A8CCEB3BED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Verifying Cyber-Physical Systems - Book Review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22B5AEA-8C38-4776-878C-AB01474D91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15108C-154A-4A5A-9C05-91A49A422BA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8705358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Right Triangle 39">
            <a:extLst>
              <a:ext uri="{FF2B5EF4-FFF2-40B4-BE49-F238E27FC236}">
                <a16:creationId xmlns:a16="http://schemas.microsoft.com/office/drawing/2014/main" id="{C4853C57-22BC-4465-8B37-DC06FE5A000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rot="13500000">
            <a:off x="-281092" y="3144857"/>
            <a:ext cx="568289" cy="568289"/>
          </a:xfrm>
          <a:prstGeom prst="rtTriangle">
            <a:avLst/>
          </a:prstGeom>
          <a:solidFill>
            <a:schemeClr val="accent1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E67C0A6-48E9-4845-9EBF-EF2A3DFD274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3587" y="713677"/>
            <a:ext cx="4499914" cy="2996581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2A8B542-2084-485C-ABFC-94340B4C7E7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698672" y="708102"/>
            <a:ext cx="5656716" cy="5430644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647791F-9546-470D-A174-D75285263C2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83587" y="3976544"/>
            <a:ext cx="4499914" cy="2162201"/>
          </a:xfrm>
        </p:spPr>
        <p:txBody>
          <a:bodyPr>
            <a:normAutofit/>
          </a:bodyPr>
          <a:lstStyle>
            <a:lvl1pPr marL="0" indent="0">
              <a:buNone/>
              <a:defRPr lang="en-US" sz="2400" b="0" i="1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marL="0" lvl="0" indent="0" algn="l" defTabSz="914400" rtl="0" eaLnBrk="1" latinLnBrk="0" hangingPunct="1">
              <a:lnSpc>
                <a:spcPct val="110000"/>
              </a:lnSpc>
              <a:spcBef>
                <a:spcPts val="1000"/>
              </a:spcBef>
              <a:buClr>
                <a:schemeClr val="tx2">
                  <a:lumMod val="50000"/>
                  <a:lumOff val="50000"/>
                </a:schemeClr>
              </a:buClr>
              <a:buSzPct val="75000"/>
              <a:buFont typeface="Wingdings" panose="05000000000000000000" pitchFamily="2" charset="2"/>
              <a:buNone/>
            </a:pPr>
            <a:r>
              <a:rPr lang="en-US"/>
              <a:t>Click to edit Master text styles</a:t>
            </a:r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0550D594-9D00-4E12-9A7B-8B78EC19948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-6214" y="-1"/>
            <a:ext cx="12214827" cy="6858000"/>
            <a:chOff x="-6214" y="-1"/>
            <a:chExt cx="12214827" cy="6858000"/>
          </a:xfrm>
        </p:grpSpPr>
        <p:cxnSp>
          <p:nvCxnSpPr>
            <p:cNvPr id="9" name="Straight Connector 8">
              <a:extLst>
                <a:ext uri="{FF2B5EF4-FFF2-40B4-BE49-F238E27FC236}">
                  <a16:creationId xmlns:a16="http://schemas.microsoft.com/office/drawing/2014/main" id="{C5DEA230-2680-47DD-BD49-FDBF4C1105A5}"/>
                </a:ext>
              </a:extLst>
            </p:cNvPr>
            <p:cNvCxnSpPr>
              <a:cxnSpLocks/>
            </p:cNvCxnSpPr>
            <p:nvPr/>
          </p:nvCxnSpPr>
          <p:spPr>
            <a:xfrm>
              <a:off x="-6214" y="6686283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Straight Connector 9">
              <a:extLst>
                <a:ext uri="{FF2B5EF4-FFF2-40B4-BE49-F238E27FC236}">
                  <a16:creationId xmlns:a16="http://schemas.microsoft.com/office/drawing/2014/main" id="{EF0BA61D-887F-46F1-B20D-EA4C38D467CE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Connector 10">
              <a:extLst>
                <a:ext uri="{FF2B5EF4-FFF2-40B4-BE49-F238E27FC236}">
                  <a16:creationId xmlns:a16="http://schemas.microsoft.com/office/drawing/2014/main" id="{F350DFBA-D16D-4AE0-8339-58C4089B94AD}"/>
                </a:ext>
              </a:extLst>
            </p:cNvPr>
            <p:cNvCxnSpPr>
              <a:cxnSpLocks/>
            </p:cNvCxnSpPr>
            <p:nvPr/>
          </p:nvCxnSpPr>
          <p:spPr>
            <a:xfrm>
              <a:off x="1199325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11">
              <a:extLst>
                <a:ext uri="{FF2B5EF4-FFF2-40B4-BE49-F238E27FC236}">
                  <a16:creationId xmlns:a16="http://schemas.microsoft.com/office/drawing/2014/main" id="{CF4AAAA5-CEFC-4C25-91D3-5AE49F720DA5}"/>
                </a:ext>
              </a:extLst>
            </p:cNvPr>
            <p:cNvCxnSpPr>
              <a:cxnSpLocks/>
            </p:cNvCxnSpPr>
            <p:nvPr/>
          </p:nvCxnSpPr>
          <p:spPr>
            <a:xfrm>
              <a:off x="19252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Straight Connector 12">
              <a:extLst>
                <a:ext uri="{FF2B5EF4-FFF2-40B4-BE49-F238E27FC236}">
                  <a16:creationId xmlns:a16="http://schemas.microsoft.com/office/drawing/2014/main" id="{14D142AD-3FA3-43E4-8A61-61CF1E415684}"/>
                </a:ext>
              </a:extLst>
            </p:cNvPr>
            <p:cNvCxnSpPr>
              <a:cxnSpLocks/>
            </p:cNvCxnSpPr>
            <p:nvPr/>
          </p:nvCxnSpPr>
          <p:spPr>
            <a:xfrm>
              <a:off x="1175922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Connector 13">
              <a:extLst>
                <a:ext uri="{FF2B5EF4-FFF2-40B4-BE49-F238E27FC236}">
                  <a16:creationId xmlns:a16="http://schemas.microsoft.com/office/drawing/2014/main" id="{9C3755A3-93F4-4EC4-9635-7E89E4AF1D3F}"/>
                </a:ext>
              </a:extLst>
            </p:cNvPr>
            <p:cNvCxnSpPr>
              <a:cxnSpLocks/>
            </p:cNvCxnSpPr>
            <p:nvPr/>
          </p:nvCxnSpPr>
          <p:spPr>
            <a:xfrm>
              <a:off x="2159316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E0BFB588-0AB8-4BD8-9272-1CA867726018}"/>
                </a:ext>
              </a:extLst>
            </p:cNvPr>
            <p:cNvCxnSpPr>
              <a:cxnSpLocks/>
            </p:cNvCxnSpPr>
            <p:nvPr/>
          </p:nvCxnSpPr>
          <p:spPr>
            <a:xfrm>
              <a:off x="3142710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Connector 15">
              <a:extLst>
                <a:ext uri="{FF2B5EF4-FFF2-40B4-BE49-F238E27FC236}">
                  <a16:creationId xmlns:a16="http://schemas.microsoft.com/office/drawing/2014/main" id="{F45A6DF3-CF29-4480-A235-EAE88D65A63C}"/>
                </a:ext>
              </a:extLst>
            </p:cNvPr>
            <p:cNvCxnSpPr>
              <a:cxnSpLocks/>
            </p:cNvCxnSpPr>
            <p:nvPr/>
          </p:nvCxnSpPr>
          <p:spPr>
            <a:xfrm>
              <a:off x="4126104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Connector 16">
              <a:extLst>
                <a:ext uri="{FF2B5EF4-FFF2-40B4-BE49-F238E27FC236}">
                  <a16:creationId xmlns:a16="http://schemas.microsoft.com/office/drawing/2014/main" id="{9D6FF036-365A-4C15-8E15-0D5BBEBCEA58}"/>
                </a:ext>
              </a:extLst>
            </p:cNvPr>
            <p:cNvCxnSpPr>
              <a:cxnSpLocks/>
            </p:cNvCxnSpPr>
            <p:nvPr/>
          </p:nvCxnSpPr>
          <p:spPr>
            <a:xfrm>
              <a:off x="510949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>
              <a:extLst>
                <a:ext uri="{FF2B5EF4-FFF2-40B4-BE49-F238E27FC236}">
                  <a16:creationId xmlns:a16="http://schemas.microsoft.com/office/drawing/2014/main" id="{A85E76FF-4E86-4E42-B67E-B11AAE8D3076}"/>
                </a:ext>
              </a:extLst>
            </p:cNvPr>
            <p:cNvCxnSpPr>
              <a:cxnSpLocks/>
            </p:cNvCxnSpPr>
            <p:nvPr/>
          </p:nvCxnSpPr>
          <p:spPr>
            <a:xfrm>
              <a:off x="6092892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>
              <a:extLst>
                <a:ext uri="{FF2B5EF4-FFF2-40B4-BE49-F238E27FC236}">
                  <a16:creationId xmlns:a16="http://schemas.microsoft.com/office/drawing/2014/main" id="{41A64CEE-7CED-4EB2-A414-6F2D91E824F9}"/>
                </a:ext>
              </a:extLst>
            </p:cNvPr>
            <p:cNvCxnSpPr>
              <a:cxnSpLocks/>
            </p:cNvCxnSpPr>
            <p:nvPr/>
          </p:nvCxnSpPr>
          <p:spPr>
            <a:xfrm>
              <a:off x="7076286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>
              <a:extLst>
                <a:ext uri="{FF2B5EF4-FFF2-40B4-BE49-F238E27FC236}">
                  <a16:creationId xmlns:a16="http://schemas.microsoft.com/office/drawing/2014/main" id="{012C571B-47A6-49EB-A29F-678368BAED9F}"/>
                </a:ext>
              </a:extLst>
            </p:cNvPr>
            <p:cNvCxnSpPr>
              <a:cxnSpLocks/>
            </p:cNvCxnSpPr>
            <p:nvPr/>
          </p:nvCxnSpPr>
          <p:spPr>
            <a:xfrm>
              <a:off x="8059680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>
              <a:extLst>
                <a:ext uri="{FF2B5EF4-FFF2-40B4-BE49-F238E27FC236}">
                  <a16:creationId xmlns:a16="http://schemas.microsoft.com/office/drawing/2014/main" id="{3160B109-845C-4119-BB66-9887B3859A7D}"/>
                </a:ext>
              </a:extLst>
            </p:cNvPr>
            <p:cNvCxnSpPr>
              <a:cxnSpLocks/>
            </p:cNvCxnSpPr>
            <p:nvPr/>
          </p:nvCxnSpPr>
          <p:spPr>
            <a:xfrm>
              <a:off x="9043074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Connector 21">
              <a:extLst>
                <a:ext uri="{FF2B5EF4-FFF2-40B4-BE49-F238E27FC236}">
                  <a16:creationId xmlns:a16="http://schemas.microsoft.com/office/drawing/2014/main" id="{B68B7447-FF64-42D9-B3C6-2BDC6F547EDE}"/>
                </a:ext>
              </a:extLst>
            </p:cNvPr>
            <p:cNvCxnSpPr>
              <a:cxnSpLocks/>
            </p:cNvCxnSpPr>
            <p:nvPr/>
          </p:nvCxnSpPr>
          <p:spPr>
            <a:xfrm>
              <a:off x="1002646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Straight Connector 22">
              <a:extLst>
                <a:ext uri="{FF2B5EF4-FFF2-40B4-BE49-F238E27FC236}">
                  <a16:creationId xmlns:a16="http://schemas.microsoft.com/office/drawing/2014/main" id="{4FFF9B71-8653-450D-AFBE-2140D586FB50}"/>
                </a:ext>
              </a:extLst>
            </p:cNvPr>
            <p:cNvCxnSpPr>
              <a:cxnSpLocks/>
            </p:cNvCxnSpPr>
            <p:nvPr/>
          </p:nvCxnSpPr>
          <p:spPr>
            <a:xfrm>
              <a:off x="11009862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Straight Connector 23">
              <a:extLst>
                <a:ext uri="{FF2B5EF4-FFF2-40B4-BE49-F238E27FC236}">
                  <a16:creationId xmlns:a16="http://schemas.microsoft.com/office/drawing/2014/main" id="{EF0B9E5A-C1DA-445C-A911-721DF98DDCDD}"/>
                </a:ext>
              </a:extLst>
            </p:cNvPr>
            <p:cNvCxnSpPr>
              <a:cxnSpLocks/>
            </p:cNvCxnSpPr>
            <p:nvPr/>
          </p:nvCxnSpPr>
          <p:spPr>
            <a:xfrm>
              <a:off x="12185786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Straight Connector 24">
              <a:extLst>
                <a:ext uri="{FF2B5EF4-FFF2-40B4-BE49-F238E27FC236}">
                  <a16:creationId xmlns:a16="http://schemas.microsoft.com/office/drawing/2014/main" id="{F5C9A3DC-A478-4469-9359-34A435689F36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171716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Straight Connector 25">
              <a:extLst>
                <a:ext uri="{FF2B5EF4-FFF2-40B4-BE49-F238E27FC236}">
                  <a16:creationId xmlns:a16="http://schemas.microsoft.com/office/drawing/2014/main" id="{D7DE3299-EED7-4771-A270-F6B02941AD65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714597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Straight Connector 26">
              <a:extLst>
                <a:ext uri="{FF2B5EF4-FFF2-40B4-BE49-F238E27FC236}">
                  <a16:creationId xmlns:a16="http://schemas.microsoft.com/office/drawing/2014/main" id="{B434422A-5B59-41DC-8E2A-1A8244580E30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1257478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Straight Connector 27">
              <a:extLst>
                <a:ext uri="{FF2B5EF4-FFF2-40B4-BE49-F238E27FC236}">
                  <a16:creationId xmlns:a16="http://schemas.microsoft.com/office/drawing/2014/main" id="{4A176117-0990-434B-A9D9-B4B9043C5447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1800359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Straight Connector 28">
              <a:extLst>
                <a:ext uri="{FF2B5EF4-FFF2-40B4-BE49-F238E27FC236}">
                  <a16:creationId xmlns:a16="http://schemas.microsoft.com/office/drawing/2014/main" id="{A7D6425E-C84A-462F-98F8-D0AB4FC3AF88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2343240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Straight Connector 29">
              <a:extLst>
                <a:ext uri="{FF2B5EF4-FFF2-40B4-BE49-F238E27FC236}">
                  <a16:creationId xmlns:a16="http://schemas.microsoft.com/office/drawing/2014/main" id="{AF13AB68-7321-4AC2-AC60-0F417877D078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2886121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Straight Connector 30">
              <a:extLst>
                <a:ext uri="{FF2B5EF4-FFF2-40B4-BE49-F238E27FC236}">
                  <a16:creationId xmlns:a16="http://schemas.microsoft.com/office/drawing/2014/main" id="{FE275CCE-D06F-49D0-8A47-372C5040330B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3429002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Straight Connector 31">
              <a:extLst>
                <a:ext uri="{FF2B5EF4-FFF2-40B4-BE49-F238E27FC236}">
                  <a16:creationId xmlns:a16="http://schemas.microsoft.com/office/drawing/2014/main" id="{9D4B374E-EEBC-4A9C-B3B4-B269EC719857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3971883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Straight Connector 32">
              <a:extLst>
                <a:ext uri="{FF2B5EF4-FFF2-40B4-BE49-F238E27FC236}">
                  <a16:creationId xmlns:a16="http://schemas.microsoft.com/office/drawing/2014/main" id="{2D80A7E6-BBEF-4EF1-B14A-29F26BFCF8E6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4514764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Straight Connector 33">
              <a:extLst>
                <a:ext uri="{FF2B5EF4-FFF2-40B4-BE49-F238E27FC236}">
                  <a16:creationId xmlns:a16="http://schemas.microsoft.com/office/drawing/2014/main" id="{2D7BC013-9B50-459D-8B8D-F756514A478B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5057645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Straight Connector 34">
              <a:extLst>
                <a:ext uri="{FF2B5EF4-FFF2-40B4-BE49-F238E27FC236}">
                  <a16:creationId xmlns:a16="http://schemas.microsoft.com/office/drawing/2014/main" id="{E48964C0-675D-4807-B795-4B695A8F8420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5600526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Straight Connector 35">
              <a:extLst>
                <a:ext uri="{FF2B5EF4-FFF2-40B4-BE49-F238E27FC236}">
                  <a16:creationId xmlns:a16="http://schemas.microsoft.com/office/drawing/2014/main" id="{96911512-51A8-4CE7-A043-425C809EB5FB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6857999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" name="Straight Connector 36">
              <a:extLst>
                <a:ext uri="{FF2B5EF4-FFF2-40B4-BE49-F238E27FC236}">
                  <a16:creationId xmlns:a16="http://schemas.microsoft.com/office/drawing/2014/main" id="{43C15D1E-0EDF-4AD7-90C7-3D8D64E645DB}"/>
                </a:ext>
              </a:extLst>
            </p:cNvPr>
            <p:cNvCxnSpPr>
              <a:cxnSpLocks/>
            </p:cNvCxnSpPr>
            <p:nvPr/>
          </p:nvCxnSpPr>
          <p:spPr>
            <a:xfrm>
              <a:off x="16613" y="6143407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" name="Straight Connector 37">
              <a:extLst>
                <a:ext uri="{FF2B5EF4-FFF2-40B4-BE49-F238E27FC236}">
                  <a16:creationId xmlns:a16="http://schemas.microsoft.com/office/drawing/2014/main" id="{78265A2D-2A6A-4301-B59F-8BAD98D9A57B}"/>
                </a:ext>
              </a:extLst>
            </p:cNvPr>
            <p:cNvCxnSpPr>
              <a:cxnSpLocks/>
            </p:cNvCxnSpPr>
            <p:nvPr/>
          </p:nvCxnSpPr>
          <p:spPr>
            <a:xfrm>
              <a:off x="684225" y="171716"/>
              <a:ext cx="0" cy="6511464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" name="Straight Connector 38">
              <a:extLst>
                <a:ext uri="{FF2B5EF4-FFF2-40B4-BE49-F238E27FC236}">
                  <a16:creationId xmlns:a16="http://schemas.microsoft.com/office/drawing/2014/main" id="{D4A4907F-2D1D-49D1-882D-119AA5E1183B}"/>
                </a:ext>
              </a:extLst>
            </p:cNvPr>
            <p:cNvCxnSpPr>
              <a:cxnSpLocks/>
            </p:cNvCxnSpPr>
            <p:nvPr/>
          </p:nvCxnSpPr>
          <p:spPr>
            <a:xfrm>
              <a:off x="11508412" y="173267"/>
              <a:ext cx="0" cy="6511464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F6A2284-37AB-43F5-98B8-8AB49DBFA9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9BCC56-F230-1740-A435-3C66F8321A8C}" type="datetime1">
              <a:rPr lang="en-US" smtClean="0"/>
              <a:t>2/9/22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AD8ABAA-E2F7-4C89-99ED-2C340220DD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Verifying Cyber-Physical Systems - Book Review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252EF12-B2CD-4F3C-9F19-A869154050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15108C-154A-4A5A-9C05-91A49A422BA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4469383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>
            <a:extLst>
              <a:ext uri="{FF2B5EF4-FFF2-40B4-BE49-F238E27FC236}">
                <a16:creationId xmlns:a16="http://schemas.microsoft.com/office/drawing/2014/main" id="{0DDA6865-0A03-48FA-AD6E-D5BF8FDE927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-6214" y="-1"/>
            <a:ext cx="12214827" cy="6858000"/>
            <a:chOff x="-6214" y="-1"/>
            <a:chExt cx="12214827" cy="6858000"/>
          </a:xfrm>
        </p:grpSpPr>
        <p:cxnSp>
          <p:nvCxnSpPr>
            <p:cNvPr id="9" name="Straight Connector 8">
              <a:extLst>
                <a:ext uri="{FF2B5EF4-FFF2-40B4-BE49-F238E27FC236}">
                  <a16:creationId xmlns:a16="http://schemas.microsoft.com/office/drawing/2014/main" id="{2277E8EB-0DA2-40E4-AD12-1CCD0D262D0B}"/>
                </a:ext>
              </a:extLst>
            </p:cNvPr>
            <p:cNvCxnSpPr>
              <a:cxnSpLocks/>
            </p:cNvCxnSpPr>
            <p:nvPr/>
          </p:nvCxnSpPr>
          <p:spPr>
            <a:xfrm>
              <a:off x="-6214" y="6686283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Straight Connector 9">
              <a:extLst>
                <a:ext uri="{FF2B5EF4-FFF2-40B4-BE49-F238E27FC236}">
                  <a16:creationId xmlns:a16="http://schemas.microsoft.com/office/drawing/2014/main" id="{75BFE9F8-907A-4FFC-9FDE-2B51D238C40E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Connector 10">
              <a:extLst>
                <a:ext uri="{FF2B5EF4-FFF2-40B4-BE49-F238E27FC236}">
                  <a16:creationId xmlns:a16="http://schemas.microsoft.com/office/drawing/2014/main" id="{4BDDC323-8732-4007-BB81-1BE917E3B2FF}"/>
                </a:ext>
              </a:extLst>
            </p:cNvPr>
            <p:cNvCxnSpPr>
              <a:cxnSpLocks/>
            </p:cNvCxnSpPr>
            <p:nvPr/>
          </p:nvCxnSpPr>
          <p:spPr>
            <a:xfrm>
              <a:off x="1199325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11">
              <a:extLst>
                <a:ext uri="{FF2B5EF4-FFF2-40B4-BE49-F238E27FC236}">
                  <a16:creationId xmlns:a16="http://schemas.microsoft.com/office/drawing/2014/main" id="{B908FC40-8403-438D-95CA-E4EDC66192A9}"/>
                </a:ext>
              </a:extLst>
            </p:cNvPr>
            <p:cNvCxnSpPr>
              <a:cxnSpLocks/>
            </p:cNvCxnSpPr>
            <p:nvPr/>
          </p:nvCxnSpPr>
          <p:spPr>
            <a:xfrm>
              <a:off x="19252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Straight Connector 12">
              <a:extLst>
                <a:ext uri="{FF2B5EF4-FFF2-40B4-BE49-F238E27FC236}">
                  <a16:creationId xmlns:a16="http://schemas.microsoft.com/office/drawing/2014/main" id="{5411D218-3FEA-4455-9809-91F029FB55AE}"/>
                </a:ext>
              </a:extLst>
            </p:cNvPr>
            <p:cNvCxnSpPr>
              <a:cxnSpLocks/>
            </p:cNvCxnSpPr>
            <p:nvPr/>
          </p:nvCxnSpPr>
          <p:spPr>
            <a:xfrm>
              <a:off x="1175922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Connector 13">
              <a:extLst>
                <a:ext uri="{FF2B5EF4-FFF2-40B4-BE49-F238E27FC236}">
                  <a16:creationId xmlns:a16="http://schemas.microsoft.com/office/drawing/2014/main" id="{A541390F-BE50-4E4E-9DA2-B5F23F1A93D8}"/>
                </a:ext>
              </a:extLst>
            </p:cNvPr>
            <p:cNvCxnSpPr>
              <a:cxnSpLocks/>
            </p:cNvCxnSpPr>
            <p:nvPr/>
          </p:nvCxnSpPr>
          <p:spPr>
            <a:xfrm>
              <a:off x="2159316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0EB3F094-97B5-48E1-A4DE-8BEED2550283}"/>
                </a:ext>
              </a:extLst>
            </p:cNvPr>
            <p:cNvCxnSpPr>
              <a:cxnSpLocks/>
            </p:cNvCxnSpPr>
            <p:nvPr/>
          </p:nvCxnSpPr>
          <p:spPr>
            <a:xfrm>
              <a:off x="3142710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Connector 15">
              <a:extLst>
                <a:ext uri="{FF2B5EF4-FFF2-40B4-BE49-F238E27FC236}">
                  <a16:creationId xmlns:a16="http://schemas.microsoft.com/office/drawing/2014/main" id="{2D4DBB43-CB34-4881-9445-A7FE131D5327}"/>
                </a:ext>
              </a:extLst>
            </p:cNvPr>
            <p:cNvCxnSpPr>
              <a:cxnSpLocks/>
            </p:cNvCxnSpPr>
            <p:nvPr/>
          </p:nvCxnSpPr>
          <p:spPr>
            <a:xfrm>
              <a:off x="4126104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Connector 16">
              <a:extLst>
                <a:ext uri="{FF2B5EF4-FFF2-40B4-BE49-F238E27FC236}">
                  <a16:creationId xmlns:a16="http://schemas.microsoft.com/office/drawing/2014/main" id="{8B71F972-027A-47F0-996C-84BFE4574050}"/>
                </a:ext>
              </a:extLst>
            </p:cNvPr>
            <p:cNvCxnSpPr>
              <a:cxnSpLocks/>
            </p:cNvCxnSpPr>
            <p:nvPr/>
          </p:nvCxnSpPr>
          <p:spPr>
            <a:xfrm>
              <a:off x="510949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>
              <a:extLst>
                <a:ext uri="{FF2B5EF4-FFF2-40B4-BE49-F238E27FC236}">
                  <a16:creationId xmlns:a16="http://schemas.microsoft.com/office/drawing/2014/main" id="{3C41353D-93C8-43F8-BBDE-7AB6B29EC38C}"/>
                </a:ext>
              </a:extLst>
            </p:cNvPr>
            <p:cNvCxnSpPr>
              <a:cxnSpLocks/>
            </p:cNvCxnSpPr>
            <p:nvPr/>
          </p:nvCxnSpPr>
          <p:spPr>
            <a:xfrm>
              <a:off x="6092892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>
              <a:extLst>
                <a:ext uri="{FF2B5EF4-FFF2-40B4-BE49-F238E27FC236}">
                  <a16:creationId xmlns:a16="http://schemas.microsoft.com/office/drawing/2014/main" id="{5CF07B24-CBD8-4F09-81EB-504285F8E115}"/>
                </a:ext>
              </a:extLst>
            </p:cNvPr>
            <p:cNvCxnSpPr>
              <a:cxnSpLocks/>
            </p:cNvCxnSpPr>
            <p:nvPr/>
          </p:nvCxnSpPr>
          <p:spPr>
            <a:xfrm>
              <a:off x="7076286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>
              <a:extLst>
                <a:ext uri="{FF2B5EF4-FFF2-40B4-BE49-F238E27FC236}">
                  <a16:creationId xmlns:a16="http://schemas.microsoft.com/office/drawing/2014/main" id="{B27873BB-1D79-4055-801C-BDA0F9A15136}"/>
                </a:ext>
              </a:extLst>
            </p:cNvPr>
            <p:cNvCxnSpPr>
              <a:cxnSpLocks/>
            </p:cNvCxnSpPr>
            <p:nvPr/>
          </p:nvCxnSpPr>
          <p:spPr>
            <a:xfrm>
              <a:off x="8059680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>
              <a:extLst>
                <a:ext uri="{FF2B5EF4-FFF2-40B4-BE49-F238E27FC236}">
                  <a16:creationId xmlns:a16="http://schemas.microsoft.com/office/drawing/2014/main" id="{8008D42B-2F35-497E-A26D-9AF008619D43}"/>
                </a:ext>
              </a:extLst>
            </p:cNvPr>
            <p:cNvCxnSpPr>
              <a:cxnSpLocks/>
            </p:cNvCxnSpPr>
            <p:nvPr/>
          </p:nvCxnSpPr>
          <p:spPr>
            <a:xfrm>
              <a:off x="9043074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Connector 21">
              <a:extLst>
                <a:ext uri="{FF2B5EF4-FFF2-40B4-BE49-F238E27FC236}">
                  <a16:creationId xmlns:a16="http://schemas.microsoft.com/office/drawing/2014/main" id="{07F57499-C4D9-4B7D-BADA-38462AA3164E}"/>
                </a:ext>
              </a:extLst>
            </p:cNvPr>
            <p:cNvCxnSpPr>
              <a:cxnSpLocks/>
            </p:cNvCxnSpPr>
            <p:nvPr/>
          </p:nvCxnSpPr>
          <p:spPr>
            <a:xfrm>
              <a:off x="1002646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Straight Connector 22">
              <a:extLst>
                <a:ext uri="{FF2B5EF4-FFF2-40B4-BE49-F238E27FC236}">
                  <a16:creationId xmlns:a16="http://schemas.microsoft.com/office/drawing/2014/main" id="{1271F2B9-1FFA-4350-9370-B098459A2324}"/>
                </a:ext>
              </a:extLst>
            </p:cNvPr>
            <p:cNvCxnSpPr>
              <a:cxnSpLocks/>
            </p:cNvCxnSpPr>
            <p:nvPr/>
          </p:nvCxnSpPr>
          <p:spPr>
            <a:xfrm>
              <a:off x="11009862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Straight Connector 23">
              <a:extLst>
                <a:ext uri="{FF2B5EF4-FFF2-40B4-BE49-F238E27FC236}">
                  <a16:creationId xmlns:a16="http://schemas.microsoft.com/office/drawing/2014/main" id="{38FBAFFC-DC8F-4BB4-B405-E4AAA269AED4}"/>
                </a:ext>
              </a:extLst>
            </p:cNvPr>
            <p:cNvCxnSpPr>
              <a:cxnSpLocks/>
            </p:cNvCxnSpPr>
            <p:nvPr/>
          </p:nvCxnSpPr>
          <p:spPr>
            <a:xfrm>
              <a:off x="12185786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Straight Connector 24">
              <a:extLst>
                <a:ext uri="{FF2B5EF4-FFF2-40B4-BE49-F238E27FC236}">
                  <a16:creationId xmlns:a16="http://schemas.microsoft.com/office/drawing/2014/main" id="{F94FCE64-D7A5-411A-8795-932DD39F9520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171716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Straight Connector 25">
              <a:extLst>
                <a:ext uri="{FF2B5EF4-FFF2-40B4-BE49-F238E27FC236}">
                  <a16:creationId xmlns:a16="http://schemas.microsoft.com/office/drawing/2014/main" id="{E0B4ECFC-FD43-44CF-B7FA-2A8C5651400F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714597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Straight Connector 26">
              <a:extLst>
                <a:ext uri="{FF2B5EF4-FFF2-40B4-BE49-F238E27FC236}">
                  <a16:creationId xmlns:a16="http://schemas.microsoft.com/office/drawing/2014/main" id="{99DFBC12-1E1D-44DE-9966-BAB05B246636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1257478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Straight Connector 27">
              <a:extLst>
                <a:ext uri="{FF2B5EF4-FFF2-40B4-BE49-F238E27FC236}">
                  <a16:creationId xmlns:a16="http://schemas.microsoft.com/office/drawing/2014/main" id="{B9BEF096-361C-478B-81EB-37584119BFEE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1800359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Straight Connector 28">
              <a:extLst>
                <a:ext uri="{FF2B5EF4-FFF2-40B4-BE49-F238E27FC236}">
                  <a16:creationId xmlns:a16="http://schemas.microsoft.com/office/drawing/2014/main" id="{EFC81993-CE86-4910-B9CE-B69375BDCEE3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2343240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Straight Connector 29">
              <a:extLst>
                <a:ext uri="{FF2B5EF4-FFF2-40B4-BE49-F238E27FC236}">
                  <a16:creationId xmlns:a16="http://schemas.microsoft.com/office/drawing/2014/main" id="{475613D7-9FB0-4D33-8784-EC059DE019C8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2886121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Straight Connector 30">
              <a:extLst>
                <a:ext uri="{FF2B5EF4-FFF2-40B4-BE49-F238E27FC236}">
                  <a16:creationId xmlns:a16="http://schemas.microsoft.com/office/drawing/2014/main" id="{D520AFD9-E849-4F42-99B2-928E6098C29A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3429002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Straight Connector 31">
              <a:extLst>
                <a:ext uri="{FF2B5EF4-FFF2-40B4-BE49-F238E27FC236}">
                  <a16:creationId xmlns:a16="http://schemas.microsoft.com/office/drawing/2014/main" id="{6A200B0B-91CD-4D66-ADFC-9585D283103C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3971883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Straight Connector 32">
              <a:extLst>
                <a:ext uri="{FF2B5EF4-FFF2-40B4-BE49-F238E27FC236}">
                  <a16:creationId xmlns:a16="http://schemas.microsoft.com/office/drawing/2014/main" id="{B5DB0C45-30CE-4C85-95C6-FFF4977C646A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4514764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Straight Connector 33">
              <a:extLst>
                <a:ext uri="{FF2B5EF4-FFF2-40B4-BE49-F238E27FC236}">
                  <a16:creationId xmlns:a16="http://schemas.microsoft.com/office/drawing/2014/main" id="{BDC31604-5F93-436D-A9D2-A48846D4E0DE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5057645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Straight Connector 34">
              <a:extLst>
                <a:ext uri="{FF2B5EF4-FFF2-40B4-BE49-F238E27FC236}">
                  <a16:creationId xmlns:a16="http://schemas.microsoft.com/office/drawing/2014/main" id="{1FF1B965-7DE1-4AE3-B28B-DB6847BC52CC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5600526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Straight Connector 35">
              <a:extLst>
                <a:ext uri="{FF2B5EF4-FFF2-40B4-BE49-F238E27FC236}">
                  <a16:creationId xmlns:a16="http://schemas.microsoft.com/office/drawing/2014/main" id="{EFD9FB65-4392-4D6A-8ACC-8151F682BFE8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6857999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" name="Straight Connector 36">
              <a:extLst>
                <a:ext uri="{FF2B5EF4-FFF2-40B4-BE49-F238E27FC236}">
                  <a16:creationId xmlns:a16="http://schemas.microsoft.com/office/drawing/2014/main" id="{4B40380C-3493-4AFE-BF13-AE68A8D244B4}"/>
                </a:ext>
              </a:extLst>
            </p:cNvPr>
            <p:cNvCxnSpPr>
              <a:cxnSpLocks/>
            </p:cNvCxnSpPr>
            <p:nvPr/>
          </p:nvCxnSpPr>
          <p:spPr>
            <a:xfrm>
              <a:off x="16613" y="6143407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" name="Straight Connector 37">
              <a:extLst>
                <a:ext uri="{FF2B5EF4-FFF2-40B4-BE49-F238E27FC236}">
                  <a16:creationId xmlns:a16="http://schemas.microsoft.com/office/drawing/2014/main" id="{3CB21DF1-4859-4991-9C10-F8FA68F41013}"/>
                </a:ext>
              </a:extLst>
            </p:cNvPr>
            <p:cNvCxnSpPr>
              <a:cxnSpLocks/>
            </p:cNvCxnSpPr>
            <p:nvPr/>
          </p:nvCxnSpPr>
          <p:spPr>
            <a:xfrm>
              <a:off x="684225" y="171716"/>
              <a:ext cx="0" cy="6511464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" name="Straight Connector 38">
              <a:extLst>
                <a:ext uri="{FF2B5EF4-FFF2-40B4-BE49-F238E27FC236}">
                  <a16:creationId xmlns:a16="http://schemas.microsoft.com/office/drawing/2014/main" id="{354AD212-17DC-4506-AAA0-34A46A0B11C3}"/>
                </a:ext>
              </a:extLst>
            </p:cNvPr>
            <p:cNvCxnSpPr>
              <a:cxnSpLocks/>
            </p:cNvCxnSpPr>
            <p:nvPr/>
          </p:nvCxnSpPr>
          <p:spPr>
            <a:xfrm>
              <a:off x="11508412" y="173267"/>
              <a:ext cx="0" cy="6511464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35B556E7-762B-4E18-A961-A4F7A9ECF9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3587" y="713677"/>
            <a:ext cx="4434823" cy="3020519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FB7118AF-C54D-406D-AABE-AED6576D128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698672" y="713677"/>
            <a:ext cx="5304977" cy="543064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0" name="Right Triangle 39">
            <a:extLst>
              <a:ext uri="{FF2B5EF4-FFF2-40B4-BE49-F238E27FC236}">
                <a16:creationId xmlns:a16="http://schemas.microsoft.com/office/drawing/2014/main" id="{205CDEB9-8DED-4711-8140-4C943FC2CDA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rot="13500000">
            <a:off x="-281093" y="3143304"/>
            <a:ext cx="568289" cy="568289"/>
          </a:xfrm>
          <a:prstGeom prst="rtTriangle">
            <a:avLst/>
          </a:prstGeom>
          <a:solidFill>
            <a:schemeClr val="accent1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2E13C3F-6360-4760-9477-C3831A6E26E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83587" y="3970330"/>
            <a:ext cx="4434823" cy="2173992"/>
          </a:xfrm>
        </p:spPr>
        <p:txBody>
          <a:bodyPr/>
          <a:lstStyle>
            <a:lvl1pPr marL="0" indent="0">
              <a:buNone/>
              <a:defRPr lang="en-US" sz="2400" b="0" i="1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8192D3B-60EE-4FC5-9ED7-4445300844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DA31CD-7C82-914C-81DC-DFDE0D65C213}" type="datetime1">
              <a:rPr lang="en-US" smtClean="0"/>
              <a:t>2/9/22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BCF831E-9B19-4936-8BC9-F62A9B118B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Verifying Cyber-Physical Systems - Book Review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E71E1D1-F7A2-40D0-91DA-07468A9651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15108C-154A-4A5A-9C05-91A49A422BA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2394922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9BD70F-ACE4-4595-845E-2296BDF83B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6978CD9-E0B5-4B48-8366-91E6D22C9FB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2FAF4B4-44D3-4E29-B235-A1B8682077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572891-5A9E-374B-BC76-376D1FD8A74F}" type="datetime1">
              <a:rPr lang="en-US" smtClean="0"/>
              <a:t>2/9/22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2D7BA37-9639-480E-84AB-EA277225CA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Verifying Cyber-Physical Systems - Book Review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2BFC658-154E-48DE-AD31-813E5170C9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15108C-154A-4A5A-9C05-91A49A422BA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9063411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>
            <a:extLst>
              <a:ext uri="{FF2B5EF4-FFF2-40B4-BE49-F238E27FC236}">
                <a16:creationId xmlns:a16="http://schemas.microsoft.com/office/drawing/2014/main" id="{65405209-5179-4359-91ED-1B1A46619A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-6214" y="-1"/>
            <a:ext cx="12214827" cy="6858000"/>
            <a:chOff x="-6214" y="-1"/>
            <a:chExt cx="12214827" cy="6858000"/>
          </a:xfrm>
        </p:grpSpPr>
        <p:cxnSp>
          <p:nvCxnSpPr>
            <p:cNvPr id="8" name="Straight Connector 7">
              <a:extLst>
                <a:ext uri="{FF2B5EF4-FFF2-40B4-BE49-F238E27FC236}">
                  <a16:creationId xmlns:a16="http://schemas.microsoft.com/office/drawing/2014/main" id="{0E32344F-3BE0-4CE8-B1BD-9ABD425E1C0D}"/>
                </a:ext>
              </a:extLst>
            </p:cNvPr>
            <p:cNvCxnSpPr>
              <a:cxnSpLocks/>
            </p:cNvCxnSpPr>
            <p:nvPr/>
          </p:nvCxnSpPr>
          <p:spPr>
            <a:xfrm>
              <a:off x="-6214" y="6686283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Connector 8">
              <a:extLst>
                <a:ext uri="{FF2B5EF4-FFF2-40B4-BE49-F238E27FC236}">
                  <a16:creationId xmlns:a16="http://schemas.microsoft.com/office/drawing/2014/main" id="{599DE306-F4FB-4730-A066-ADF38D739563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Straight Connector 9">
              <a:extLst>
                <a:ext uri="{FF2B5EF4-FFF2-40B4-BE49-F238E27FC236}">
                  <a16:creationId xmlns:a16="http://schemas.microsoft.com/office/drawing/2014/main" id="{CCB32885-303F-477F-A081-27425944F230}"/>
                </a:ext>
              </a:extLst>
            </p:cNvPr>
            <p:cNvCxnSpPr>
              <a:cxnSpLocks/>
            </p:cNvCxnSpPr>
            <p:nvPr/>
          </p:nvCxnSpPr>
          <p:spPr>
            <a:xfrm>
              <a:off x="1199325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Connector 10">
              <a:extLst>
                <a:ext uri="{FF2B5EF4-FFF2-40B4-BE49-F238E27FC236}">
                  <a16:creationId xmlns:a16="http://schemas.microsoft.com/office/drawing/2014/main" id="{260C0C0B-4CD0-467D-A382-2B2415102C48}"/>
                </a:ext>
              </a:extLst>
            </p:cNvPr>
            <p:cNvCxnSpPr>
              <a:cxnSpLocks/>
            </p:cNvCxnSpPr>
            <p:nvPr/>
          </p:nvCxnSpPr>
          <p:spPr>
            <a:xfrm>
              <a:off x="19252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11">
              <a:extLst>
                <a:ext uri="{FF2B5EF4-FFF2-40B4-BE49-F238E27FC236}">
                  <a16:creationId xmlns:a16="http://schemas.microsoft.com/office/drawing/2014/main" id="{5788DF0F-327F-43A5-AB71-3D32053D83CA}"/>
                </a:ext>
              </a:extLst>
            </p:cNvPr>
            <p:cNvCxnSpPr>
              <a:cxnSpLocks/>
            </p:cNvCxnSpPr>
            <p:nvPr/>
          </p:nvCxnSpPr>
          <p:spPr>
            <a:xfrm>
              <a:off x="1175922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Straight Connector 12">
              <a:extLst>
                <a:ext uri="{FF2B5EF4-FFF2-40B4-BE49-F238E27FC236}">
                  <a16:creationId xmlns:a16="http://schemas.microsoft.com/office/drawing/2014/main" id="{298A0902-2662-4911-A532-AA6310861479}"/>
                </a:ext>
              </a:extLst>
            </p:cNvPr>
            <p:cNvCxnSpPr>
              <a:cxnSpLocks/>
            </p:cNvCxnSpPr>
            <p:nvPr/>
          </p:nvCxnSpPr>
          <p:spPr>
            <a:xfrm>
              <a:off x="2159316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Connector 13">
              <a:extLst>
                <a:ext uri="{FF2B5EF4-FFF2-40B4-BE49-F238E27FC236}">
                  <a16:creationId xmlns:a16="http://schemas.microsoft.com/office/drawing/2014/main" id="{4ABDA4F7-23F4-46D1-8B7E-A21DD84083E1}"/>
                </a:ext>
              </a:extLst>
            </p:cNvPr>
            <p:cNvCxnSpPr>
              <a:cxnSpLocks/>
            </p:cNvCxnSpPr>
            <p:nvPr/>
          </p:nvCxnSpPr>
          <p:spPr>
            <a:xfrm>
              <a:off x="3142710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D7FC9FC2-8808-438E-8FFB-5FE416BFB5C8}"/>
                </a:ext>
              </a:extLst>
            </p:cNvPr>
            <p:cNvCxnSpPr>
              <a:cxnSpLocks/>
            </p:cNvCxnSpPr>
            <p:nvPr/>
          </p:nvCxnSpPr>
          <p:spPr>
            <a:xfrm>
              <a:off x="4126104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Connector 15">
              <a:extLst>
                <a:ext uri="{FF2B5EF4-FFF2-40B4-BE49-F238E27FC236}">
                  <a16:creationId xmlns:a16="http://schemas.microsoft.com/office/drawing/2014/main" id="{204694E5-71F9-4210-9BE8-FC12CC177BD3}"/>
                </a:ext>
              </a:extLst>
            </p:cNvPr>
            <p:cNvCxnSpPr>
              <a:cxnSpLocks/>
            </p:cNvCxnSpPr>
            <p:nvPr/>
          </p:nvCxnSpPr>
          <p:spPr>
            <a:xfrm>
              <a:off x="510949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Connector 16">
              <a:extLst>
                <a:ext uri="{FF2B5EF4-FFF2-40B4-BE49-F238E27FC236}">
                  <a16:creationId xmlns:a16="http://schemas.microsoft.com/office/drawing/2014/main" id="{0B37E805-A7E5-4906-B0C5-1373F3DA9628}"/>
                </a:ext>
              </a:extLst>
            </p:cNvPr>
            <p:cNvCxnSpPr>
              <a:cxnSpLocks/>
            </p:cNvCxnSpPr>
            <p:nvPr/>
          </p:nvCxnSpPr>
          <p:spPr>
            <a:xfrm>
              <a:off x="6092892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>
              <a:extLst>
                <a:ext uri="{FF2B5EF4-FFF2-40B4-BE49-F238E27FC236}">
                  <a16:creationId xmlns:a16="http://schemas.microsoft.com/office/drawing/2014/main" id="{7A4CD964-FBD6-41AB-8A02-9509A2BAC11F}"/>
                </a:ext>
              </a:extLst>
            </p:cNvPr>
            <p:cNvCxnSpPr>
              <a:cxnSpLocks/>
            </p:cNvCxnSpPr>
            <p:nvPr/>
          </p:nvCxnSpPr>
          <p:spPr>
            <a:xfrm>
              <a:off x="7076286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>
              <a:extLst>
                <a:ext uri="{FF2B5EF4-FFF2-40B4-BE49-F238E27FC236}">
                  <a16:creationId xmlns:a16="http://schemas.microsoft.com/office/drawing/2014/main" id="{E9CD7FF8-E827-4E0A-BCE2-CCB34EDAC0FC}"/>
                </a:ext>
              </a:extLst>
            </p:cNvPr>
            <p:cNvCxnSpPr>
              <a:cxnSpLocks/>
            </p:cNvCxnSpPr>
            <p:nvPr/>
          </p:nvCxnSpPr>
          <p:spPr>
            <a:xfrm>
              <a:off x="8059680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>
              <a:extLst>
                <a:ext uri="{FF2B5EF4-FFF2-40B4-BE49-F238E27FC236}">
                  <a16:creationId xmlns:a16="http://schemas.microsoft.com/office/drawing/2014/main" id="{5C4AD6BB-F1EE-4FB8-96E8-6890447800EC}"/>
                </a:ext>
              </a:extLst>
            </p:cNvPr>
            <p:cNvCxnSpPr>
              <a:cxnSpLocks/>
            </p:cNvCxnSpPr>
            <p:nvPr/>
          </p:nvCxnSpPr>
          <p:spPr>
            <a:xfrm>
              <a:off x="9043074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>
              <a:extLst>
                <a:ext uri="{FF2B5EF4-FFF2-40B4-BE49-F238E27FC236}">
                  <a16:creationId xmlns:a16="http://schemas.microsoft.com/office/drawing/2014/main" id="{FE935057-E0A3-4DAE-B9C8-6E818D7A7205}"/>
                </a:ext>
              </a:extLst>
            </p:cNvPr>
            <p:cNvCxnSpPr>
              <a:cxnSpLocks/>
            </p:cNvCxnSpPr>
            <p:nvPr/>
          </p:nvCxnSpPr>
          <p:spPr>
            <a:xfrm>
              <a:off x="1002646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Connector 21">
              <a:extLst>
                <a:ext uri="{FF2B5EF4-FFF2-40B4-BE49-F238E27FC236}">
                  <a16:creationId xmlns:a16="http://schemas.microsoft.com/office/drawing/2014/main" id="{308DDF69-1C14-453C-BC3A-37D3FE69DFC7}"/>
                </a:ext>
              </a:extLst>
            </p:cNvPr>
            <p:cNvCxnSpPr>
              <a:cxnSpLocks/>
            </p:cNvCxnSpPr>
            <p:nvPr/>
          </p:nvCxnSpPr>
          <p:spPr>
            <a:xfrm>
              <a:off x="11009862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Straight Connector 22">
              <a:extLst>
                <a:ext uri="{FF2B5EF4-FFF2-40B4-BE49-F238E27FC236}">
                  <a16:creationId xmlns:a16="http://schemas.microsoft.com/office/drawing/2014/main" id="{E6C26D82-15BA-4B2E-A42D-2ECA8012D307}"/>
                </a:ext>
              </a:extLst>
            </p:cNvPr>
            <p:cNvCxnSpPr>
              <a:cxnSpLocks/>
            </p:cNvCxnSpPr>
            <p:nvPr/>
          </p:nvCxnSpPr>
          <p:spPr>
            <a:xfrm>
              <a:off x="12185786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Straight Connector 23">
              <a:extLst>
                <a:ext uri="{FF2B5EF4-FFF2-40B4-BE49-F238E27FC236}">
                  <a16:creationId xmlns:a16="http://schemas.microsoft.com/office/drawing/2014/main" id="{D7F73B67-E5E9-4000-91DA-034B2127EFD2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171716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Straight Connector 24">
              <a:extLst>
                <a:ext uri="{FF2B5EF4-FFF2-40B4-BE49-F238E27FC236}">
                  <a16:creationId xmlns:a16="http://schemas.microsoft.com/office/drawing/2014/main" id="{EAFAC1B5-F0DD-4FC0-B4C9-77CB29DF4425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714597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Straight Connector 25">
              <a:extLst>
                <a:ext uri="{FF2B5EF4-FFF2-40B4-BE49-F238E27FC236}">
                  <a16:creationId xmlns:a16="http://schemas.microsoft.com/office/drawing/2014/main" id="{D9ACB3DB-54B2-4CEE-A791-C6FC6C758DAE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1257478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Straight Connector 26">
              <a:extLst>
                <a:ext uri="{FF2B5EF4-FFF2-40B4-BE49-F238E27FC236}">
                  <a16:creationId xmlns:a16="http://schemas.microsoft.com/office/drawing/2014/main" id="{68324004-1030-47D9-B817-425FF6ECCECC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1800359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Straight Connector 27">
              <a:extLst>
                <a:ext uri="{FF2B5EF4-FFF2-40B4-BE49-F238E27FC236}">
                  <a16:creationId xmlns:a16="http://schemas.microsoft.com/office/drawing/2014/main" id="{1AA001C4-81AB-4FA6-ADAA-C8618056353B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2343240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Straight Connector 28">
              <a:extLst>
                <a:ext uri="{FF2B5EF4-FFF2-40B4-BE49-F238E27FC236}">
                  <a16:creationId xmlns:a16="http://schemas.microsoft.com/office/drawing/2014/main" id="{8D1DAD34-7844-4F16-9874-F51F2A23B9EA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2886121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Straight Connector 29">
              <a:extLst>
                <a:ext uri="{FF2B5EF4-FFF2-40B4-BE49-F238E27FC236}">
                  <a16:creationId xmlns:a16="http://schemas.microsoft.com/office/drawing/2014/main" id="{77DCBC6D-1BDA-4CB1-A3EC-59F240C8FA19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3429002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Straight Connector 30">
              <a:extLst>
                <a:ext uri="{FF2B5EF4-FFF2-40B4-BE49-F238E27FC236}">
                  <a16:creationId xmlns:a16="http://schemas.microsoft.com/office/drawing/2014/main" id="{E5B3C1A0-58E7-47E4-831B-CF3EE21D1E90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3971883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Straight Connector 31">
              <a:extLst>
                <a:ext uri="{FF2B5EF4-FFF2-40B4-BE49-F238E27FC236}">
                  <a16:creationId xmlns:a16="http://schemas.microsoft.com/office/drawing/2014/main" id="{08A09FAA-E123-4FE4-B67A-9EBDE1A3130F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4514764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Straight Connector 32">
              <a:extLst>
                <a:ext uri="{FF2B5EF4-FFF2-40B4-BE49-F238E27FC236}">
                  <a16:creationId xmlns:a16="http://schemas.microsoft.com/office/drawing/2014/main" id="{5317B7C6-C816-4A58-B184-135E4FD19F55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5057645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Straight Connector 33">
              <a:extLst>
                <a:ext uri="{FF2B5EF4-FFF2-40B4-BE49-F238E27FC236}">
                  <a16:creationId xmlns:a16="http://schemas.microsoft.com/office/drawing/2014/main" id="{24D22ABB-4CE8-47DC-80BF-39B3E4CF7048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5600526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Straight Connector 34">
              <a:extLst>
                <a:ext uri="{FF2B5EF4-FFF2-40B4-BE49-F238E27FC236}">
                  <a16:creationId xmlns:a16="http://schemas.microsoft.com/office/drawing/2014/main" id="{3A17DE37-A292-4031-AF42-CDB00A13EE76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6857999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Straight Connector 35">
              <a:extLst>
                <a:ext uri="{FF2B5EF4-FFF2-40B4-BE49-F238E27FC236}">
                  <a16:creationId xmlns:a16="http://schemas.microsoft.com/office/drawing/2014/main" id="{B73EF673-CB75-435F-9BF3-7594EC3ADF8F}"/>
                </a:ext>
              </a:extLst>
            </p:cNvPr>
            <p:cNvCxnSpPr>
              <a:cxnSpLocks/>
            </p:cNvCxnSpPr>
            <p:nvPr/>
          </p:nvCxnSpPr>
          <p:spPr>
            <a:xfrm>
              <a:off x="16613" y="6143407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" name="Straight Connector 36">
              <a:extLst>
                <a:ext uri="{FF2B5EF4-FFF2-40B4-BE49-F238E27FC236}">
                  <a16:creationId xmlns:a16="http://schemas.microsoft.com/office/drawing/2014/main" id="{D35F4581-15F6-47EE-87D0-1132A093DBA5}"/>
                </a:ext>
              </a:extLst>
            </p:cNvPr>
            <p:cNvCxnSpPr>
              <a:cxnSpLocks/>
            </p:cNvCxnSpPr>
            <p:nvPr/>
          </p:nvCxnSpPr>
          <p:spPr>
            <a:xfrm>
              <a:off x="684225" y="171716"/>
              <a:ext cx="0" cy="6511464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" name="Straight Connector 37">
              <a:extLst>
                <a:ext uri="{FF2B5EF4-FFF2-40B4-BE49-F238E27FC236}">
                  <a16:creationId xmlns:a16="http://schemas.microsoft.com/office/drawing/2014/main" id="{565CF984-F5BD-45C4-9A12-B02DB4F044E1}"/>
                </a:ext>
              </a:extLst>
            </p:cNvPr>
            <p:cNvCxnSpPr>
              <a:cxnSpLocks/>
            </p:cNvCxnSpPr>
            <p:nvPr/>
          </p:nvCxnSpPr>
          <p:spPr>
            <a:xfrm>
              <a:off x="11508412" y="173267"/>
              <a:ext cx="0" cy="6511464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9" name="Right Triangle 38">
            <a:extLst>
              <a:ext uri="{FF2B5EF4-FFF2-40B4-BE49-F238E27FC236}">
                <a16:creationId xmlns:a16="http://schemas.microsoft.com/office/drawing/2014/main" id="{ACE66A86-8455-497B-9CA4-F460A19E5FB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rot="18900000">
            <a:off x="7770390" y="-287370"/>
            <a:ext cx="568289" cy="568289"/>
          </a:xfrm>
          <a:prstGeom prst="rtTriangle">
            <a:avLst/>
          </a:prstGeom>
          <a:solidFill>
            <a:schemeClr val="accent1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2" name="Vertical Title 1">
            <a:extLst>
              <a:ext uri="{FF2B5EF4-FFF2-40B4-BE49-F238E27FC236}">
                <a16:creationId xmlns:a16="http://schemas.microsoft.com/office/drawing/2014/main" id="{5868C62B-71EF-4824-9EE8-6CAE1798423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7707774" y="715616"/>
            <a:ext cx="3295876" cy="5026597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243E4C8-4AA9-49D7-BF71-1AB5F2CFE1F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683588" y="715616"/>
            <a:ext cx="6770448" cy="5026597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97898B3-014E-440B-BA4E-1063392128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FC7381-6EB4-804F-9D2A-1A0941D37E0A}" type="datetime1">
              <a:rPr lang="en-US" smtClean="0"/>
              <a:t>2/9/22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1C22643-CE63-4C3E-B437-5A1A5EF911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Verifying Cyber-Physical Systems - Book Review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DD1CE5E-160A-4B37-94E2-3D9DC75BFF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15108C-154A-4A5A-9C05-91A49A422BA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4655566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9" name="Group 38">
            <a:extLst>
              <a:ext uri="{FF2B5EF4-FFF2-40B4-BE49-F238E27FC236}">
                <a16:creationId xmlns:a16="http://schemas.microsoft.com/office/drawing/2014/main" id="{BDF0D99C-5D42-41C6-A50C-C4E2D6B2A36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-6214" y="-1"/>
            <a:ext cx="12214827" cy="6858000"/>
            <a:chOff x="-6214" y="-1"/>
            <a:chExt cx="12214827" cy="6858000"/>
          </a:xfrm>
        </p:grpSpPr>
        <p:cxnSp>
          <p:nvCxnSpPr>
            <p:cNvPr id="40" name="Straight Connector 39">
              <a:extLst>
                <a:ext uri="{FF2B5EF4-FFF2-40B4-BE49-F238E27FC236}">
                  <a16:creationId xmlns:a16="http://schemas.microsoft.com/office/drawing/2014/main" id="{5F28962D-50BA-43F8-8863-28ECE711D3FC}"/>
                </a:ext>
              </a:extLst>
            </p:cNvPr>
            <p:cNvCxnSpPr>
              <a:cxnSpLocks/>
            </p:cNvCxnSpPr>
            <p:nvPr/>
          </p:nvCxnSpPr>
          <p:spPr>
            <a:xfrm>
              <a:off x="-6214" y="6686283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" name="Straight Connector 40">
              <a:extLst>
                <a:ext uri="{FF2B5EF4-FFF2-40B4-BE49-F238E27FC236}">
                  <a16:creationId xmlns:a16="http://schemas.microsoft.com/office/drawing/2014/main" id="{780F5939-D4E0-46FD-9A5A-5D648E381092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" name="Straight Connector 41">
              <a:extLst>
                <a:ext uri="{FF2B5EF4-FFF2-40B4-BE49-F238E27FC236}">
                  <a16:creationId xmlns:a16="http://schemas.microsoft.com/office/drawing/2014/main" id="{8633D331-78CB-40A1-B167-8185EC5D707B}"/>
                </a:ext>
              </a:extLst>
            </p:cNvPr>
            <p:cNvCxnSpPr>
              <a:cxnSpLocks/>
            </p:cNvCxnSpPr>
            <p:nvPr/>
          </p:nvCxnSpPr>
          <p:spPr>
            <a:xfrm>
              <a:off x="1199325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" name="Straight Connector 42">
              <a:extLst>
                <a:ext uri="{FF2B5EF4-FFF2-40B4-BE49-F238E27FC236}">
                  <a16:creationId xmlns:a16="http://schemas.microsoft.com/office/drawing/2014/main" id="{C512E4B1-E78E-49E7-AA36-374CC1B084E4}"/>
                </a:ext>
              </a:extLst>
            </p:cNvPr>
            <p:cNvCxnSpPr>
              <a:cxnSpLocks/>
            </p:cNvCxnSpPr>
            <p:nvPr/>
          </p:nvCxnSpPr>
          <p:spPr>
            <a:xfrm>
              <a:off x="19252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" name="Straight Connector 43">
              <a:extLst>
                <a:ext uri="{FF2B5EF4-FFF2-40B4-BE49-F238E27FC236}">
                  <a16:creationId xmlns:a16="http://schemas.microsoft.com/office/drawing/2014/main" id="{A7D46340-CBFC-490F-B44E-7AA8FBF58B05}"/>
                </a:ext>
              </a:extLst>
            </p:cNvPr>
            <p:cNvCxnSpPr>
              <a:cxnSpLocks/>
            </p:cNvCxnSpPr>
            <p:nvPr/>
          </p:nvCxnSpPr>
          <p:spPr>
            <a:xfrm>
              <a:off x="1175922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5" name="Straight Connector 44">
              <a:extLst>
                <a:ext uri="{FF2B5EF4-FFF2-40B4-BE49-F238E27FC236}">
                  <a16:creationId xmlns:a16="http://schemas.microsoft.com/office/drawing/2014/main" id="{3575C26C-3EBD-4AA9-BA4D-2561E295D65D}"/>
                </a:ext>
              </a:extLst>
            </p:cNvPr>
            <p:cNvCxnSpPr>
              <a:cxnSpLocks/>
            </p:cNvCxnSpPr>
            <p:nvPr/>
          </p:nvCxnSpPr>
          <p:spPr>
            <a:xfrm>
              <a:off x="2159316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8" name="Straight Connector 47">
              <a:extLst>
                <a:ext uri="{FF2B5EF4-FFF2-40B4-BE49-F238E27FC236}">
                  <a16:creationId xmlns:a16="http://schemas.microsoft.com/office/drawing/2014/main" id="{235DB6BE-E065-4559-BF5C-36B56B379040}"/>
                </a:ext>
              </a:extLst>
            </p:cNvPr>
            <p:cNvCxnSpPr>
              <a:cxnSpLocks/>
            </p:cNvCxnSpPr>
            <p:nvPr/>
          </p:nvCxnSpPr>
          <p:spPr>
            <a:xfrm>
              <a:off x="3142710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9" name="Straight Connector 48">
              <a:extLst>
                <a:ext uri="{FF2B5EF4-FFF2-40B4-BE49-F238E27FC236}">
                  <a16:creationId xmlns:a16="http://schemas.microsoft.com/office/drawing/2014/main" id="{3DA54272-CD9D-4F68-BBAB-4F0C0C3EC635}"/>
                </a:ext>
              </a:extLst>
            </p:cNvPr>
            <p:cNvCxnSpPr>
              <a:cxnSpLocks/>
            </p:cNvCxnSpPr>
            <p:nvPr/>
          </p:nvCxnSpPr>
          <p:spPr>
            <a:xfrm>
              <a:off x="4126104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0" name="Straight Connector 49">
              <a:extLst>
                <a:ext uri="{FF2B5EF4-FFF2-40B4-BE49-F238E27FC236}">
                  <a16:creationId xmlns:a16="http://schemas.microsoft.com/office/drawing/2014/main" id="{A002CE8F-9256-4F2C-B474-58873717119E}"/>
                </a:ext>
              </a:extLst>
            </p:cNvPr>
            <p:cNvCxnSpPr>
              <a:cxnSpLocks/>
            </p:cNvCxnSpPr>
            <p:nvPr/>
          </p:nvCxnSpPr>
          <p:spPr>
            <a:xfrm>
              <a:off x="510949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1" name="Straight Connector 50">
              <a:extLst>
                <a:ext uri="{FF2B5EF4-FFF2-40B4-BE49-F238E27FC236}">
                  <a16:creationId xmlns:a16="http://schemas.microsoft.com/office/drawing/2014/main" id="{59C9DE9F-4252-401D-913E-B74C9E326F98}"/>
                </a:ext>
              </a:extLst>
            </p:cNvPr>
            <p:cNvCxnSpPr>
              <a:cxnSpLocks/>
            </p:cNvCxnSpPr>
            <p:nvPr/>
          </p:nvCxnSpPr>
          <p:spPr>
            <a:xfrm>
              <a:off x="6092892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2" name="Straight Connector 51">
              <a:extLst>
                <a:ext uri="{FF2B5EF4-FFF2-40B4-BE49-F238E27FC236}">
                  <a16:creationId xmlns:a16="http://schemas.microsoft.com/office/drawing/2014/main" id="{8FE4E69B-534F-4A80-9E1C-798BEE1B0795}"/>
                </a:ext>
              </a:extLst>
            </p:cNvPr>
            <p:cNvCxnSpPr>
              <a:cxnSpLocks/>
            </p:cNvCxnSpPr>
            <p:nvPr/>
          </p:nvCxnSpPr>
          <p:spPr>
            <a:xfrm>
              <a:off x="7076286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3" name="Straight Connector 52">
              <a:extLst>
                <a:ext uri="{FF2B5EF4-FFF2-40B4-BE49-F238E27FC236}">
                  <a16:creationId xmlns:a16="http://schemas.microsoft.com/office/drawing/2014/main" id="{27564E1C-009C-4832-AE8D-E98286693F0C}"/>
                </a:ext>
              </a:extLst>
            </p:cNvPr>
            <p:cNvCxnSpPr>
              <a:cxnSpLocks/>
            </p:cNvCxnSpPr>
            <p:nvPr/>
          </p:nvCxnSpPr>
          <p:spPr>
            <a:xfrm>
              <a:off x="8059680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4" name="Straight Connector 53">
              <a:extLst>
                <a:ext uri="{FF2B5EF4-FFF2-40B4-BE49-F238E27FC236}">
                  <a16:creationId xmlns:a16="http://schemas.microsoft.com/office/drawing/2014/main" id="{4305DF1C-5801-43F2-A8B9-5351369418C0}"/>
                </a:ext>
              </a:extLst>
            </p:cNvPr>
            <p:cNvCxnSpPr>
              <a:cxnSpLocks/>
            </p:cNvCxnSpPr>
            <p:nvPr/>
          </p:nvCxnSpPr>
          <p:spPr>
            <a:xfrm>
              <a:off x="9043074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5" name="Straight Connector 54">
              <a:extLst>
                <a:ext uri="{FF2B5EF4-FFF2-40B4-BE49-F238E27FC236}">
                  <a16:creationId xmlns:a16="http://schemas.microsoft.com/office/drawing/2014/main" id="{806E71C8-0783-4E17-9B34-F51231DD2954}"/>
                </a:ext>
              </a:extLst>
            </p:cNvPr>
            <p:cNvCxnSpPr>
              <a:cxnSpLocks/>
            </p:cNvCxnSpPr>
            <p:nvPr/>
          </p:nvCxnSpPr>
          <p:spPr>
            <a:xfrm>
              <a:off x="1002646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6" name="Straight Connector 55">
              <a:extLst>
                <a:ext uri="{FF2B5EF4-FFF2-40B4-BE49-F238E27FC236}">
                  <a16:creationId xmlns:a16="http://schemas.microsoft.com/office/drawing/2014/main" id="{FD908F17-2A89-4B0A-A2EA-692390969FE0}"/>
                </a:ext>
              </a:extLst>
            </p:cNvPr>
            <p:cNvCxnSpPr>
              <a:cxnSpLocks/>
            </p:cNvCxnSpPr>
            <p:nvPr/>
          </p:nvCxnSpPr>
          <p:spPr>
            <a:xfrm>
              <a:off x="11009862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7" name="Straight Connector 56">
              <a:extLst>
                <a:ext uri="{FF2B5EF4-FFF2-40B4-BE49-F238E27FC236}">
                  <a16:creationId xmlns:a16="http://schemas.microsoft.com/office/drawing/2014/main" id="{FBE22751-380F-44F9-BEED-0A553CF87BE5}"/>
                </a:ext>
              </a:extLst>
            </p:cNvPr>
            <p:cNvCxnSpPr>
              <a:cxnSpLocks/>
            </p:cNvCxnSpPr>
            <p:nvPr/>
          </p:nvCxnSpPr>
          <p:spPr>
            <a:xfrm>
              <a:off x="12185786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8" name="Straight Connector 57">
              <a:extLst>
                <a:ext uri="{FF2B5EF4-FFF2-40B4-BE49-F238E27FC236}">
                  <a16:creationId xmlns:a16="http://schemas.microsoft.com/office/drawing/2014/main" id="{77B27910-846F-4E4E-B588-F5B2E026FE96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171716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9" name="Straight Connector 58">
              <a:extLst>
                <a:ext uri="{FF2B5EF4-FFF2-40B4-BE49-F238E27FC236}">
                  <a16:creationId xmlns:a16="http://schemas.microsoft.com/office/drawing/2014/main" id="{E6E0501E-134E-46D7-984F-3A382B0BB29B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714597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0" name="Straight Connector 59">
              <a:extLst>
                <a:ext uri="{FF2B5EF4-FFF2-40B4-BE49-F238E27FC236}">
                  <a16:creationId xmlns:a16="http://schemas.microsoft.com/office/drawing/2014/main" id="{90A83974-CBD7-4A69-9D84-2D3BBDE027A5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1257478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1" name="Straight Connector 60">
              <a:extLst>
                <a:ext uri="{FF2B5EF4-FFF2-40B4-BE49-F238E27FC236}">
                  <a16:creationId xmlns:a16="http://schemas.microsoft.com/office/drawing/2014/main" id="{A503E931-00D4-4B0C-BC69-49FE5C766518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1800359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2" name="Straight Connector 61">
              <a:extLst>
                <a:ext uri="{FF2B5EF4-FFF2-40B4-BE49-F238E27FC236}">
                  <a16:creationId xmlns:a16="http://schemas.microsoft.com/office/drawing/2014/main" id="{97732A30-BE2F-4D71-BC37-60F7B44591B9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2343240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3" name="Straight Connector 62">
              <a:extLst>
                <a:ext uri="{FF2B5EF4-FFF2-40B4-BE49-F238E27FC236}">
                  <a16:creationId xmlns:a16="http://schemas.microsoft.com/office/drawing/2014/main" id="{0C8EB840-DE7D-4E67-989C-F4D8F50E15BD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2886121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4" name="Straight Connector 63">
              <a:extLst>
                <a:ext uri="{FF2B5EF4-FFF2-40B4-BE49-F238E27FC236}">
                  <a16:creationId xmlns:a16="http://schemas.microsoft.com/office/drawing/2014/main" id="{F05D2CC2-53CC-487E-A72E-42B1E9B18460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3429002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5" name="Straight Connector 64">
              <a:extLst>
                <a:ext uri="{FF2B5EF4-FFF2-40B4-BE49-F238E27FC236}">
                  <a16:creationId xmlns:a16="http://schemas.microsoft.com/office/drawing/2014/main" id="{03A12D6B-1D60-4F26-8FB9-74AD5B070BDF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3971883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6" name="Straight Connector 65">
              <a:extLst>
                <a:ext uri="{FF2B5EF4-FFF2-40B4-BE49-F238E27FC236}">
                  <a16:creationId xmlns:a16="http://schemas.microsoft.com/office/drawing/2014/main" id="{41895D00-2D63-443C-95A8-5EB6E5EECBFF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4514764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7" name="Straight Connector 66">
              <a:extLst>
                <a:ext uri="{FF2B5EF4-FFF2-40B4-BE49-F238E27FC236}">
                  <a16:creationId xmlns:a16="http://schemas.microsoft.com/office/drawing/2014/main" id="{6AC50652-2A56-4382-95D0-971644EE0FA9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5057645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8" name="Straight Connector 67">
              <a:extLst>
                <a:ext uri="{FF2B5EF4-FFF2-40B4-BE49-F238E27FC236}">
                  <a16:creationId xmlns:a16="http://schemas.microsoft.com/office/drawing/2014/main" id="{DA50A374-8880-482D-B54F-F74E0D7BE187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5600526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9" name="Straight Connector 68">
              <a:extLst>
                <a:ext uri="{FF2B5EF4-FFF2-40B4-BE49-F238E27FC236}">
                  <a16:creationId xmlns:a16="http://schemas.microsoft.com/office/drawing/2014/main" id="{C66364D8-CCC7-4AAF-94BC-766EC160D99E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6857999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0" name="Straight Connector 69">
              <a:extLst>
                <a:ext uri="{FF2B5EF4-FFF2-40B4-BE49-F238E27FC236}">
                  <a16:creationId xmlns:a16="http://schemas.microsoft.com/office/drawing/2014/main" id="{4A0DC409-26E2-4453-89FD-745EA849BE7F}"/>
                </a:ext>
              </a:extLst>
            </p:cNvPr>
            <p:cNvCxnSpPr>
              <a:cxnSpLocks/>
            </p:cNvCxnSpPr>
            <p:nvPr/>
          </p:nvCxnSpPr>
          <p:spPr>
            <a:xfrm>
              <a:off x="16613" y="6143407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1" name="Straight Connector 70">
              <a:extLst>
                <a:ext uri="{FF2B5EF4-FFF2-40B4-BE49-F238E27FC236}">
                  <a16:creationId xmlns:a16="http://schemas.microsoft.com/office/drawing/2014/main" id="{239ED039-D66C-4A5E-AA35-E7A5FA2E64C2}"/>
                </a:ext>
              </a:extLst>
            </p:cNvPr>
            <p:cNvCxnSpPr>
              <a:cxnSpLocks/>
            </p:cNvCxnSpPr>
            <p:nvPr/>
          </p:nvCxnSpPr>
          <p:spPr>
            <a:xfrm>
              <a:off x="684225" y="171716"/>
              <a:ext cx="0" cy="6511464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2" name="Straight Connector 71">
              <a:extLst>
                <a:ext uri="{FF2B5EF4-FFF2-40B4-BE49-F238E27FC236}">
                  <a16:creationId xmlns:a16="http://schemas.microsoft.com/office/drawing/2014/main" id="{C72C13DC-161E-49CF-96B5-5383AA052AB7}"/>
                </a:ext>
              </a:extLst>
            </p:cNvPr>
            <p:cNvCxnSpPr>
              <a:cxnSpLocks/>
            </p:cNvCxnSpPr>
            <p:nvPr/>
          </p:nvCxnSpPr>
          <p:spPr>
            <a:xfrm>
              <a:off x="11508412" y="173267"/>
              <a:ext cx="0" cy="6511464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5103067-48DA-458C-99F6-9921C19A80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1079" y="725951"/>
            <a:ext cx="10325000" cy="1442463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CB86862-507E-4F73-890F-3B77BCFA3FA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91079" y="2340131"/>
            <a:ext cx="10325000" cy="356443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EFBC0BB-AF05-4753-9159-41A16FBFC3B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683587" y="6215870"/>
            <a:ext cx="3843779" cy="417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85A068B-858A-2F42-9379-BC384CF9C458}" type="datetime1">
              <a:rPr lang="en-US" smtClean="0"/>
              <a:t>2/9/22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8362F82-EA1A-4B02-8A64-3B44C0D9DAC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691078" y="236364"/>
            <a:ext cx="4114800" cy="417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/>
              <a:t>Verifying Cyber-Physical Systems - Book Review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9C5EF32-1CA9-4CDA-8182-2FB0C30A0F6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003649" y="6215870"/>
            <a:ext cx="979151" cy="417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E15108C-154A-4A5A-9C05-91A49A422BA7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7" name="Right Triangle 6">
            <a:extLst>
              <a:ext uri="{FF2B5EF4-FFF2-40B4-BE49-F238E27FC236}">
                <a16:creationId xmlns:a16="http://schemas.microsoft.com/office/drawing/2014/main" id="{63BAC6E0-ADAC-40FB-AF53-88FA5F83738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rot="13500000">
            <a:off x="-281094" y="1516214"/>
            <a:ext cx="568289" cy="568289"/>
          </a:xfrm>
          <a:prstGeom prst="rtTriangle">
            <a:avLst/>
          </a:prstGeom>
          <a:solidFill>
            <a:schemeClr val="accent1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611442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40" r:id="rId1"/>
    <p:sldLayoutId id="2147483741" r:id="rId2"/>
    <p:sldLayoutId id="2147483742" r:id="rId3"/>
    <p:sldLayoutId id="2147483743" r:id="rId4"/>
    <p:sldLayoutId id="2147483744" r:id="rId5"/>
    <p:sldLayoutId id="2147483750" r:id="rId6"/>
    <p:sldLayoutId id="2147483745" r:id="rId7"/>
    <p:sldLayoutId id="2147483746" r:id="rId8"/>
    <p:sldLayoutId id="2147483747" r:id="rId9"/>
    <p:sldLayoutId id="2147483749" r:id="rId10"/>
    <p:sldLayoutId id="2147483748" r:id="rId11"/>
  </p:sldLayoutIdLst>
  <p:hf hdr="0"/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4400" kern="120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10000"/>
        </a:lnSpc>
        <a:spcBef>
          <a:spcPts val="1000"/>
        </a:spcBef>
        <a:buClr>
          <a:schemeClr val="tx2">
            <a:lumMod val="50000"/>
            <a:lumOff val="50000"/>
          </a:schemeClr>
        </a:buClr>
        <a:buSzPct val="75000"/>
        <a:buFont typeface="Wingdings" panose="05000000000000000000" pitchFamily="2" charset="2"/>
        <a:buChar char="§"/>
        <a:defRPr sz="2000" kern="1200">
          <a:solidFill>
            <a:schemeClr val="tx2"/>
          </a:solidFill>
          <a:latin typeface="+mn-lt"/>
          <a:ea typeface="+mn-ea"/>
          <a:cs typeface="+mn-cs"/>
        </a:defRPr>
      </a:lvl1pPr>
      <a:lvl2pPr marL="457200" indent="-228600" algn="l" defTabSz="914400" rtl="0" eaLnBrk="1" latinLnBrk="0" hangingPunct="1">
        <a:lnSpc>
          <a:spcPct val="110000"/>
        </a:lnSpc>
        <a:spcBef>
          <a:spcPts val="500"/>
        </a:spcBef>
        <a:buClr>
          <a:schemeClr val="tx2">
            <a:lumMod val="50000"/>
            <a:lumOff val="50000"/>
          </a:schemeClr>
        </a:buClr>
        <a:buSzPct val="75000"/>
        <a:buFont typeface="Wingdings" panose="05000000000000000000" pitchFamily="2" charset="2"/>
        <a:buChar char="§"/>
        <a:defRPr sz="1800" kern="1200">
          <a:solidFill>
            <a:schemeClr val="tx2"/>
          </a:solidFill>
          <a:latin typeface="+mn-lt"/>
          <a:ea typeface="+mn-ea"/>
          <a:cs typeface="+mn-cs"/>
        </a:defRPr>
      </a:lvl2pPr>
      <a:lvl3pPr marL="685800" indent="-228600" algn="l" defTabSz="914400" rtl="0" eaLnBrk="1" latinLnBrk="0" hangingPunct="1">
        <a:lnSpc>
          <a:spcPct val="110000"/>
        </a:lnSpc>
        <a:spcBef>
          <a:spcPts val="500"/>
        </a:spcBef>
        <a:buClr>
          <a:schemeClr val="tx2">
            <a:lumMod val="50000"/>
            <a:lumOff val="50000"/>
          </a:schemeClr>
        </a:buClr>
        <a:buSzPct val="75000"/>
        <a:buFont typeface="Wingdings" panose="05000000000000000000" pitchFamily="2" charset="2"/>
        <a:buChar char="§"/>
        <a:defRPr sz="1600" kern="1200">
          <a:solidFill>
            <a:schemeClr val="tx2"/>
          </a:solidFill>
          <a:latin typeface="+mn-lt"/>
          <a:ea typeface="+mn-ea"/>
          <a:cs typeface="+mn-cs"/>
        </a:defRPr>
      </a:lvl3pPr>
      <a:lvl4pPr marL="914400" indent="-228600" algn="l" defTabSz="914400" rtl="0" eaLnBrk="1" latinLnBrk="0" hangingPunct="1">
        <a:lnSpc>
          <a:spcPct val="110000"/>
        </a:lnSpc>
        <a:spcBef>
          <a:spcPts val="500"/>
        </a:spcBef>
        <a:buClr>
          <a:schemeClr val="tx2">
            <a:lumMod val="50000"/>
            <a:lumOff val="50000"/>
          </a:schemeClr>
        </a:buClr>
        <a:buSzPct val="75000"/>
        <a:buFont typeface="Wingdings" panose="05000000000000000000" pitchFamily="2" charset="2"/>
        <a:buChar char="§"/>
        <a:defRPr sz="1400" kern="1200">
          <a:solidFill>
            <a:schemeClr val="tx2"/>
          </a:solidFill>
          <a:latin typeface="+mn-lt"/>
          <a:ea typeface="+mn-ea"/>
          <a:cs typeface="+mn-cs"/>
        </a:defRPr>
      </a:lvl4pPr>
      <a:lvl5pPr marL="1143000" indent="-228600" algn="l" defTabSz="914400" rtl="0" eaLnBrk="1" latinLnBrk="0" hangingPunct="1">
        <a:lnSpc>
          <a:spcPct val="110000"/>
        </a:lnSpc>
        <a:spcBef>
          <a:spcPts val="500"/>
        </a:spcBef>
        <a:buClr>
          <a:schemeClr val="tx2">
            <a:lumMod val="50000"/>
            <a:lumOff val="50000"/>
          </a:schemeClr>
        </a:buClr>
        <a:buSzPct val="75000"/>
        <a:buFont typeface="Wingdings" panose="05000000000000000000" pitchFamily="2" charset="2"/>
        <a:buChar char="§"/>
        <a:defRPr sz="1400" kern="1200">
          <a:solidFill>
            <a:schemeClr val="tx2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3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5.pn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4187D111-0A9D-421B-84EB-FC5811C3A93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bg1"/>
              </a:solidFill>
            </a:endParaRPr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CEC7A2BB-E03E-436B-ABA5-3EBC8FB4066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6214" y="-1"/>
            <a:ext cx="12214827" cy="6858000"/>
            <a:chOff x="-6214" y="-1"/>
            <a:chExt cx="12214827" cy="6858000"/>
          </a:xfrm>
        </p:grpSpPr>
        <p:cxnSp>
          <p:nvCxnSpPr>
            <p:cNvPr id="12" name="Straight Connector 11">
              <a:extLst>
                <a:ext uri="{FF2B5EF4-FFF2-40B4-BE49-F238E27FC236}">
                  <a16:creationId xmlns:a16="http://schemas.microsoft.com/office/drawing/2014/main" id="{A6DC0849-A033-4B02-97FE-B41AD9A866F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-6214" y="6686283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Straight Connector 12">
              <a:extLst>
                <a:ext uri="{FF2B5EF4-FFF2-40B4-BE49-F238E27FC236}">
                  <a16:creationId xmlns:a16="http://schemas.microsoft.com/office/drawing/2014/main" id="{C3ADCA7D-864A-49AD-B820-102F220EA76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Connector 13">
              <a:extLst>
                <a:ext uri="{FF2B5EF4-FFF2-40B4-BE49-F238E27FC236}">
                  <a16:creationId xmlns:a16="http://schemas.microsoft.com/office/drawing/2014/main" id="{4957E947-1347-4EB3-89EB-DF85D94E26D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199325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98B5FAB9-675C-4906-A39C-BCFD6892943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9252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Connector 15">
              <a:extLst>
                <a:ext uri="{FF2B5EF4-FFF2-40B4-BE49-F238E27FC236}">
                  <a16:creationId xmlns:a16="http://schemas.microsoft.com/office/drawing/2014/main" id="{1C524971-DA3C-4B74-A99D-95CECD50C92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175922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Connector 16">
              <a:extLst>
                <a:ext uri="{FF2B5EF4-FFF2-40B4-BE49-F238E27FC236}">
                  <a16:creationId xmlns:a16="http://schemas.microsoft.com/office/drawing/2014/main" id="{DDBDB683-BC6A-4522-82A5-C745720150B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2159316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>
              <a:extLst>
                <a:ext uri="{FF2B5EF4-FFF2-40B4-BE49-F238E27FC236}">
                  <a16:creationId xmlns:a16="http://schemas.microsoft.com/office/drawing/2014/main" id="{A41560A9-0B55-472F-8261-6951E27C524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3142710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>
              <a:extLst>
                <a:ext uri="{FF2B5EF4-FFF2-40B4-BE49-F238E27FC236}">
                  <a16:creationId xmlns:a16="http://schemas.microsoft.com/office/drawing/2014/main" id="{FD874A14-7926-47E8-947C-904C98B0E0F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4126104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>
              <a:extLst>
                <a:ext uri="{FF2B5EF4-FFF2-40B4-BE49-F238E27FC236}">
                  <a16:creationId xmlns:a16="http://schemas.microsoft.com/office/drawing/2014/main" id="{B3E5598F-2EAC-49C0-B77B-95438A8EDD5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510949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>
              <a:extLst>
                <a:ext uri="{FF2B5EF4-FFF2-40B4-BE49-F238E27FC236}">
                  <a16:creationId xmlns:a16="http://schemas.microsoft.com/office/drawing/2014/main" id="{FC8993AC-196C-48AC-BCE3-3E71814D916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6092892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Connector 21">
              <a:extLst>
                <a:ext uri="{FF2B5EF4-FFF2-40B4-BE49-F238E27FC236}">
                  <a16:creationId xmlns:a16="http://schemas.microsoft.com/office/drawing/2014/main" id="{D517F3CA-CF3E-4CD8-B001-2BDF09D7672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76286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Straight Connector 22">
              <a:extLst>
                <a:ext uri="{FF2B5EF4-FFF2-40B4-BE49-F238E27FC236}">
                  <a16:creationId xmlns:a16="http://schemas.microsoft.com/office/drawing/2014/main" id="{F5237402-E5C4-470B-955F-F3A88677651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8059680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Straight Connector 23">
              <a:extLst>
                <a:ext uri="{FF2B5EF4-FFF2-40B4-BE49-F238E27FC236}">
                  <a16:creationId xmlns:a16="http://schemas.microsoft.com/office/drawing/2014/main" id="{5315EAA5-98ED-4276-880E-4E3789CEAAB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9043074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Straight Connector 24">
              <a:extLst>
                <a:ext uri="{FF2B5EF4-FFF2-40B4-BE49-F238E27FC236}">
                  <a16:creationId xmlns:a16="http://schemas.microsoft.com/office/drawing/2014/main" id="{77F94794-653E-45B6-811B-8081788A0ED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002646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Straight Connector 25">
              <a:extLst>
                <a:ext uri="{FF2B5EF4-FFF2-40B4-BE49-F238E27FC236}">
                  <a16:creationId xmlns:a16="http://schemas.microsoft.com/office/drawing/2014/main" id="{A82DE38F-FC85-4274-8C84-8E75162E6A8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1009862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Straight Connector 26">
              <a:extLst>
                <a:ext uri="{FF2B5EF4-FFF2-40B4-BE49-F238E27FC236}">
                  <a16:creationId xmlns:a16="http://schemas.microsoft.com/office/drawing/2014/main" id="{D4AF14C3-798E-4C02-A6B4-165D003D721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2185786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Straight Connector 27">
              <a:extLst>
                <a:ext uri="{FF2B5EF4-FFF2-40B4-BE49-F238E27FC236}">
                  <a16:creationId xmlns:a16="http://schemas.microsoft.com/office/drawing/2014/main" id="{453D4C15-2F93-446B-AF2D-82072EC01A2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171716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Straight Connector 28">
              <a:extLst>
                <a:ext uri="{FF2B5EF4-FFF2-40B4-BE49-F238E27FC236}">
                  <a16:creationId xmlns:a16="http://schemas.microsoft.com/office/drawing/2014/main" id="{E09026E7-4EC6-47AE-A989-318A5CA6BA7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714597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Straight Connector 29">
              <a:extLst>
                <a:ext uri="{FF2B5EF4-FFF2-40B4-BE49-F238E27FC236}">
                  <a16:creationId xmlns:a16="http://schemas.microsoft.com/office/drawing/2014/main" id="{56DEDA5A-47AA-4ED0-897C-C0B1873B6F5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1257478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Straight Connector 30">
              <a:extLst>
                <a:ext uri="{FF2B5EF4-FFF2-40B4-BE49-F238E27FC236}">
                  <a16:creationId xmlns:a16="http://schemas.microsoft.com/office/drawing/2014/main" id="{4061821F-242E-4E40-B305-9048634C0FC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1800359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Straight Connector 31">
              <a:extLst>
                <a:ext uri="{FF2B5EF4-FFF2-40B4-BE49-F238E27FC236}">
                  <a16:creationId xmlns:a16="http://schemas.microsoft.com/office/drawing/2014/main" id="{20734AE8-EEDD-4DCB-9723-087DC2ECC63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2343240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Straight Connector 32">
              <a:extLst>
                <a:ext uri="{FF2B5EF4-FFF2-40B4-BE49-F238E27FC236}">
                  <a16:creationId xmlns:a16="http://schemas.microsoft.com/office/drawing/2014/main" id="{96DB511B-1563-4336-AFBB-D561A7C0B4B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2886121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Straight Connector 33">
              <a:extLst>
                <a:ext uri="{FF2B5EF4-FFF2-40B4-BE49-F238E27FC236}">
                  <a16:creationId xmlns:a16="http://schemas.microsoft.com/office/drawing/2014/main" id="{B5CEC4A9-4067-4D92-A28E-EE8152717CA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3429002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Straight Connector 34">
              <a:extLst>
                <a:ext uri="{FF2B5EF4-FFF2-40B4-BE49-F238E27FC236}">
                  <a16:creationId xmlns:a16="http://schemas.microsoft.com/office/drawing/2014/main" id="{AB783B25-A3A3-45C4-B04C-A116442505B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3971883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Straight Connector 35">
              <a:extLst>
                <a:ext uri="{FF2B5EF4-FFF2-40B4-BE49-F238E27FC236}">
                  <a16:creationId xmlns:a16="http://schemas.microsoft.com/office/drawing/2014/main" id="{031178CD-3DE0-4C42-811C-7BC881FBF64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4514764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" name="Straight Connector 36">
              <a:extLst>
                <a:ext uri="{FF2B5EF4-FFF2-40B4-BE49-F238E27FC236}">
                  <a16:creationId xmlns:a16="http://schemas.microsoft.com/office/drawing/2014/main" id="{1926C508-8BE5-4ACF-A219-09B5D995BF5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5057645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" name="Straight Connector 37">
              <a:extLst>
                <a:ext uri="{FF2B5EF4-FFF2-40B4-BE49-F238E27FC236}">
                  <a16:creationId xmlns:a16="http://schemas.microsoft.com/office/drawing/2014/main" id="{1B58DEC2-3409-477A-84B4-A5D297FB01B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5600526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" name="Straight Connector 38">
              <a:extLst>
                <a:ext uri="{FF2B5EF4-FFF2-40B4-BE49-F238E27FC236}">
                  <a16:creationId xmlns:a16="http://schemas.microsoft.com/office/drawing/2014/main" id="{AEE3E226-6EDA-4FC4-B670-9590DD5CE7E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6857999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" name="Straight Connector 39">
              <a:extLst>
                <a:ext uri="{FF2B5EF4-FFF2-40B4-BE49-F238E27FC236}">
                  <a16:creationId xmlns:a16="http://schemas.microsoft.com/office/drawing/2014/main" id="{6BC874A8-EE7F-4F92-AAEA-40B18D93916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6613" y="6143407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" name="Straight Connector 40">
              <a:extLst>
                <a:ext uri="{FF2B5EF4-FFF2-40B4-BE49-F238E27FC236}">
                  <a16:creationId xmlns:a16="http://schemas.microsoft.com/office/drawing/2014/main" id="{023D647B-0C43-4C02-9BD2-A01859FD19D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684225" y="171716"/>
              <a:ext cx="0" cy="6511464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" name="Straight Connector 41">
              <a:extLst>
                <a:ext uri="{FF2B5EF4-FFF2-40B4-BE49-F238E27FC236}">
                  <a16:creationId xmlns:a16="http://schemas.microsoft.com/office/drawing/2014/main" id="{1C6DE01B-DD35-4B52-A72E-57E60E22635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1508412" y="173267"/>
              <a:ext cx="0" cy="6511464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44" name="Right Triangle 43">
            <a:extLst>
              <a:ext uri="{FF2B5EF4-FFF2-40B4-BE49-F238E27FC236}">
                <a16:creationId xmlns:a16="http://schemas.microsoft.com/office/drawing/2014/main" id="{218D3B53-4071-48E8-9CB1-4566DAFA0BA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3500000">
            <a:off x="-279642" y="2600449"/>
            <a:ext cx="568289" cy="568289"/>
          </a:xfrm>
          <a:prstGeom prst="rtTriangle">
            <a:avLst/>
          </a:prstGeom>
          <a:solidFill>
            <a:schemeClr val="accent1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A2098D6-C635-D245-B463-EEBF1157E6F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84225" y="746840"/>
            <a:ext cx="5402454" cy="2510445"/>
          </a:xfrm>
        </p:spPr>
        <p:txBody>
          <a:bodyPr>
            <a:normAutofit fontScale="90000"/>
          </a:bodyPr>
          <a:lstStyle/>
          <a:p>
            <a:pPr algn="ctr"/>
            <a:r>
              <a:rPr lang="en-US" dirty="0"/>
              <a:t>Verifying Cyber-Physical Systems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2B8EF34-2A08-9449-A6DD-8D491E5BEC3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84225" y="3425899"/>
            <a:ext cx="5185297" cy="2309737"/>
          </a:xfrm>
        </p:spPr>
        <p:txBody>
          <a:bodyPr>
            <a:normAutofit/>
          </a:bodyPr>
          <a:lstStyle/>
          <a:p>
            <a:pPr algn="ctr"/>
            <a:r>
              <a:rPr lang="en-US" dirty="0"/>
              <a:t>Chapter 1 – 2</a:t>
            </a:r>
          </a:p>
          <a:p>
            <a:pPr algn="ctr"/>
            <a:endParaRPr lang="en-US" dirty="0"/>
          </a:p>
          <a:p>
            <a:pPr algn="ctr"/>
            <a:r>
              <a:rPr lang="en-US" dirty="0"/>
              <a:t>Abenezer Taye</a:t>
            </a:r>
          </a:p>
          <a:p>
            <a:pPr algn="ctr"/>
            <a:r>
              <a:rPr lang="en-US" dirty="0"/>
              <a:t>Feb 09, 2022</a:t>
            </a:r>
          </a:p>
        </p:txBody>
      </p:sp>
      <p:pic>
        <p:nvPicPr>
          <p:cNvPr id="4" name="Picture 3" descr="Blue stripe pattern on a white background">
            <a:extLst>
              <a:ext uri="{FF2B5EF4-FFF2-40B4-BE49-F238E27FC236}">
                <a16:creationId xmlns:a16="http://schemas.microsoft.com/office/drawing/2014/main" id="{E9272CA2-BB70-4528-8331-D03A61CF6313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35519"/>
          <a:stretch/>
        </p:blipFill>
        <p:spPr>
          <a:xfrm>
            <a:off x="6062050" y="-1554"/>
            <a:ext cx="6120571" cy="6857999"/>
          </a:xfrm>
          <a:custGeom>
            <a:avLst/>
            <a:gdLst/>
            <a:ahLst/>
            <a:cxnLst/>
            <a:rect l="l" t="t" r="r" b="b"/>
            <a:pathLst>
              <a:path w="6129950" h="6861439">
                <a:moveTo>
                  <a:pt x="1687527" y="0"/>
                </a:moveTo>
                <a:lnTo>
                  <a:pt x="6129950" y="0"/>
                </a:lnTo>
                <a:lnTo>
                  <a:pt x="6129950" y="6858000"/>
                </a:lnTo>
                <a:lnTo>
                  <a:pt x="5040333" y="6858000"/>
                </a:lnTo>
                <a:lnTo>
                  <a:pt x="5040333" y="6861439"/>
                </a:lnTo>
                <a:lnTo>
                  <a:pt x="272442" y="6861439"/>
                </a:lnTo>
                <a:lnTo>
                  <a:pt x="196402" y="6549696"/>
                </a:lnTo>
                <a:cubicBezTo>
                  <a:pt x="-517926" y="3427393"/>
                  <a:pt x="946083" y="3323532"/>
                  <a:pt x="946083" y="1"/>
                </a:cubicBezTo>
                <a:lnTo>
                  <a:pt x="1687527" y="1"/>
                </a:lnTo>
                <a:close/>
              </a:path>
            </a:pathLst>
          </a:custGeom>
        </p:spPr>
      </p:pic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995DDE2-1C66-7740-9810-B463B1DABB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2FBD07-0A02-6947-BE64-D5BAA58EA23B}" type="datetime1">
              <a:rPr lang="en-US" smtClean="0"/>
              <a:t>2/9/22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DB8D739-BADB-FD49-B34C-ED2C47D65E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Verifying Cyber-Physical Systems - Book Review</a:t>
            </a:r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D7064AD-F620-C641-A7B8-9929F6C2D1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15108C-154A-4A5A-9C05-91A49A422BA7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0019891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802647-11D7-5740-860E-5D14C9DBA1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1880" y="2707768"/>
            <a:ext cx="5148103" cy="1442463"/>
          </a:xfrm>
        </p:spPr>
        <p:txBody>
          <a:bodyPr>
            <a:normAutofit fontScale="90000"/>
          </a:bodyPr>
          <a:lstStyle/>
          <a:p>
            <a:pPr algn="ctr"/>
            <a:r>
              <a:rPr lang="en-US" sz="5400" dirty="0"/>
              <a:t>Chapter 1: </a:t>
            </a:r>
            <a:br>
              <a:rPr lang="en-US" sz="5400" dirty="0"/>
            </a:br>
            <a:r>
              <a:rPr lang="en-US" sz="5400" dirty="0"/>
              <a:t>INTRODUCTION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909F297-8F74-2C49-8F1D-0CB6773389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008AE3-4079-AF47-B402-2BF39C30D2B7}" type="datetime1">
              <a:rPr lang="en-US" smtClean="0"/>
              <a:t>2/9/22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96BDF06-EF76-8E46-BBD4-73A8D3BB6B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Verifying Cyber-Physical Systems - Book Review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3768095-AEC2-DC47-ABA4-EAF2D22B82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15108C-154A-4A5A-9C05-91A49A422BA7}" type="slidenum">
              <a:rPr lang="en-US" smtClean="0"/>
              <a:t>2</a:t>
            </a:fld>
            <a:endParaRPr lang="en-US"/>
          </a:p>
        </p:txBody>
      </p:sp>
      <p:pic>
        <p:nvPicPr>
          <p:cNvPr id="6" name="Picture 2" descr="Verifying Cyber-Physical Systems | The MIT Press">
            <a:extLst>
              <a:ext uri="{FF2B5EF4-FFF2-40B4-BE49-F238E27FC236}">
                <a16:creationId xmlns:a16="http://schemas.microsoft.com/office/drawing/2014/main" id="{06C44B22-8197-3C41-A77A-31F24FB66F8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39378" y="143948"/>
            <a:ext cx="5148102" cy="657010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49230172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6FD6BC-C118-F643-9078-7A47A238C5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1079" y="0"/>
            <a:ext cx="10325000" cy="1442463"/>
          </a:xfrm>
        </p:spPr>
        <p:txBody>
          <a:bodyPr/>
          <a:lstStyle/>
          <a:p>
            <a:pPr algn="ctr"/>
            <a:r>
              <a:rPr lang="en-US" dirty="0"/>
              <a:t>Introduction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FF3A67A-1EF7-284B-835B-75465928F1D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27384" y="1797269"/>
            <a:ext cx="3843779" cy="4107298"/>
          </a:xfrm>
        </p:spPr>
        <p:txBody>
          <a:bodyPr/>
          <a:lstStyle/>
          <a:p>
            <a:r>
              <a:rPr lang="en-US" b="1" dirty="0"/>
              <a:t>Cyber Physical System (CPS): </a:t>
            </a:r>
            <a:r>
              <a:rPr lang="en-US" dirty="0"/>
              <a:t>systems that are controlled by computer</a:t>
            </a:r>
          </a:p>
          <a:p>
            <a:endParaRPr lang="en-US" dirty="0"/>
          </a:p>
          <a:p>
            <a:r>
              <a:rPr lang="en-US" b="1" dirty="0"/>
              <a:t>Requirements for CPS: </a:t>
            </a:r>
            <a:r>
              <a:rPr lang="en-US" dirty="0"/>
              <a:t>the desired or claimed behaviors of the system (aka specifications or properties) </a:t>
            </a:r>
          </a:p>
          <a:p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D5CC725-90EC-E847-A907-D596985F1A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FCEFC6-760B-D249-9BC4-05FBA2AA552C}" type="datetime1">
              <a:rPr lang="en-US" smtClean="0"/>
              <a:t>2/9/22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8DA8354-D3CD-2342-A914-15E0C714B2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Verifying Cyber-Physical Systems - Book Review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58B14E9-FAD7-9D4A-B6E2-DCC9BF7310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15108C-154A-4A5A-9C05-91A49A422BA7}" type="slidenum">
              <a:rPr lang="en-US" smtClean="0"/>
              <a:t>3</a:t>
            </a:fld>
            <a:endParaRPr lang="en-US"/>
          </a:p>
        </p:txBody>
      </p:sp>
      <p:pic>
        <p:nvPicPr>
          <p:cNvPr id="3074" name="Picture 2" descr="Cps Conceptual Abstract Image Visual Stock Photo - Download Image Now -  iStock">
            <a:extLst>
              <a:ext uri="{FF2B5EF4-FFF2-40B4-BE49-F238E27FC236}">
                <a16:creationId xmlns:a16="http://schemas.microsoft.com/office/drawing/2014/main" id="{1F6AB889-AAF7-064A-8A6B-F99E7A08712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90429" y="1573093"/>
            <a:ext cx="6492371" cy="505990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93752149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0B847E-B2D9-9745-A147-25E5C26DF8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1078" y="-149879"/>
            <a:ext cx="10325000" cy="1442463"/>
          </a:xfrm>
        </p:spPr>
        <p:txBody>
          <a:bodyPr/>
          <a:lstStyle/>
          <a:p>
            <a:pPr algn="ctr"/>
            <a:r>
              <a:rPr lang="en-US" dirty="0"/>
              <a:t>Testing Vs Verification 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5F96CB75-94D2-B242-93E3-8435375CE24D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691080" y="1442463"/>
                <a:ext cx="6475034" cy="4878824"/>
              </a:xfrm>
            </p:spPr>
            <p:txBody>
              <a:bodyPr>
                <a:normAutofit/>
              </a:bodyPr>
              <a:lstStyle/>
              <a:p>
                <a:r>
                  <a:rPr lang="en-US" b="1" dirty="0"/>
                  <a:t>Testing</a:t>
                </a:r>
                <a:r>
                  <a:rPr lang="en-US" dirty="0"/>
                  <a:t>: analyzing the resulting behavior data to check whether the requirement is met</a:t>
                </a:r>
              </a:p>
              <a:p>
                <a:endParaRPr lang="en-US" dirty="0"/>
              </a:p>
              <a:p>
                <a:endParaRPr lang="en-US" dirty="0"/>
              </a:p>
              <a:p>
                <a:pPr marL="0" indent="0">
                  <a:buNone/>
                </a:pPr>
                <a:endParaRPr lang="en-US" dirty="0"/>
              </a:p>
              <a:p>
                <a:r>
                  <a:rPr lang="en-US" dirty="0"/>
                  <a:t>For many systems, using testing for establishing system requirements is impossible </a:t>
                </a:r>
              </a:p>
              <a:p>
                <a:pPr lvl="1"/>
                <a:r>
                  <a:rPr lang="en-US" dirty="0"/>
                  <a:t>The amount of data required to guarantee a probability of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10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−9</m:t>
                        </m:r>
                      </m:sup>
                    </m:sSup>
                  </m:oMath>
                </a14:m>
                <a:r>
                  <a:rPr lang="en-US" dirty="0"/>
                  <a:t> fatality/</a:t>
                </a:r>
                <a:r>
                  <a:rPr lang="en-US" dirty="0" err="1"/>
                  <a:t>hr</a:t>
                </a:r>
                <a:r>
                  <a:rPr lang="en-US" dirty="0"/>
                  <a:t> is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10</m:t>
                        </m:r>
                      </m:e>
                      <m:sup>
                        <m:r>
                          <a:rPr lang="en-US" i="1">
                            <a:latin typeface="Cambria Math" panose="02040503050406030204" pitchFamily="18" charset="0"/>
                          </a:rPr>
                          <m:t>9</m:t>
                        </m:r>
                      </m:sup>
                    </m:sSup>
                  </m:oMath>
                </a14:m>
                <a:r>
                  <a:rPr lang="en-US" dirty="0"/>
                  <a:t> </a:t>
                </a:r>
                <a:r>
                  <a:rPr lang="en-US" dirty="0" err="1"/>
                  <a:t>hrs</a:t>
                </a:r>
                <a:r>
                  <a:rPr lang="en-US" dirty="0"/>
                  <a:t> of data </a:t>
                </a:r>
                <a14:m>
                  <m:oMath xmlns:m="http://schemas.openxmlformats.org/officeDocument/2006/math">
                    <m:r>
                      <a:rPr lang="en-US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≈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30×</m:t>
                    </m:r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10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9</m:t>
                        </m:r>
                      </m:sup>
                    </m:sSup>
                  </m:oMath>
                </a14:m>
                <a:r>
                  <a:rPr lang="en-US" dirty="0"/>
                  <a:t>miles (Shalev-Shwartz et al. (2017))</a:t>
                </a:r>
              </a:p>
              <a:p>
                <a:r>
                  <a:rPr lang="en-US" b="1" dirty="0"/>
                  <a:t>Verification</a:t>
                </a:r>
                <a:r>
                  <a:rPr lang="en-US" dirty="0"/>
                  <a:t>: mathematically proves that a model of the system meets the requirements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5F96CB75-94D2-B242-93E3-8435375CE24D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91080" y="1442463"/>
                <a:ext cx="6475034" cy="4878824"/>
              </a:xfrm>
              <a:blipFill>
                <a:blip r:embed="rId2"/>
                <a:stretch>
                  <a:fillRect l="-391" t="-51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Rounded Rectangle 3">
            <a:extLst>
              <a:ext uri="{FF2B5EF4-FFF2-40B4-BE49-F238E27FC236}">
                <a16:creationId xmlns:a16="http://schemas.microsoft.com/office/drawing/2014/main" id="{F44E5322-29B5-294C-A14C-138690569110}"/>
              </a:ext>
            </a:extLst>
          </p:cNvPr>
          <p:cNvSpPr/>
          <p:nvPr/>
        </p:nvSpPr>
        <p:spPr>
          <a:xfrm>
            <a:off x="2747313" y="2497460"/>
            <a:ext cx="1140056" cy="840830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System</a:t>
            </a:r>
          </a:p>
        </p:txBody>
      </p: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39C7AF6D-2BEC-D640-9302-1A33BE2AE714}"/>
              </a:ext>
            </a:extLst>
          </p:cNvPr>
          <p:cNvCxnSpPr>
            <a:cxnSpLocks/>
          </p:cNvCxnSpPr>
          <p:nvPr/>
        </p:nvCxnSpPr>
        <p:spPr>
          <a:xfrm>
            <a:off x="2136913" y="2607784"/>
            <a:ext cx="610399" cy="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C6DD5497-E5A4-BF44-8B29-6CE8FB3C952F}"/>
              </a:ext>
            </a:extLst>
          </p:cNvPr>
          <p:cNvCxnSpPr>
            <a:cxnSpLocks/>
          </p:cNvCxnSpPr>
          <p:nvPr/>
        </p:nvCxnSpPr>
        <p:spPr>
          <a:xfrm>
            <a:off x="2136912" y="3149271"/>
            <a:ext cx="610399" cy="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03C5B9EE-F6D8-5846-985E-2D7B5AF1B97B}"/>
              </a:ext>
            </a:extLst>
          </p:cNvPr>
          <p:cNvSpPr txBox="1"/>
          <p:nvPr/>
        </p:nvSpPr>
        <p:spPr>
          <a:xfrm>
            <a:off x="1425676" y="2431619"/>
            <a:ext cx="931665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/>
              <a:t>Initial </a:t>
            </a:r>
          </a:p>
          <a:p>
            <a:r>
              <a:rPr lang="en-US" sz="1400" dirty="0"/>
              <a:t>condition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FAC939B9-AF78-B74E-BC11-F6E5F99FB008}"/>
              </a:ext>
            </a:extLst>
          </p:cNvPr>
          <p:cNvSpPr txBox="1"/>
          <p:nvPr/>
        </p:nvSpPr>
        <p:spPr>
          <a:xfrm>
            <a:off x="1577622" y="2990895"/>
            <a:ext cx="59824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/>
              <a:t>Input</a:t>
            </a:r>
          </a:p>
        </p:txBody>
      </p: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94D0CFEF-1387-4441-A393-3DB494ECB773}"/>
              </a:ext>
            </a:extLst>
          </p:cNvPr>
          <p:cNvCxnSpPr>
            <a:cxnSpLocks/>
          </p:cNvCxnSpPr>
          <p:nvPr/>
        </p:nvCxnSpPr>
        <p:spPr>
          <a:xfrm>
            <a:off x="3887369" y="2943414"/>
            <a:ext cx="446092" cy="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12" name="TextBox 11">
            <a:extLst>
              <a:ext uri="{FF2B5EF4-FFF2-40B4-BE49-F238E27FC236}">
                <a16:creationId xmlns:a16="http://schemas.microsoft.com/office/drawing/2014/main" id="{B70B21B9-7C4E-6649-B2AE-E30529172BD0}"/>
              </a:ext>
            </a:extLst>
          </p:cNvPr>
          <p:cNvSpPr txBox="1"/>
          <p:nvPr/>
        </p:nvSpPr>
        <p:spPr>
          <a:xfrm>
            <a:off x="4341484" y="2733209"/>
            <a:ext cx="878767" cy="369332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</p:spPr>
        <p:txBody>
          <a:bodyPr wrap="none" rtlCol="0">
            <a:spAutoFit/>
          </a:bodyPr>
          <a:lstStyle/>
          <a:p>
            <a:r>
              <a:rPr lang="en-US" dirty="0"/>
              <a:t>Output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64BB6C1-347D-6B45-8DEA-781AD1A0D7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4A2AC7-B06A-C04D-BFDC-F7B28E8F4528}" type="datetime1">
              <a:rPr lang="en-US" smtClean="0"/>
              <a:t>2/9/22</a:t>
            </a:fld>
            <a:endParaRPr lang="en-US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46C48F27-0DE2-4B46-AEA8-32DC8918CD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Verifying Cyber-Physical Systems - Book Review</a:t>
            </a:r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53EA7711-69A4-5C4A-895A-DAF3221733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15108C-154A-4A5A-9C05-91A49A422BA7}" type="slidenum">
              <a:rPr lang="en-US" smtClean="0"/>
              <a:t>4</a:t>
            </a:fld>
            <a:endParaRPr lang="en-US"/>
          </a:p>
        </p:txBody>
      </p:sp>
      <p:pic>
        <p:nvPicPr>
          <p:cNvPr id="4104" name="Picture 8" descr="Driverless Cars Approved for Testing by UK » AutoGuide.com News">
            <a:extLst>
              <a:ext uri="{FF2B5EF4-FFF2-40B4-BE49-F238E27FC236}">
                <a16:creationId xmlns:a16="http://schemas.microsoft.com/office/drawing/2014/main" id="{C8130A08-DC45-3C47-A027-3758F97248B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06547" y="2585167"/>
            <a:ext cx="4773625" cy="292393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6967340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6FD6BC-C118-F643-9078-7A47A238C5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1079" y="0"/>
            <a:ext cx="10325000" cy="1442463"/>
          </a:xfrm>
        </p:spPr>
        <p:txBody>
          <a:bodyPr/>
          <a:lstStyle/>
          <a:p>
            <a:pPr algn="ctr"/>
            <a:r>
              <a:rPr lang="en-US" dirty="0"/>
              <a:t>Verification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EFF3A67A-1EF7-284B-835B-75465928F1D0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691079" y="1797269"/>
                <a:ext cx="10325000" cy="4822192"/>
              </a:xfrm>
            </p:spPr>
            <p:txBody>
              <a:bodyPr>
                <a:normAutofit lnSpcReduction="10000"/>
              </a:bodyPr>
              <a:lstStyle/>
              <a:p>
                <a:r>
                  <a:rPr lang="en-US" dirty="0"/>
                  <a:t>The verification process looks like:</a:t>
                </a:r>
              </a:p>
              <a:p>
                <a:endParaRPr lang="en-US" dirty="0"/>
              </a:p>
              <a:p>
                <a:endParaRPr lang="en-US" dirty="0"/>
              </a:p>
              <a:p>
                <a:endParaRPr lang="en-US" dirty="0"/>
              </a:p>
              <a:p>
                <a:pPr marL="0" indent="0">
                  <a:buNone/>
                </a:pPr>
                <a:endParaRPr lang="en-US" dirty="0"/>
              </a:p>
              <a:p>
                <a:r>
                  <a:rPr lang="en-US" dirty="0"/>
                  <a:t>CPS model (A): is usually a hybrid model (ODE + automata) </a:t>
                </a:r>
              </a:p>
              <a:p>
                <a:r>
                  <a:rPr lang="en-US" dirty="0"/>
                  <a:t>There could be two possible meanings to counterexample </a:t>
                </a:r>
                <a14:m>
                  <m:oMath xmlns:m="http://schemas.openxmlformats.org/officeDocument/2006/math">
                    <m:r>
                      <a:rPr lang="en-US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𝛼</m:t>
                    </m:r>
                  </m:oMath>
                </a14:m>
                <a:r>
                  <a:rPr lang="en-US" dirty="0"/>
                  <a:t>:</a:t>
                </a:r>
              </a:p>
              <a:p>
                <a:pPr lvl="1"/>
                <a:r>
                  <a:rPr lang="en-US" b="1" dirty="0"/>
                  <a:t>Spurious counterexample</a:t>
                </a:r>
                <a:r>
                  <a:rPr lang="en-US" dirty="0"/>
                  <a:t>: because of the gap between model and the actual system </a:t>
                </a:r>
              </a:p>
              <a:p>
                <a:pPr lvl="2"/>
                <a:r>
                  <a:rPr lang="en-US" dirty="0">
                    <a:sym typeface="Wingdings" pitchFamily="2" charset="2"/>
                  </a:rPr>
                  <a:t>Solution  Model validation</a:t>
                </a:r>
                <a:endParaRPr lang="en-US" dirty="0"/>
              </a:p>
              <a:p>
                <a:pPr lvl="1"/>
                <a:r>
                  <a:rPr lang="en-US" b="1" dirty="0"/>
                  <a:t>Real counterexample</a:t>
                </a:r>
                <a:r>
                  <a:rPr lang="en-US" dirty="0"/>
                  <a:t>: </a:t>
                </a:r>
              </a:p>
              <a:p>
                <a:pPr lvl="2"/>
                <a:r>
                  <a:rPr lang="en-US" dirty="0"/>
                  <a:t>A design bug </a:t>
                </a:r>
                <a:r>
                  <a:rPr lang="en-US" dirty="0">
                    <a:sym typeface="Wingdings" pitchFamily="2" charset="2"/>
                  </a:rPr>
                  <a:t> debug and modify the system </a:t>
                </a:r>
              </a:p>
              <a:p>
                <a:pPr lvl="2"/>
                <a:r>
                  <a:rPr lang="en-US" dirty="0">
                    <a:sym typeface="Wingdings" pitchFamily="2" charset="2"/>
                  </a:rPr>
                  <a:t>The requirements are wrong/inconsistent  modify the requirements</a:t>
                </a:r>
                <a:endParaRPr lang="en-US" dirty="0"/>
              </a:p>
              <a:p>
                <a:pPr lvl="1"/>
                <a:endParaRPr lang="en-US" dirty="0"/>
              </a:p>
              <a:p>
                <a:pPr lvl="1"/>
                <a:endParaRPr lang="en-US" dirty="0"/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EFF3A67A-1EF7-284B-835B-75465928F1D0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91079" y="1797269"/>
                <a:ext cx="10325000" cy="4822192"/>
              </a:xfrm>
              <a:blipFill>
                <a:blip r:embed="rId3"/>
                <a:stretch>
                  <a:fillRect l="-246" t="-78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7" name="Picture 6">
            <a:extLst>
              <a:ext uri="{FF2B5EF4-FFF2-40B4-BE49-F238E27FC236}">
                <a16:creationId xmlns:a16="http://schemas.microsoft.com/office/drawing/2014/main" id="{4BD6AB92-AFB1-DB41-AD76-89BDBAB5841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878896" y="2334927"/>
            <a:ext cx="6434208" cy="1494239"/>
          </a:xfrm>
          <a:prstGeom prst="rect">
            <a:avLst/>
          </a:prstGeom>
        </p:spPr>
      </p:pic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3620589B-E70F-5441-B626-1082A58B21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8ED6A1-706C-9142-BAD0-717BCDC91371}" type="datetime1">
              <a:rPr lang="en-US" smtClean="0"/>
              <a:t>2/9/22</a:t>
            </a:fld>
            <a:endParaRPr lang="en-US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E05958A0-FBC6-324E-8BA3-2783E47A6A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Verifying Cyber-Physical Systems - Book Review</a:t>
            </a:r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47985D96-E3B5-E14C-B8AC-372F366263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15108C-154A-4A5A-9C05-91A49A422BA7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2629226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6FD6BC-C118-F643-9078-7A47A238C5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06088" y="44012"/>
            <a:ext cx="10325000" cy="1442463"/>
          </a:xfrm>
        </p:spPr>
        <p:txBody>
          <a:bodyPr/>
          <a:lstStyle/>
          <a:p>
            <a:pPr algn="ctr"/>
            <a:r>
              <a:rPr lang="en-US" dirty="0"/>
              <a:t>System Design Ecosystem</a:t>
            </a:r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060CD169-D100-6449-8A58-75EA34A6C55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221930" y="1763939"/>
            <a:ext cx="9094888" cy="4328817"/>
          </a:xfrm>
        </p:spPr>
      </p:pic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3F52DDB7-3D51-A642-81E1-8CC2FF729B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5338E0-148A-2A4B-AC69-A5CF995C207E}" type="datetime1">
              <a:rPr lang="en-US" smtClean="0"/>
              <a:t>2/9/22</a:t>
            </a:fld>
            <a:endParaRPr lang="en-US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04E72D97-70B1-9B44-B196-9871664B29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Verifying Cyber-Physical Systems - Book Review</a:t>
            </a:r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105B2378-960C-D24F-8FAD-BD24810568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15108C-154A-4A5A-9C05-91A49A422BA7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8477270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6FD6BC-C118-F643-9078-7A47A238C5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1079" y="0"/>
            <a:ext cx="10325000" cy="1442463"/>
          </a:xfrm>
        </p:spPr>
        <p:txBody>
          <a:bodyPr/>
          <a:lstStyle/>
          <a:p>
            <a:pPr algn="ctr"/>
            <a:r>
              <a:rPr lang="en-US" dirty="0"/>
              <a:t>Challenges of Verification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FF3A67A-1EF7-284B-835B-75465928F1D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91079" y="1797269"/>
            <a:ext cx="10325000" cy="4454444"/>
          </a:xfrm>
        </p:spPr>
        <p:txBody>
          <a:bodyPr/>
          <a:lstStyle/>
          <a:p>
            <a:pPr marL="457200" indent="-457200">
              <a:buFont typeface="+mj-lt"/>
              <a:buAutoNum type="arabicPeriod"/>
            </a:pPr>
            <a:r>
              <a:rPr lang="en-US" b="1" dirty="0"/>
              <a:t>Theoretical undecidability : </a:t>
            </a:r>
          </a:p>
          <a:p>
            <a:pPr lvl="1"/>
            <a:r>
              <a:rPr lang="en-US" dirty="0"/>
              <a:t>There is no algorithm that checks whether a model of CPS meets a requirement. </a:t>
            </a:r>
          </a:p>
          <a:p>
            <a:pPr lvl="1"/>
            <a:r>
              <a:rPr lang="en-US" dirty="0"/>
              <a:t>To address this </a:t>
            </a:r>
            <a:r>
              <a:rPr lang="en-US" dirty="0">
                <a:sym typeface="Wingdings" pitchFamily="2" charset="2"/>
              </a:rPr>
              <a:t> relaxing the verification question (e.g. bounded time horizon or tolerate some false positives) </a:t>
            </a:r>
            <a:r>
              <a:rPr lang="en-US" dirty="0"/>
              <a:t> </a:t>
            </a:r>
          </a:p>
          <a:p>
            <a:pPr marL="457200" indent="-457200">
              <a:buFont typeface="+mj-lt"/>
              <a:buAutoNum type="arabicPeriod"/>
            </a:pPr>
            <a:r>
              <a:rPr lang="en-US" b="1" dirty="0"/>
              <a:t>Practical Scalability :</a:t>
            </a:r>
          </a:p>
          <a:p>
            <a:pPr lvl="1"/>
            <a:r>
              <a:rPr lang="en-US" dirty="0"/>
              <a:t>Lack of scalability is a huge challenge for the progress in verification</a:t>
            </a:r>
          </a:p>
          <a:p>
            <a:pPr marL="457200" indent="-457200">
              <a:buFont typeface="+mj-lt"/>
              <a:buAutoNum type="arabicPeriod"/>
            </a:pPr>
            <a:r>
              <a:rPr lang="en-US" b="1" dirty="0"/>
              <a:t>Missing Models :</a:t>
            </a:r>
          </a:p>
          <a:p>
            <a:pPr lvl="1"/>
            <a:r>
              <a:rPr lang="en-US" dirty="0"/>
              <a:t>Complete models of CPS systems are difficult to come by</a:t>
            </a:r>
          </a:p>
          <a:p>
            <a:pPr lvl="2"/>
            <a:r>
              <a:rPr lang="en-US" dirty="0"/>
              <a:t>Oftentimes models lack succinct descriptions, are distributed, and are protected intellectual property </a:t>
            </a:r>
          </a:p>
          <a:p>
            <a:pPr marL="457200" indent="-457200">
              <a:buFont typeface="+mj-lt"/>
              <a:buAutoNum type="arabicPeriod"/>
            </a:pPr>
            <a:r>
              <a:rPr lang="en-US" b="1" dirty="0"/>
              <a:t>Learning-enabled systems and missing requirements : </a:t>
            </a:r>
          </a:p>
          <a:p>
            <a:pPr lvl="1"/>
            <a:r>
              <a:rPr lang="en-US" dirty="0"/>
              <a:t>Recent CPS systems use DNN </a:t>
            </a:r>
            <a:r>
              <a:rPr lang="en-US" dirty="0">
                <a:sym typeface="Wingdings" pitchFamily="2" charset="2"/>
              </a:rPr>
              <a:t> lack models and requirements 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9BE16A2-7764-2641-AB7F-BF5431CE6D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FD0210-905C-C74D-8E3E-C1F5F4E01522}" type="datetime1">
              <a:rPr lang="en-US" smtClean="0"/>
              <a:t>2/9/22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41C6F17-F62E-044C-8AB7-60C6B63892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Verifying Cyber-Physical Systems - Book Review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654F422-10F4-474B-A444-C8F0C03305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15108C-154A-4A5A-9C05-91A49A422BA7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2918241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802647-11D7-5740-860E-5D14C9DBA1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28627" y="3290864"/>
            <a:ext cx="5148103" cy="1442463"/>
          </a:xfrm>
        </p:spPr>
        <p:txBody>
          <a:bodyPr>
            <a:normAutofit fontScale="90000"/>
          </a:bodyPr>
          <a:lstStyle/>
          <a:p>
            <a:pPr algn="ctr"/>
            <a:r>
              <a:rPr lang="en-US" sz="5400" dirty="0"/>
              <a:t>Chapter 2: </a:t>
            </a:r>
            <a:br>
              <a:rPr lang="en-US" sz="5400" dirty="0"/>
            </a:br>
            <a:r>
              <a:rPr lang="en-US" sz="5400" dirty="0"/>
              <a:t>MODELING COMPUTATION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909F297-8F74-2C49-8F1D-0CB6773389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008AE3-4079-AF47-B402-2BF39C30D2B7}" type="datetime1">
              <a:rPr lang="en-US" smtClean="0"/>
              <a:t>2/9/22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96BDF06-EF76-8E46-BBD4-73A8D3BB6B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Verifying Cyber-Physical Systems - Book Review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3768095-AEC2-DC47-ABA4-EAF2D22B82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15108C-154A-4A5A-9C05-91A49A422BA7}" type="slidenum">
              <a:rPr lang="en-US" smtClean="0"/>
              <a:t>8</a:t>
            </a:fld>
            <a:endParaRPr lang="en-US"/>
          </a:p>
        </p:txBody>
      </p:sp>
      <p:pic>
        <p:nvPicPr>
          <p:cNvPr id="6" name="Picture 2" descr="Verifying Cyber-Physical Systems | The MIT Press">
            <a:extLst>
              <a:ext uri="{FF2B5EF4-FFF2-40B4-BE49-F238E27FC236}">
                <a16:creationId xmlns:a16="http://schemas.microsoft.com/office/drawing/2014/main" id="{06C44B22-8197-3C41-A77A-31F24FB66F8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39378" y="143948"/>
            <a:ext cx="5148102" cy="657010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42020809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6FD6BC-C118-F643-9078-7A47A238C5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1079" y="0"/>
            <a:ext cx="10325000" cy="1442463"/>
          </a:xfrm>
        </p:spPr>
        <p:txBody>
          <a:bodyPr/>
          <a:lstStyle/>
          <a:p>
            <a:pPr algn="ctr"/>
            <a:r>
              <a:rPr lang="en-US" dirty="0"/>
              <a:t>Introduction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FF3A67A-1EF7-284B-835B-75465928F1D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91079" y="1797269"/>
            <a:ext cx="6892478" cy="4107298"/>
          </a:xfrm>
        </p:spPr>
        <p:txBody>
          <a:bodyPr/>
          <a:lstStyle/>
          <a:p>
            <a:r>
              <a:rPr lang="en-US" b="1" dirty="0"/>
              <a:t>Aim: </a:t>
            </a:r>
            <a:r>
              <a:rPr lang="en-US" dirty="0"/>
              <a:t>how can we develop a mathematical model for computation </a:t>
            </a:r>
          </a:p>
          <a:p>
            <a:r>
              <a:rPr lang="en-US" dirty="0"/>
              <a:t>We use differential equations to model physical systems </a:t>
            </a:r>
            <a:r>
              <a:rPr lang="en-US" dirty="0">
                <a:sym typeface="Wingdings" pitchFamily="2" charset="2"/>
              </a:rPr>
              <a:t> how about computation?</a:t>
            </a:r>
          </a:p>
          <a:p>
            <a:r>
              <a:rPr lang="en-US" b="1" dirty="0">
                <a:sym typeface="Wingdings" pitchFamily="2" charset="2"/>
              </a:rPr>
              <a:t>Automaton</a:t>
            </a:r>
            <a:r>
              <a:rPr lang="en-US" dirty="0">
                <a:sym typeface="Wingdings" pitchFamily="2" charset="2"/>
              </a:rPr>
              <a:t>: 19</a:t>
            </a:r>
            <a:r>
              <a:rPr lang="en-US" baseline="30000" dirty="0">
                <a:sym typeface="Wingdings" pitchFamily="2" charset="2"/>
              </a:rPr>
              <a:t>th</a:t>
            </a:r>
            <a:r>
              <a:rPr lang="en-US" dirty="0">
                <a:sym typeface="Wingdings" pitchFamily="2" charset="2"/>
              </a:rPr>
              <a:t> century word used to describe mechanical dolls </a:t>
            </a:r>
          </a:p>
          <a:p>
            <a:r>
              <a:rPr lang="en-US" dirty="0">
                <a:sym typeface="Wingdings" pitchFamily="2" charset="2"/>
              </a:rPr>
              <a:t>In mathematics, we use automaton to describe the rules of state change of any computational process</a:t>
            </a:r>
          </a:p>
          <a:p>
            <a:pPr lvl="1"/>
            <a:r>
              <a:rPr lang="en-US" dirty="0">
                <a:sym typeface="Wingdings" pitchFamily="2" charset="2"/>
              </a:rPr>
              <a:t>Aka, </a:t>
            </a:r>
            <a:r>
              <a:rPr lang="en-US" b="1" dirty="0">
                <a:sym typeface="Wingdings" pitchFamily="2" charset="2"/>
              </a:rPr>
              <a:t>discrete-time transition system</a:t>
            </a:r>
            <a:r>
              <a:rPr lang="en-US" dirty="0">
                <a:sym typeface="Wingdings" pitchFamily="2" charset="2"/>
              </a:rPr>
              <a:t> or </a:t>
            </a:r>
            <a:r>
              <a:rPr lang="en-US" b="1" dirty="0">
                <a:sym typeface="Wingdings" pitchFamily="2" charset="2"/>
              </a:rPr>
              <a:t>a state machine </a:t>
            </a:r>
            <a:endParaRPr lang="en-US" b="1" dirty="0"/>
          </a:p>
        </p:txBody>
      </p:sp>
      <p:pic>
        <p:nvPicPr>
          <p:cNvPr id="1026" name="Picture 2" descr="Matilda the Automaton by Franklin Vanseizenberg - Steampunk Ages |  Steampunk, Steampunk aesthetic, Retro futurism">
            <a:extLst>
              <a:ext uri="{FF2B5EF4-FFF2-40B4-BE49-F238E27FC236}">
                <a16:creationId xmlns:a16="http://schemas.microsoft.com/office/drawing/2014/main" id="{BC716FDD-5B0E-1445-A85A-A6D7F4F9723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663278" y="1690941"/>
            <a:ext cx="2986348" cy="410729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7A55062-5409-574F-9EA6-23114DE6F2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4922D1-F5B9-514E-B943-EA83E402F76D}" type="datetime1">
              <a:rPr lang="en-US" smtClean="0"/>
              <a:t>2/9/22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298D03A-AFE6-284E-BF75-802DFF9BD0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Verifying Cyber-Physical Systems - Book Review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A544462-E64E-684E-85A6-EC5D65DD1D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15108C-154A-4A5A-9C05-91A49A422BA7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349892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6FD6BC-C118-F643-9078-7A47A238C5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1079" y="123012"/>
            <a:ext cx="10325000" cy="1064776"/>
          </a:xfrm>
        </p:spPr>
        <p:txBody>
          <a:bodyPr/>
          <a:lstStyle/>
          <a:p>
            <a:pPr algn="ctr"/>
            <a:r>
              <a:rPr lang="en-US" b="1" dirty="0"/>
              <a:t>Example: JK Flip-Flop 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4102940-40B3-3741-A47C-784FC52D44F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236" y="1394733"/>
            <a:ext cx="4758168" cy="3401115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528CEDBE-60EC-D44D-9F70-06BD40E30CA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49248" y="1928191"/>
            <a:ext cx="6641272" cy="2646690"/>
          </a:xfrm>
          <a:prstGeom prst="rect">
            <a:avLst/>
          </a:prstGeom>
        </p:spPr>
      </p:pic>
      <p:graphicFrame>
        <p:nvGraphicFramePr>
          <p:cNvPr id="8" name="Table 8">
            <a:extLst>
              <a:ext uri="{FF2B5EF4-FFF2-40B4-BE49-F238E27FC236}">
                <a16:creationId xmlns:a16="http://schemas.microsoft.com/office/drawing/2014/main" id="{F50A6C1C-6002-3349-A995-2ED684AD289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77481957"/>
              </p:ext>
            </p:extLst>
          </p:nvPr>
        </p:nvGraphicFramePr>
        <p:xfrm>
          <a:off x="1972420" y="4795848"/>
          <a:ext cx="2488574" cy="193914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546418">
                  <a:extLst>
                    <a:ext uri="{9D8B030D-6E8A-4147-A177-3AD203B41FA5}">
                      <a16:colId xmlns:a16="http://schemas.microsoft.com/office/drawing/2014/main" val="4217466963"/>
                    </a:ext>
                  </a:extLst>
                </a:gridCol>
                <a:gridCol w="408251">
                  <a:extLst>
                    <a:ext uri="{9D8B030D-6E8A-4147-A177-3AD203B41FA5}">
                      <a16:colId xmlns:a16="http://schemas.microsoft.com/office/drawing/2014/main" val="3290466910"/>
                    </a:ext>
                  </a:extLst>
                </a:gridCol>
                <a:gridCol w="406462">
                  <a:extLst>
                    <a:ext uri="{9D8B030D-6E8A-4147-A177-3AD203B41FA5}">
                      <a16:colId xmlns:a16="http://schemas.microsoft.com/office/drawing/2014/main" val="2422528470"/>
                    </a:ext>
                  </a:extLst>
                </a:gridCol>
                <a:gridCol w="1127443">
                  <a:extLst>
                    <a:ext uri="{9D8B030D-6E8A-4147-A177-3AD203B41FA5}">
                      <a16:colId xmlns:a16="http://schemas.microsoft.com/office/drawing/2014/main" val="3095948543"/>
                    </a:ext>
                  </a:extLst>
                </a:gridCol>
              </a:tblGrid>
              <a:tr h="387828">
                <a:tc>
                  <a:txBody>
                    <a:bodyPr/>
                    <a:lstStyle/>
                    <a:p>
                      <a:r>
                        <a:rPr lang="en-US" dirty="0" err="1"/>
                        <a:t>clk</a:t>
                      </a:r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J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k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Q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783846495"/>
                  </a:ext>
                </a:extLst>
              </a:tr>
              <a:tr h="387828">
                <a:tc>
                  <a:txBody>
                    <a:bodyPr/>
                    <a:lstStyle/>
                    <a:p>
                      <a:r>
                        <a:rPr lang="en-US" dirty="0"/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previous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623777010"/>
                  </a:ext>
                </a:extLst>
              </a:tr>
              <a:tr h="387828">
                <a:tc>
                  <a:txBody>
                    <a:bodyPr/>
                    <a:lstStyle/>
                    <a:p>
                      <a:r>
                        <a:rPr lang="en-US" dirty="0"/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304621336"/>
                  </a:ext>
                </a:extLst>
              </a:tr>
              <a:tr h="387828">
                <a:tc>
                  <a:txBody>
                    <a:bodyPr/>
                    <a:lstStyle/>
                    <a:p>
                      <a:r>
                        <a:rPr lang="en-US" dirty="0"/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466831859"/>
                  </a:ext>
                </a:extLst>
              </a:tr>
              <a:tr h="387828">
                <a:tc>
                  <a:txBody>
                    <a:bodyPr/>
                    <a:lstStyle/>
                    <a:p>
                      <a:r>
                        <a:rPr lang="en-US" dirty="0"/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toggle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537282602"/>
                  </a:ext>
                </a:extLst>
              </a:tr>
            </a:tbl>
          </a:graphicData>
        </a:graphic>
      </p:graphicFrame>
      <p:sp>
        <p:nvSpPr>
          <p:cNvPr id="9" name="TextBox 8">
            <a:extLst>
              <a:ext uri="{FF2B5EF4-FFF2-40B4-BE49-F238E27FC236}">
                <a16:creationId xmlns:a16="http://schemas.microsoft.com/office/drawing/2014/main" id="{E643D909-EF2F-0A49-93F3-C5EE50C580B8}"/>
              </a:ext>
            </a:extLst>
          </p:cNvPr>
          <p:cNvSpPr txBox="1"/>
          <p:nvPr/>
        </p:nvSpPr>
        <p:spPr>
          <a:xfrm>
            <a:off x="5148470" y="4659088"/>
            <a:ext cx="6848061" cy="2123017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b="1" dirty="0"/>
              <a:t>Parts of specification</a:t>
            </a:r>
          </a:p>
          <a:p>
            <a:pPr marL="342900" indent="-342900">
              <a:lnSpc>
                <a:spcPct val="150000"/>
              </a:lnSpc>
              <a:buAutoNum type="arabicPeriod"/>
            </a:pPr>
            <a:r>
              <a:rPr lang="en-US" b="1" dirty="0"/>
              <a:t>Actions</a:t>
            </a:r>
            <a:r>
              <a:rPr lang="en-US" dirty="0"/>
              <a:t>: lists various types of rules for state change</a:t>
            </a:r>
          </a:p>
          <a:p>
            <a:pPr marL="342900" indent="-342900">
              <a:lnSpc>
                <a:spcPct val="150000"/>
              </a:lnSpc>
              <a:buAutoNum type="arabicPeriod"/>
            </a:pPr>
            <a:r>
              <a:rPr lang="en-US" b="1" dirty="0"/>
              <a:t>Variables</a:t>
            </a:r>
            <a:r>
              <a:rPr lang="en-US" dirty="0"/>
              <a:t>: lists the state variables</a:t>
            </a:r>
          </a:p>
          <a:p>
            <a:pPr marL="342900" indent="-342900">
              <a:lnSpc>
                <a:spcPct val="150000"/>
              </a:lnSpc>
              <a:buAutoNum type="arabicPeriod"/>
            </a:pPr>
            <a:r>
              <a:rPr lang="en-US" b="1" dirty="0"/>
              <a:t>Transitions</a:t>
            </a:r>
            <a:r>
              <a:rPr lang="en-US" dirty="0"/>
              <a:t>: lists the state change rules for each of the actions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0BD4E0FE-2BA2-CF4E-89B2-01E1C8C3FEBF}"/>
              </a:ext>
            </a:extLst>
          </p:cNvPr>
          <p:cNvSpPr/>
          <p:nvPr/>
        </p:nvSpPr>
        <p:spPr>
          <a:xfrm>
            <a:off x="5655365" y="2206487"/>
            <a:ext cx="1590261" cy="546652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7C7A71E3-F6CA-134D-A87A-B7537D61DCB8}"/>
              </a:ext>
            </a:extLst>
          </p:cNvPr>
          <p:cNvSpPr/>
          <p:nvPr/>
        </p:nvSpPr>
        <p:spPr>
          <a:xfrm>
            <a:off x="5686896" y="2858128"/>
            <a:ext cx="2006676" cy="635414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04E28108-0B90-1A4E-B70E-D168647DF32B}"/>
              </a:ext>
            </a:extLst>
          </p:cNvPr>
          <p:cNvSpPr/>
          <p:nvPr/>
        </p:nvSpPr>
        <p:spPr>
          <a:xfrm>
            <a:off x="8839999" y="2206486"/>
            <a:ext cx="2290455" cy="1398561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Date Placeholder 10">
            <a:extLst>
              <a:ext uri="{FF2B5EF4-FFF2-40B4-BE49-F238E27FC236}">
                <a16:creationId xmlns:a16="http://schemas.microsoft.com/office/drawing/2014/main" id="{738FA48D-95D5-F54E-9D53-C6F14FE807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2D65E5-09D3-1649-90C5-365C3679F92C}" type="datetime1">
              <a:rPr lang="en-US" smtClean="0"/>
              <a:t>2/9/22</a:t>
            </a:fld>
            <a:endParaRPr lang="en-US"/>
          </a:p>
        </p:txBody>
      </p:sp>
      <p:sp>
        <p:nvSpPr>
          <p:cNvPr id="14" name="Footer Placeholder 13">
            <a:extLst>
              <a:ext uri="{FF2B5EF4-FFF2-40B4-BE49-F238E27FC236}">
                <a16:creationId xmlns:a16="http://schemas.microsoft.com/office/drawing/2014/main" id="{061CC970-C24E-DA4E-AD51-3638468F8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Verifying Cyber-Physical Systems - Book Review</a:t>
            </a:r>
          </a:p>
        </p:txBody>
      </p:sp>
      <p:sp>
        <p:nvSpPr>
          <p:cNvPr id="15" name="Slide Number Placeholder 14">
            <a:extLst>
              <a:ext uri="{FF2B5EF4-FFF2-40B4-BE49-F238E27FC236}">
                <a16:creationId xmlns:a16="http://schemas.microsoft.com/office/drawing/2014/main" id="{81CE7C75-4C85-144C-AF6B-51F2D0A1EC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15108C-154A-4A5A-9C05-91A49A422BA7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1015299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6FD6BC-C118-F643-9078-7A47A238C5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1079" y="0"/>
            <a:ext cx="10325000" cy="1442463"/>
          </a:xfrm>
        </p:spPr>
        <p:txBody>
          <a:bodyPr/>
          <a:lstStyle/>
          <a:p>
            <a:pPr algn="ctr"/>
            <a:r>
              <a:rPr lang="en-US" dirty="0"/>
              <a:t>Specifying automata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FF3A67A-1EF7-284B-835B-75465928F1D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91079" y="1797269"/>
            <a:ext cx="10325000" cy="4454444"/>
          </a:xfrm>
        </p:spPr>
        <p:txBody>
          <a:bodyPr/>
          <a:lstStyle/>
          <a:p>
            <a:pPr marL="457200" indent="-457200">
              <a:buFont typeface="+mj-lt"/>
              <a:buAutoNum type="arabicPeriod"/>
            </a:pPr>
            <a:r>
              <a:rPr lang="en-US" b="1" dirty="0"/>
              <a:t>State variables: </a:t>
            </a:r>
          </a:p>
          <a:p>
            <a:pPr lvl="1"/>
            <a:r>
              <a:rPr lang="en-US" dirty="0"/>
              <a:t>A state represents the information necessary for predicting the future of an automaton</a:t>
            </a:r>
          </a:p>
          <a:p>
            <a:pPr marL="457200" indent="-457200">
              <a:buFont typeface="+mj-lt"/>
              <a:buAutoNum type="arabicPeriod"/>
            </a:pPr>
            <a:r>
              <a:rPr lang="en-US" b="1" dirty="0"/>
              <a:t>Valuation:</a:t>
            </a:r>
          </a:p>
          <a:p>
            <a:pPr lvl="1"/>
            <a:r>
              <a:rPr lang="en-US" dirty="0"/>
              <a:t>Maps each state variable name to a value</a:t>
            </a:r>
          </a:p>
          <a:p>
            <a:pPr marL="457200" indent="-457200">
              <a:buFont typeface="+mj-lt"/>
              <a:buAutoNum type="arabicPeriod"/>
            </a:pPr>
            <a:r>
              <a:rPr lang="en-US" b="1" dirty="0"/>
              <a:t>Predicates:</a:t>
            </a:r>
          </a:p>
          <a:p>
            <a:pPr lvl="1"/>
            <a:r>
              <a:rPr lang="en-US" dirty="0"/>
              <a:t>A Boolean–valued formula involving the variables in V (we use it as a requirement)</a:t>
            </a:r>
          </a:p>
          <a:p>
            <a:pPr lvl="2"/>
            <a:r>
              <a:rPr lang="en-US" dirty="0"/>
              <a:t>For example: the state                                                           satisfies the formula</a:t>
            </a:r>
          </a:p>
          <a:p>
            <a:pPr lvl="2"/>
            <a:r>
              <a:rPr lang="en-US" dirty="0"/>
              <a:t>Because   </a:t>
            </a:r>
          </a:p>
          <a:p>
            <a:pPr marL="457200" indent="-457200">
              <a:buFont typeface="+mj-lt"/>
              <a:buAutoNum type="arabicPeriod"/>
            </a:pPr>
            <a:r>
              <a:rPr lang="en-US" b="1" dirty="0"/>
              <a:t>Transitions: </a:t>
            </a:r>
          </a:p>
          <a:p>
            <a:pPr lvl="1"/>
            <a:r>
              <a:rPr lang="en-US" dirty="0"/>
              <a:t>Specify the rules for state change in a computation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FDC676C-3A0A-2D4E-A6FC-ECDD7B7D95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5C4703-F5C6-2744-8B7B-03BB3B4213D6}" type="datetime1">
              <a:rPr lang="en-US" smtClean="0"/>
              <a:t>2/9/22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314094B-1191-E241-8C89-36BB63263D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Verifying Cyber-Physical Systems - Book Review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F793B73-D72F-7646-8768-19A32AEA45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15108C-154A-4A5A-9C05-91A49A422BA7}" type="slidenum">
              <a:rPr lang="en-US" smtClean="0"/>
              <a:t>11</a:t>
            </a:fld>
            <a:endParaRPr lang="en-US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BBBED39B-AFB3-484E-A4CE-B7D6E29D2E6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55364" y="3008098"/>
            <a:ext cx="3983659" cy="452879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EA1CEC04-22C6-894E-9FBC-E57D6AB7650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44265" y="4218400"/>
            <a:ext cx="3105014" cy="352991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4444C9E0-36A2-864E-96A1-B0464599D46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37106" y="4192864"/>
            <a:ext cx="2388428" cy="344899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84F313B2-049D-7046-A3FD-954AB8030A7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288393" y="4609105"/>
            <a:ext cx="4477945" cy="2881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8318549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6FD6BC-C118-F643-9078-7A47A238C5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1079" y="0"/>
            <a:ext cx="10325000" cy="1442463"/>
          </a:xfrm>
        </p:spPr>
        <p:txBody>
          <a:bodyPr/>
          <a:lstStyle/>
          <a:p>
            <a:pPr algn="ctr"/>
            <a:r>
              <a:rPr lang="en-US" dirty="0"/>
              <a:t>Automata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EFF3A67A-1EF7-284B-835B-75465928F1D0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691079" y="1678827"/>
                <a:ext cx="10325000" cy="4572886"/>
              </a:xfrm>
            </p:spPr>
            <p:txBody>
              <a:bodyPr>
                <a:normAutofit/>
              </a:bodyPr>
              <a:lstStyle/>
              <a:p>
                <a:r>
                  <a:rPr lang="en-US" dirty="0"/>
                  <a:t>An automaton </a:t>
                </a:r>
                <a14:m>
                  <m:oMath xmlns:m="http://schemas.openxmlformats.org/officeDocument/2006/math">
                    <m:r>
                      <a:rPr lang="en-US" b="1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𝓐</m:t>
                    </m:r>
                  </m:oMath>
                </a14:m>
                <a:r>
                  <a:rPr lang="en-US" b="1" dirty="0"/>
                  <a:t> </a:t>
                </a:r>
                <a:r>
                  <a:rPr lang="en-US" dirty="0"/>
                  <a:t>is a tuple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b="1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1" i="1" smtClean="0">
                            <a:latin typeface="Cambria Math" panose="02040503050406030204" pitchFamily="18" charset="0"/>
                          </a:rPr>
                          <m:t>𝑽</m:t>
                        </m:r>
                        <m:r>
                          <a:rPr lang="en-US" b="1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b="1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𝚯</m:t>
                        </m:r>
                        <m:r>
                          <a:rPr lang="en-US" b="1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,</m:t>
                        </m:r>
                        <m:r>
                          <a:rPr lang="en-US" b="1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𝑨</m:t>
                        </m:r>
                        <m:r>
                          <a:rPr lang="en-US" b="1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,</m:t>
                        </m:r>
                        <m:r>
                          <a:rPr lang="en-US" b="1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𝓓</m:t>
                        </m:r>
                      </m:e>
                    </m:d>
                  </m:oMath>
                </a14:m>
                <a:r>
                  <a:rPr lang="en-US" dirty="0"/>
                  <a:t>, where </a:t>
                </a:r>
                <a:r>
                  <a:rPr lang="en-US" b="1" dirty="0"/>
                  <a:t> </a:t>
                </a:r>
                <a:endParaRPr lang="en-US" dirty="0"/>
              </a:p>
              <a:p>
                <a:pPr marL="457200" indent="-457200">
                  <a:buFont typeface="+mj-lt"/>
                  <a:buAutoNum type="arabicPeriod"/>
                </a:pPr>
                <a:r>
                  <a:rPr lang="en-US" dirty="0"/>
                  <a:t>V is a set of state variables and </a:t>
                </a:r>
                <a:r>
                  <a:rPr lang="en-US" dirty="0" err="1"/>
                  <a:t>val</a:t>
                </a:r>
                <a:r>
                  <a:rPr lang="en-US" dirty="0"/>
                  <a:t>(V) is valuations of V</a:t>
                </a:r>
              </a:p>
              <a:p>
                <a:pPr marL="457200" indent="-457200">
                  <a:buFont typeface="+mj-lt"/>
                  <a:buAutoNum type="arabicPeriod"/>
                </a:pP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𝛩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⊆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𝑣𝑎𝑙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(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𝐶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dirty="0"/>
                  <a:t> is a set of start states</a:t>
                </a:r>
              </a:p>
              <a:p>
                <a:pPr marL="457200" indent="-457200">
                  <a:buFont typeface="+mj-lt"/>
                  <a:buAutoNum type="arabicPeriod"/>
                </a:pPr>
                <a:r>
                  <a:rPr lang="en-US" dirty="0"/>
                  <a:t>A is a set of actions</a:t>
                </a:r>
              </a:p>
              <a:p>
                <a:pPr marL="457200" indent="-457200">
                  <a:buFont typeface="+mj-lt"/>
                  <a:buAutoNum type="arabicPeriod"/>
                </a:pPr>
                <a14:m>
                  <m:oMath xmlns:m="http://schemas.openxmlformats.org/officeDocument/2006/math">
                    <m:r>
                      <a:rPr lang="en-US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𝒟</m:t>
                    </m:r>
                    <m:r>
                      <a:rPr lang="en-US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⊆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𝑣𝑎𝑙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(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𝑉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)×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𝐴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𝑣𝑎𝑙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(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𝑉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dirty="0"/>
                  <a:t> is called the set of transitions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EFF3A67A-1EF7-284B-835B-75465928F1D0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91079" y="1678827"/>
                <a:ext cx="10325000" cy="4572886"/>
              </a:xfrm>
              <a:blipFill>
                <a:blip r:embed="rId2"/>
                <a:stretch>
                  <a:fillRect l="-246" t="-55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FDC676C-3A0A-2D4E-A6FC-ECDD7B7D95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5C4703-F5C6-2744-8B7B-03BB3B4213D6}" type="datetime1">
              <a:rPr lang="en-US" smtClean="0"/>
              <a:t>2/9/22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314094B-1191-E241-8C89-36BB63263D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Verifying Cyber-Physical Systems - Book Review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F793B73-D72F-7646-8768-19A32AEA45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15108C-154A-4A5A-9C05-91A49A422BA7}" type="slidenum">
              <a:rPr lang="en-US" smtClean="0"/>
              <a:t>12</a:t>
            </a:fld>
            <a:endParaRPr lang="en-US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70CB094E-CD10-364C-A96C-4DB837994C0A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45621" t="8604" b="34315"/>
          <a:stretch/>
        </p:blipFill>
        <p:spPr>
          <a:xfrm>
            <a:off x="6712796" y="4191253"/>
            <a:ext cx="4310775" cy="1803272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EE4C9084-2952-8A46-8F76-166111213EA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84612" y="4343759"/>
            <a:ext cx="4663937" cy="14982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2653838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4F0AF6-9462-7A4E-B1EB-3C95DE9CDE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1079" y="725952"/>
            <a:ext cx="10325000" cy="705284"/>
          </a:xfrm>
        </p:spPr>
        <p:txBody>
          <a:bodyPr>
            <a:normAutofit fontScale="90000"/>
          </a:bodyPr>
          <a:lstStyle/>
          <a:p>
            <a:pPr algn="ctr"/>
            <a:r>
              <a:rPr lang="en-US" dirty="0"/>
              <a:t>Semantics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F6E51C47-D1FA-0940-B555-75CF9CD3C8A4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691079" y="1503698"/>
                <a:ext cx="10325000" cy="4400869"/>
              </a:xfrm>
            </p:spPr>
            <p:txBody>
              <a:bodyPr/>
              <a:lstStyle/>
              <a:p>
                <a:r>
                  <a:rPr lang="en-US" b="1" dirty="0"/>
                  <a:t>Execution </a:t>
                </a:r>
                <a14:m>
                  <m:oMath xmlns:m="http://schemas.openxmlformats.org/officeDocument/2006/math">
                    <m:r>
                      <a:rPr lang="en-US" b="1" i="0" smtClean="0">
                        <a:latin typeface="Cambria Math" panose="02040503050406030204" pitchFamily="18" charset="0"/>
                      </a:rPr>
                      <m:t>(</m:t>
                    </m:r>
                    <m:sSub>
                      <m:sSub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𝐸𝑥𝑐𝑒𝑠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𝒜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𝛩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))</m:t>
                    </m:r>
                  </m:oMath>
                </a14:m>
                <a:r>
                  <a:rPr lang="en-US" dirty="0"/>
                  <a:t>: an alternating, possibly infinite, sequence of states and actions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, 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, 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,…</m:t>
                    </m:r>
                  </m:oMath>
                </a14:m>
                <a:endParaRPr lang="en-US" dirty="0"/>
              </a:p>
              <a:p>
                <a:pPr marL="571500" lvl="1" indent="-342900">
                  <a:buFont typeface="+mj-lt"/>
                  <a:buAutoNum type="arabicPeriod"/>
                </a:pPr>
                <a:r>
                  <a:rPr lang="en-US" dirty="0"/>
                  <a:t>Each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dirty="0"/>
                  <a:t> is a state </a:t>
                </a:r>
                <a:r>
                  <a:rPr lang="en-US" dirty="0" err="1"/>
                  <a:t>val</a:t>
                </a:r>
                <a:r>
                  <a:rPr lang="en-US" dirty="0"/>
                  <a:t>(V)</a:t>
                </a:r>
              </a:p>
              <a:p>
                <a:pPr marL="571500" lvl="1" indent="-342900">
                  <a:buFont typeface="+mj-lt"/>
                  <a:buAutoNum type="arabicPeriod"/>
                </a:pPr>
                <a:r>
                  <a:rPr lang="en-US" dirty="0"/>
                  <a:t>Each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dirty="0"/>
                  <a:t> is an action in A</a:t>
                </a:r>
              </a:p>
              <a:p>
                <a:pPr marL="571500" lvl="1" indent="-342900">
                  <a:buFont typeface="+mj-lt"/>
                  <a:buAutoNum type="arabicPeriod"/>
                </a:pPr>
                <a:r>
                  <a:rPr lang="en-US" dirty="0"/>
                  <a:t>Each consecutive triple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(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i="1">
                        <a:latin typeface="Cambria Math" panose="02040503050406030204" pitchFamily="18" charset="0"/>
                      </a:rPr>
                      <m:t>, 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+1</m:t>
                        </m:r>
                      </m:sub>
                    </m:sSub>
                    <m:r>
                      <a:rPr lang="en-US" i="1">
                        <a:latin typeface="Cambria Math" panose="02040503050406030204" pitchFamily="18" charset="0"/>
                      </a:rPr>
                      <m:t>, 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+1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dirty="0"/>
                  <a:t> is a valid transition in </a:t>
                </a:r>
                <a14:m>
                  <m:oMath xmlns:m="http://schemas.openxmlformats.org/officeDocument/2006/math">
                    <m:r>
                      <a:rPr lang="en-US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𝒟</m:t>
                    </m:r>
                  </m:oMath>
                </a14:m>
                <a:endParaRPr lang="en-US" dirty="0"/>
              </a:p>
              <a:p>
                <a:r>
                  <a:rPr lang="en-US" b="1" dirty="0"/>
                  <a:t>Reachable state </a:t>
                </a:r>
                <a14:m>
                  <m:oMath xmlns:m="http://schemas.openxmlformats.org/officeDocument/2006/math">
                    <m:r>
                      <a:rPr lang="en-US" b="1">
                        <a:latin typeface="Cambria Math" panose="02040503050406030204" pitchFamily="18" charset="0"/>
                      </a:rPr>
                      <m:t>(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𝑅𝑒𝑎𝑐h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𝒜</m:t>
                        </m:r>
                      </m:sub>
                    </m:sSub>
                    <m:r>
                      <a:rPr lang="en-US" i="1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𝛩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))</m:t>
                    </m:r>
                  </m:oMath>
                </a14:m>
                <a:r>
                  <a:rPr lang="en-US" dirty="0"/>
                  <a:t>: a state is reachable if there exists a finite execution that ends at v</a:t>
                </a:r>
              </a:p>
              <a:p>
                <a:r>
                  <a:rPr lang="en-US" b="1" dirty="0"/>
                  <a:t>Invariant: </a:t>
                </a:r>
                <a:r>
                  <a:rPr lang="en-US" dirty="0"/>
                  <a:t>a set of states </a:t>
                </a:r>
                <a14:m>
                  <m:oMath xmlns:m="http://schemas.openxmlformats.org/officeDocument/2006/math">
                    <m:r>
                      <a:rPr lang="en-US" b="1" i="1" smtClean="0">
                        <a:latin typeface="Cambria Math" panose="02040503050406030204" pitchFamily="18" charset="0"/>
                      </a:rPr>
                      <m:t>𝑺</m:t>
                    </m:r>
                  </m:oMath>
                </a14:m>
                <a:r>
                  <a:rPr lang="en-US" dirty="0"/>
                  <a:t> that contains all of </a:t>
                </a:r>
                <a14:m>
                  <m:oMath xmlns:m="http://schemas.openxmlformats.org/officeDocument/2006/math">
                    <m:r>
                      <a:rPr lang="en-US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𝒜</m:t>
                    </m:r>
                  </m:oMath>
                </a14:m>
                <a:r>
                  <a:rPr lang="en-US" dirty="0"/>
                  <a:t>’s reachable states  </a:t>
                </a:r>
                <a:endParaRPr lang="en-US" b="1" dirty="0"/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F6E51C47-D1FA-0940-B555-75CF9CD3C8A4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91079" y="1503698"/>
                <a:ext cx="10325000" cy="4400869"/>
              </a:xfrm>
              <a:blipFill>
                <a:blip r:embed="rId2"/>
                <a:stretch>
                  <a:fillRect l="-246" t="-575" r="-110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8865BEA-B6C8-DF44-94DB-5219F83B9D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A606F8-9FB9-6644-8833-EA66FF358F0B}" type="datetime1">
              <a:rPr lang="en-US" smtClean="0"/>
              <a:t>2/9/22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5CD0237-4BAF-3B4E-B98B-A467FC6750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Verifying Cyber-Physical Systems - Book Review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3F92272-23B4-F74B-BB17-A2A40F70A2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15108C-154A-4A5A-9C05-91A49A422BA7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423632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5CD7FF-FEF6-5D4C-B826-F82F619C306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40206" y="2196942"/>
            <a:ext cx="10325000" cy="1442463"/>
          </a:xfrm>
        </p:spPr>
        <p:txBody>
          <a:bodyPr/>
          <a:lstStyle/>
          <a:p>
            <a:pPr algn="ctr"/>
            <a:r>
              <a:rPr lang="en-US" dirty="0"/>
              <a:t>Thank You!!!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5710AB9-FD07-2E40-8BFC-5A664CC2E1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111301-637C-E740-8D11-A7EE68D71AF3}" type="datetime1">
              <a:rPr lang="en-US" smtClean="0"/>
              <a:t>2/9/22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965A290-AF33-5441-883D-1F105853C3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91079" y="308825"/>
            <a:ext cx="4114800" cy="417126"/>
          </a:xfrm>
        </p:spPr>
        <p:txBody>
          <a:bodyPr/>
          <a:lstStyle/>
          <a:p>
            <a:r>
              <a:rPr lang="en-US"/>
              <a:t>Verifying Cyber-Physical Systems - Book Review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9665AA5-600D-304B-93AA-E1005C8ECC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15108C-154A-4A5A-9C05-91A49A422BA7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28013110"/>
      </p:ext>
    </p:extLst>
  </p:cSld>
  <p:clrMapOvr>
    <a:masterClrMapping/>
  </p:clrMapOvr>
</p:sld>
</file>

<file path=ppt/theme/theme1.xml><?xml version="1.0" encoding="utf-8"?>
<a:theme xmlns:a="http://schemas.openxmlformats.org/drawingml/2006/main" name="CosineVTI">
  <a:themeElements>
    <a:clrScheme name="AnalogousFromLightSeedLeftStep">
      <a:dk1>
        <a:srgbClr val="000000"/>
      </a:dk1>
      <a:lt1>
        <a:srgbClr val="FFFFFF"/>
      </a:lt1>
      <a:dk2>
        <a:srgbClr val="24393F"/>
      </a:dk2>
      <a:lt2>
        <a:srgbClr val="E8E6E2"/>
      </a:lt2>
      <a:accent1>
        <a:srgbClr val="7CA2E1"/>
      </a:accent1>
      <a:accent2>
        <a:srgbClr val="46B0CB"/>
      </a:accent2>
      <a:accent3>
        <a:srgbClr val="59B29F"/>
      </a:accent3>
      <a:accent4>
        <a:srgbClr val="4FB675"/>
      </a:accent4>
      <a:accent5>
        <a:srgbClr val="55B850"/>
      </a:accent5>
      <a:accent6>
        <a:srgbClr val="7AB04C"/>
      </a:accent6>
      <a:hlink>
        <a:srgbClr val="967F5B"/>
      </a:hlink>
      <a:folHlink>
        <a:srgbClr val="7F7F7F"/>
      </a:folHlink>
    </a:clrScheme>
    <a:fontScheme name="Custom 50">
      <a:majorFont>
        <a:latin typeface="Grandview"/>
        <a:ea typeface=""/>
        <a:cs typeface=""/>
      </a:majorFont>
      <a:minorFont>
        <a:latin typeface="Grandview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osineVTI" id="{4F4449D5-5E9D-4D83-9E2A-939F9CF20276}" vid="{03166EA1-370F-4321-A61E-8851365B4312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2757</TotalTime>
  <Words>763</Words>
  <Application>Microsoft Macintosh PowerPoint</Application>
  <PresentationFormat>Widescreen</PresentationFormat>
  <Paragraphs>148</Paragraphs>
  <Slides>14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20" baseType="lpstr">
      <vt:lpstr>Arial</vt:lpstr>
      <vt:lpstr>Calibri</vt:lpstr>
      <vt:lpstr>Cambria Math</vt:lpstr>
      <vt:lpstr>Grandview</vt:lpstr>
      <vt:lpstr>Wingdings</vt:lpstr>
      <vt:lpstr>CosineVTI</vt:lpstr>
      <vt:lpstr>Verifying Cyber-Physical Systems</vt:lpstr>
      <vt:lpstr>Chapter 1:  INTRODUCTION</vt:lpstr>
      <vt:lpstr>Introduction</vt:lpstr>
      <vt:lpstr>Testing Vs Verification </vt:lpstr>
      <vt:lpstr>Verification</vt:lpstr>
      <vt:lpstr>System Design Ecosystem</vt:lpstr>
      <vt:lpstr>Challenges of Verification</vt:lpstr>
      <vt:lpstr>Chapter 2:  MODELING COMPUTATION</vt:lpstr>
      <vt:lpstr>Introduction</vt:lpstr>
      <vt:lpstr>Example: JK Flip-Flop </vt:lpstr>
      <vt:lpstr>Specifying automata</vt:lpstr>
      <vt:lpstr>Automata</vt:lpstr>
      <vt:lpstr>Semantics</vt:lpstr>
      <vt:lpstr>Thank You!!!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Verifying CPS</dc:title>
  <dc:creator>Taye, Abenezer Girma</dc:creator>
  <cp:lastModifiedBy>Taye, Abenezer Girma</cp:lastModifiedBy>
  <cp:revision>23</cp:revision>
  <dcterms:created xsi:type="dcterms:W3CDTF">2022-02-06T22:43:37Z</dcterms:created>
  <dcterms:modified xsi:type="dcterms:W3CDTF">2022-02-09T14:33:32Z</dcterms:modified>
</cp:coreProperties>
</file>