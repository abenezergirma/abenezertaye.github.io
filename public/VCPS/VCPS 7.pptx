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33" r:id="rId2"/>
    <p:sldId id="485" r:id="rId3"/>
    <p:sldId id="520" r:id="rId4"/>
    <p:sldId id="509" r:id="rId5"/>
    <p:sldId id="511" r:id="rId6"/>
    <p:sldId id="512" r:id="rId7"/>
    <p:sldId id="513" r:id="rId8"/>
    <p:sldId id="514" r:id="rId9"/>
    <p:sldId id="515" r:id="rId10"/>
    <p:sldId id="516" r:id="rId11"/>
    <p:sldId id="517" r:id="rId12"/>
    <p:sldId id="519" r:id="rId13"/>
    <p:sldId id="481" r:id="rId14"/>
  </p:sldIdLst>
  <p:sldSz cx="13817600" cy="7772400"/>
  <p:notesSz cx="6858000" cy="9144000"/>
  <p:defaultTextStyle>
    <a:defPPr>
      <a:defRPr lang="en-US"/>
    </a:defPPr>
    <a:lvl1pPr marL="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1" userDrawn="1">
          <p15:clr>
            <a:srgbClr val="A4A3A4"/>
          </p15:clr>
        </p15:guide>
        <p15:guide id="2" pos="56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nsay Belshe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36E"/>
    <a:srgbClr val="FEEBAD"/>
    <a:srgbClr val="6AB834"/>
    <a:srgbClr val="A65310"/>
    <a:srgbClr val="63A7DE"/>
    <a:srgbClr val="FEB91E"/>
    <a:srgbClr val="D5C2A3"/>
    <a:srgbClr val="D9002A"/>
    <a:srgbClr val="1183CC"/>
    <a:srgbClr val="BAA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0" autoAdjust="0"/>
    <p:restoredTop sz="96327" autoAdjust="0"/>
  </p:normalViewPr>
  <p:slideViewPr>
    <p:cSldViewPr snapToGrid="0" snapToObjects="1">
      <p:cViewPr varScale="1">
        <p:scale>
          <a:sx n="113" d="100"/>
          <a:sy n="113" d="100"/>
        </p:scale>
        <p:origin x="456" y="184"/>
      </p:cViewPr>
      <p:guideLst>
        <p:guide orient="horz" pos="1291"/>
        <p:guide pos="56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3477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BD65-4128-AD4A-BC65-DD1A35B82098}" type="datetimeFigureOut">
              <a:rPr lang="en-US" smtClean="0"/>
              <a:t>10/9/22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A848-6AD5-7B49-A3B8-7D8D442B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182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FF99-B266-BA4A-9211-5D0EF0728BF9}" type="datetimeFigureOut">
              <a:rPr lang="en-US" smtClean="0"/>
              <a:t>10/9/22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D469F-60C6-C644-BD5F-F6073AC48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0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63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31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9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47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9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30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86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0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58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39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6320" y="2414482"/>
            <a:ext cx="11762456" cy="1666028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sz="494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6320" y="4404360"/>
            <a:ext cx="11762456" cy="1986280"/>
          </a:xfrm>
          <a:prstGeom prst="rect">
            <a:avLst/>
          </a:prstGeom>
        </p:spPr>
        <p:txBody>
          <a:bodyPr lIns="91308" tIns="45652" rIns="91308" bIns="45652"/>
          <a:lstStyle>
            <a:lvl1pPr marL="0" indent="0" algn="l">
              <a:buNone/>
              <a:defRPr sz="2473">
                <a:solidFill>
                  <a:schemeClr val="tx1"/>
                </a:solidFill>
                <a:latin typeface="Avenir Medium"/>
                <a:cs typeface="Avenir Medium"/>
              </a:defRPr>
            </a:lvl1pPr>
            <a:lvl2pPr marL="698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97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9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93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91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90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89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 flipV="1">
            <a:off x="1036319" y="4248241"/>
            <a:ext cx="117624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A10A-7F51-3F22-A5DE-17A1DF223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196E-6DC2-E122-768C-C9A812E319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7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ayout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H="1">
            <a:off x="9367650" y="4378273"/>
            <a:ext cx="3759072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810523" y="1689330"/>
            <a:ext cx="834429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9367650" y="1813561"/>
            <a:ext cx="375907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9367650" y="4520428"/>
            <a:ext cx="375907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9198892" y="1813584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810523" y="121370"/>
            <a:ext cx="10167899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343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/>
          </p:nvPr>
        </p:nvSpPr>
        <p:spPr>
          <a:xfrm>
            <a:off x="9367654" y="3060395"/>
            <a:ext cx="3759713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"/>
                <a:cs typeface="Avenir"/>
              </a:defRPr>
            </a:lvl1pPr>
            <a:lvl2pPr>
              <a:defRPr b="0" i="0">
                <a:solidFill>
                  <a:srgbClr val="000000"/>
                </a:solidFill>
                <a:latin typeface="Avenir"/>
                <a:cs typeface="Avenir"/>
              </a:defRPr>
            </a:lvl2pPr>
            <a:lvl3pPr>
              <a:defRPr b="0" i="0">
                <a:solidFill>
                  <a:srgbClr val="000000"/>
                </a:solidFill>
                <a:latin typeface="Avenir"/>
                <a:cs typeface="Avenir"/>
              </a:defRPr>
            </a:lvl3pPr>
            <a:lvl4pPr>
              <a:defRPr b="0" i="0">
                <a:solidFill>
                  <a:srgbClr val="000000"/>
                </a:solidFill>
                <a:latin typeface="Avenir"/>
                <a:cs typeface="Avenir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2"/>
          <p:cNvSpPr>
            <a:spLocks noGrp="1"/>
          </p:cNvSpPr>
          <p:nvPr>
            <p:ph type="body" sz="quarter" idx="18"/>
          </p:nvPr>
        </p:nvSpPr>
        <p:spPr>
          <a:xfrm>
            <a:off x="9367654" y="5729429"/>
            <a:ext cx="3759713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810523" y="4864859"/>
            <a:ext cx="834473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747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2473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2198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923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810523" y="779625"/>
            <a:ext cx="10048279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10523" y="863219"/>
            <a:ext cx="10166927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2473" b="1" kern="0" cap="all" spc="165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77AD98-F639-814A-DC5D-460532E5583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29128-9A40-700E-4524-C8EBF4358E7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691318" y="1813570"/>
            <a:ext cx="3764821" cy="5128719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747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2473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2198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923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90881" y="760053"/>
            <a:ext cx="10167899" cy="563131"/>
          </a:xfrm>
          <a:prstGeom prst="rect">
            <a:avLst/>
          </a:prstGeom>
        </p:spPr>
        <p:txBody>
          <a:bodyPr lIns="91298" tIns="45647" rIns="91298" bIns="45647"/>
          <a:lstStyle>
            <a:lvl1pPr>
              <a:lnSpc>
                <a:spcPct val="130000"/>
              </a:lnSpc>
              <a:defRPr sz="3434" spc="0"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91323" y="1369060"/>
            <a:ext cx="10166927" cy="444500"/>
          </a:xfrm>
          <a:prstGeom prst="rect">
            <a:avLst/>
          </a:prstGeom>
        </p:spPr>
        <p:txBody>
          <a:bodyPr vert="horz" lIns="91298" tIns="45647" rIns="91298" bIns="45647"/>
          <a:lstStyle>
            <a:lvl1pPr marL="0" indent="0">
              <a:buNone/>
              <a:defRPr sz="2473" b="1" kern="0" cap="all" spc="0">
                <a:solidFill>
                  <a:srgbClr val="08436E"/>
                </a:solidFill>
                <a:latin typeface="Verdana"/>
                <a:cs typeface="Verdana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4782012" y="1813569"/>
            <a:ext cx="8344299" cy="2877599"/>
          </a:xfrm>
          <a:prstGeom prst="rect">
            <a:avLst/>
          </a:prstGeom>
        </p:spPr>
        <p:txBody>
          <a:bodyPr lIns="91298" tIns="45647" rIns="91298" bIns="45647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4781550" y="4814363"/>
            <a:ext cx="8344739" cy="2127916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747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2473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2198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923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C885BC-B151-73B3-FEA2-275F4DA7C75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3286E-9FF7-F9B4-6848-29498FC45B2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7352227"/>
            <a:ext cx="13817601" cy="428278"/>
          </a:xfrm>
          <a:prstGeom prst="rect">
            <a:avLst/>
          </a:prstGeom>
          <a:solidFill>
            <a:srgbClr val="084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 b="1">
              <a:ln>
                <a:noFill/>
              </a:ln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-1" y="7328691"/>
            <a:ext cx="13817601" cy="45720"/>
          </a:xfrm>
          <a:prstGeom prst="rect">
            <a:avLst/>
          </a:prstGeom>
          <a:solidFill>
            <a:srgbClr val="118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7174109" y="7405335"/>
            <a:ext cx="6018548" cy="338121"/>
          </a:xfrm>
          <a:prstGeom prst="rect">
            <a:avLst/>
          </a:prstGeom>
          <a:noFill/>
        </p:spPr>
        <p:txBody>
          <a:bodyPr wrap="square" lIns="125433" tIns="62714" rIns="125433" bIns="62714" rtlCol="0" anchor="ctr">
            <a:spAutoFit/>
          </a:bodyPr>
          <a:lstStyle/>
          <a:p>
            <a:pPr algn="r"/>
            <a:r>
              <a:rPr lang="en-US" sz="1374" b="1" kern="0" cap="all" spc="165" dirty="0">
                <a:solidFill>
                  <a:srgbClr val="1183CC"/>
                </a:solidFill>
                <a:latin typeface="Avenir Black"/>
                <a:cs typeface="Avenir Black"/>
              </a:rPr>
              <a:t>The George Washington University</a:t>
            </a:r>
          </a:p>
        </p:txBody>
      </p:sp>
      <p:pic>
        <p:nvPicPr>
          <p:cNvPr id="6" name="Picture 5" descr="gw_txt_4cp_pos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6977" y="216490"/>
            <a:ext cx="1500397" cy="8343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74A8A-BFC3-1A7B-060A-0ECE1FBC2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89A34-57A7-432C-1297-465A3C34F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9" r:id="rId3"/>
  </p:sldLayoutIdLst>
  <p:hf hdr="0" ftr="0" dt="0"/>
  <p:txStyles>
    <p:titleStyle>
      <a:lvl1pPr algn="l" defTabSz="698642" rtl="0" eaLnBrk="1" latinLnBrk="0" hangingPunct="1">
        <a:spcBef>
          <a:spcPct val="0"/>
        </a:spcBef>
        <a:buNone/>
        <a:defRPr sz="3846" b="1" i="0" kern="0" cap="all" spc="165" baseline="0">
          <a:solidFill>
            <a:srgbClr val="08436E"/>
          </a:solidFill>
          <a:latin typeface="AvenirNext LT Pro Bold"/>
          <a:ea typeface="+mj-ea"/>
          <a:cs typeface="AvenirNext LT Pro Bold"/>
        </a:defRPr>
      </a:lvl1pPr>
    </p:titleStyle>
    <p:bodyStyle>
      <a:lvl1pPr marL="311338" indent="-311338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219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624854" indent="-313518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tabLst/>
        <a:defRPr sz="1923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857819" indent="-232962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64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090781" indent="-232962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511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118414" indent="-232962" algn="r" defTabSz="698642" rtl="0" eaLnBrk="1" latinLnBrk="0" hangingPunct="1">
        <a:spcBef>
          <a:spcPct val="20000"/>
        </a:spcBef>
        <a:buFont typeface="Arial"/>
        <a:buChar char="•"/>
        <a:tabLst/>
        <a:defRPr sz="164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3842525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6pPr>
      <a:lvl7pPr marL="4541165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7pPr>
      <a:lvl8pPr marL="5239806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8pPr>
      <a:lvl9pPr marL="5938442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1pPr>
      <a:lvl2pPr marL="698642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2pPr>
      <a:lvl3pPr marL="1397281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095923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4pPr>
      <a:lvl5pPr marL="2794560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5pPr>
      <a:lvl6pPr marL="3493206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6pPr>
      <a:lvl7pPr marL="4191841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7pPr>
      <a:lvl8pPr marL="4890487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8pPr>
      <a:lvl9pPr marL="5589124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12F166-26A4-F264-E8CC-86F355D67CAA}"/>
              </a:ext>
            </a:extLst>
          </p:cNvPr>
          <p:cNvSpPr txBox="1"/>
          <p:nvPr/>
        </p:nvSpPr>
        <p:spPr>
          <a:xfrm>
            <a:off x="1344201" y="2185812"/>
            <a:ext cx="1135261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8436E"/>
                </a:solidFill>
                <a:latin typeface="+mj-lt"/>
              </a:rPr>
              <a:t>Verifying Cyber-Physical Systems</a:t>
            </a:r>
          </a:p>
          <a:p>
            <a:pPr algn="ctr"/>
            <a:r>
              <a:rPr lang="en-US" sz="4400" dirty="0">
                <a:solidFill>
                  <a:srgbClr val="08436E"/>
                </a:solidFill>
                <a:latin typeface="+mj-lt"/>
              </a:rPr>
              <a:t> </a:t>
            </a:r>
          </a:p>
          <a:p>
            <a:pPr algn="ctr"/>
            <a:r>
              <a:rPr lang="en-US" sz="3600" dirty="0">
                <a:solidFill>
                  <a:srgbClr val="08436E"/>
                </a:solidFill>
                <a:latin typeface="+mj-lt"/>
              </a:rPr>
              <a:t>Chapter 7 – Verifying Invariants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9A615E-44A7-CEA7-A0C6-B46233468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F0B33B8-8000-8D8A-F786-AF3F99146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283" y="4611189"/>
            <a:ext cx="11762456" cy="325086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Abenezer Taye</a:t>
            </a:r>
          </a:p>
          <a:p>
            <a:pPr algn="ctr"/>
            <a:endParaRPr lang="en-US" dirty="0">
              <a:solidFill>
                <a:srgbClr val="08436E"/>
              </a:solidFill>
              <a:latin typeface="+mj-lt"/>
            </a:endParaRPr>
          </a:p>
          <a:p>
            <a:pPr algn="ctr"/>
            <a:r>
              <a:rPr lang="en-US" sz="2400" dirty="0">
                <a:solidFill>
                  <a:srgbClr val="08436E"/>
                </a:solidFill>
                <a:latin typeface="+mj-lt"/>
              </a:rPr>
              <a:t>Oct 10, 2022</a:t>
            </a:r>
          </a:p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915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System Design Ecosystem</a:t>
            </a:r>
          </a:p>
        </p:txBody>
      </p:sp>
      <p:pic>
        <p:nvPicPr>
          <p:cNvPr id="33" name="Content Placeholder 6">
            <a:extLst>
              <a:ext uri="{FF2B5EF4-FFF2-40B4-BE49-F238E27FC236}">
                <a16:creationId xmlns:a16="http://schemas.microsoft.com/office/drawing/2014/main" id="{6F0E0D5D-C90C-0BBB-9FED-2A77EC9D2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431" y="2024223"/>
            <a:ext cx="9094888" cy="4328817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B8BF05A-626F-DFE6-F056-62B2538BBA5D}"/>
              </a:ext>
            </a:extLst>
          </p:cNvPr>
          <p:cNvSpPr/>
          <p:nvPr/>
        </p:nvSpPr>
        <p:spPr>
          <a:xfrm>
            <a:off x="4368800" y="3589867"/>
            <a:ext cx="1828152" cy="72248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5F90FF6-B295-EE38-E5EF-0E2882AB424C}"/>
              </a:ext>
            </a:extLst>
          </p:cNvPr>
          <p:cNvSpPr/>
          <p:nvPr/>
        </p:nvSpPr>
        <p:spPr>
          <a:xfrm>
            <a:off x="4368800" y="4435258"/>
            <a:ext cx="1828152" cy="72248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9FA7B0E-72AF-445F-8801-D39B36AF743E}"/>
              </a:ext>
            </a:extLst>
          </p:cNvPr>
          <p:cNvSpPr/>
          <p:nvPr/>
        </p:nvSpPr>
        <p:spPr>
          <a:xfrm>
            <a:off x="6908800" y="3886199"/>
            <a:ext cx="1828152" cy="9341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3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882" y="1839801"/>
                <a:ext cx="12505829" cy="4697660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An invariant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for a system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 requirement that </a:t>
                </a: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always holds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never violated in any execution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Formally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: for a hybrid automata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=&lt;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, an invariant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 subset of the state-space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such that all the reachable states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are contained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. </a:t>
                </a:r>
                <a:endParaRPr lang="en-US" sz="2000" dirty="0"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2" y="1839801"/>
                <a:ext cx="12505829" cy="469766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What is an invariant?</a:t>
            </a:r>
          </a:p>
        </p:txBody>
      </p:sp>
      <p:pic>
        <p:nvPicPr>
          <p:cNvPr id="23" name="Picture 2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EB950BC-3EDF-DDFF-F711-9EA739C09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066" y="3886200"/>
            <a:ext cx="6096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4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2" y="1839801"/>
            <a:ext cx="12505829" cy="4697660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The idea of Invariants dates to the classical program analysis technique called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Floyd-Hoare style verification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(Floyd, 1967).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Hoare logic/ Floyd-Hoare logic/ Hoare rules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– provides a set of logical rules for rigorously deducing the correctness of automata or programs.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Hoare logic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is built on a notion called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Hoare triple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– describes how the execution of a statement changes the state of the automaton.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Hoare logic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provide axioms and inference rules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that various programming language constructs can use to infer properties from the triples.  </a:t>
            </a:r>
            <a:endParaRPr lang="en-US" sz="2000" dirty="0"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Historical perspective on invariants </a:t>
            </a:r>
          </a:p>
        </p:txBody>
      </p:sp>
    </p:spTree>
    <p:extLst>
      <p:ext uri="{BB962C8B-B14F-4D97-AF65-F5344CB8AC3E}">
        <p14:creationId xmlns:p14="http://schemas.microsoft.com/office/powerpoint/2010/main" val="278052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5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972" y="1963979"/>
                <a:ext cx="6782362" cy="5654434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Example: Fisher’s mutual exclusion algorithm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The algorithm allows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processes to coordinate and access a critical resource exclusively.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No two processes have simultaneous access, and all requesting processes eventually gain access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Our aim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: establish the correctness of a distributed mutual exclusion algorithm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𝑠𝑖𝑛𝑔𝑙𝑒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𝑠h𝑎𝑟𝑒𝑑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𝑚𝑒𝑚𝑜𝑟𝑦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𝑝h𝑎𝑠𝑒𝑠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𝑠𝑙𝑒𝑒𝑝𝑖𝑛𝑔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𝑡𝑟𝑦𝑖𝑛𝑔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𝑤𝑎𝑖𝑡𝑖𝑛𝑔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𝑐𝑟𝑖𝑡𝑖𝑐𝑎𝑙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𝑖𝑛𝑡𝑒𝑟𝑛𝑎𝑙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𝑣𝑎𝑟𝑖𝑎𝑏𝑙𝑒𝑠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𝑐𝑜𝑢𝑛𝑡𝑒𝑟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𝑡𝑖𝑚𝑒𝑟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𝑠𝑡𝑜𝑝𝑤𝑎𝑡𝑐h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72" y="1963979"/>
                <a:ext cx="6782362" cy="5654434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Proving invariants via inductive reasoning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D01A2-E9E0-4407-B0B0-0B38A2261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432" y="1572361"/>
            <a:ext cx="6068973" cy="55501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0EE80B-76C9-FBB9-F882-7DB11D3D05DD}"/>
                  </a:ext>
                </a:extLst>
              </p:cNvPr>
              <p:cNvSpPr txBox="1"/>
              <p:nvPr/>
            </p:nvSpPr>
            <p:spPr>
              <a:xfrm>
                <a:off x="498972" y="7218402"/>
                <a:ext cx="477307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𝑖𝑛𝑡𝑒𝑟𝑛𝑎𝑙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𝑎𝑐𝑡𝑖𝑜𝑛𝑠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𝑎𝑘𝑒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𝑡𝑟𝑦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𝑒𝑛𝑡𝑒𝑟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𝑒𝑥𝑖𝑡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0EE80B-76C9-FBB9-F882-7DB11D3D0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72" y="7218402"/>
                <a:ext cx="4773072" cy="553998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94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882" y="1839800"/>
                <a:ext cx="12505829" cy="5932599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Ultimate goal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: to establish the safety requirement for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that no two processes enter the critical section simultaneously.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∧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𝑐𝑟𝑖𝑡𝑖𝑐𝑎𝑙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𝑖𝑚𝑝𝑙𝑖𝑒𝑠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𝑐𝑟𝑖𝑡𝑖𝑐𝑎𝑙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Approach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: establish a sequence of simpler invariants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Invariant 1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𝑖𝑓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𝑠𝑙𝑒𝑒𝑝𝑖𝑛𝑔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𝑡𝑖𝑚𝑒𝑟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𝑜𝑡h𝑒𝑟𝑤𝑖𝑠𝑒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𝑡𝑖𝑚𝑒𝑟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</a:rPr>
                  <a:t>This simply states that for any process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, the timer is always nonnegative and stays at 0 when the process is sleeping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Invariant 2</a:t>
                </a:r>
                <a:r>
                  <a:rPr lang="en-US" sz="2000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𝑤𝑎𝑖𝑡𝑖𝑛𝑔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∧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𝑡𝑟𝑦𝑖𝑛𝑔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𝑖𝑚𝑝𝑙𝑖𝑒𝑠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𝑡𝑖𝑚𝑒𝑟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𝑡𝑖𝑚𝑒𝑟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𝑡𝑖𝑚𝑒𝑟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This asserts the gap between the timer values of two processes that are attempting to access the critical section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Invariant 3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𝑐𝑟𝑖𝑡𝑖𝑐𝑎𝑙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𝑖𝑚𝑝𝑙𝑖𝑒𝑠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𝑡𝑟𝑦𝑖𝑛𝑔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</a:rPr>
                  <a:t>If process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 is already in the critical section, then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, and no other process could be trying. 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2" y="1839800"/>
                <a:ext cx="12505829" cy="593259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Analysis of Fisher’s mutual exclusion</a:t>
            </a:r>
          </a:p>
        </p:txBody>
      </p:sp>
    </p:spTree>
    <p:extLst>
      <p:ext uri="{BB962C8B-B14F-4D97-AF65-F5344CB8AC3E}">
        <p14:creationId xmlns:p14="http://schemas.microsoft.com/office/powerpoint/2010/main" val="375074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7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882" y="1685814"/>
                <a:ext cx="12505829" cy="5932599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Two barriers to automating the process of proving invariants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Barrier 1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: automating the strengthening step 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 requires an understanding of how the system works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Barrier 2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: need for explicit trajectories for checking the trajectory condition of Theorem 7.1 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endParaRPr lang="en-US" sz="1725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Addressing barrier 2: proving invariants without solving ODEs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Main idea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look at the boundary of the invariant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and prove that the trajectories cannot escape the boundary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Lemma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is an inductive invariant of an ODE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if at every state x on the boundary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the vector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is pointing inward from the boundary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)≥0.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The above condition is called </a:t>
                </a:r>
                <a:r>
                  <a:rPr lang="en-US" sz="2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sub-tangential condition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and the boundary is called </a:t>
                </a:r>
                <a:r>
                  <a:rPr lang="en-US" sz="2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barrier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.  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2" y="1685814"/>
                <a:ext cx="12505829" cy="593259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Barriers to automated invariant proving</a:t>
            </a:r>
          </a:p>
        </p:txBody>
      </p:sp>
    </p:spTree>
    <p:extLst>
      <p:ext uri="{BB962C8B-B14F-4D97-AF65-F5344CB8AC3E}">
        <p14:creationId xmlns:p14="http://schemas.microsoft.com/office/powerpoint/2010/main" val="342607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8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2" y="1685814"/>
            <a:ext cx="12505829" cy="5932599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They can be used to construct safety proofs relative to an unsafe set.</a:t>
            </a:r>
          </a:p>
          <a:p>
            <a:pPr>
              <a:lnSpc>
                <a:spcPct val="150000"/>
              </a:lnSpc>
            </a:pPr>
            <a:r>
              <a:rPr lang="en-US" sz="2000" b="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</a:rPr>
              <a:t>Key idea: find a barrier function that separates the unsafe set from the </a:t>
            </a:r>
            <a:r>
              <a:rPr lang="en-US" sz="2000" b="0" dirty="0" err="1">
                <a:solidFill>
                  <a:schemeClr val="tx1"/>
                </a:solidFill>
                <a:latin typeface="+mn-lt"/>
                <a:ea typeface="Cambria Math" panose="02040503050406030204" pitchFamily="18" charset="0"/>
              </a:rPr>
              <a:t>reachset</a:t>
            </a:r>
            <a:r>
              <a:rPr lang="en-US" sz="2000" b="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</a:rPr>
              <a:t> </a:t>
            </a:r>
            <a:endParaRPr lang="en-US" sz="2000" b="0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Barrier certificates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E727F7D2-F5B5-D418-F70C-FDB9A68368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9" t="6565"/>
          <a:stretch/>
        </p:blipFill>
        <p:spPr>
          <a:xfrm>
            <a:off x="7487524" y="3193751"/>
            <a:ext cx="4885098" cy="1866203"/>
          </a:xfrm>
          <a:prstGeom prst="rect">
            <a:avLst/>
          </a:prstGeo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480D603D-C091-74C9-D520-1CF20DB3D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037" y="3365412"/>
            <a:ext cx="5651513" cy="15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6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9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882" y="1685814"/>
                <a:ext cx="12505829" cy="5932599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Satisfiability: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Given a propositional logic formula </a:t>
                </a:r>
                <a14:m>
                  <m:oMath xmlns:m="http://schemas.openxmlformats.org/officeDocument/2006/math">
                    <m:r>
                      <a:rPr lang="en-US" sz="1725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 over a set of variables X, decide if there is a valuation that satisfies </a:t>
                </a:r>
                <a14:m>
                  <m:oMath xmlns:m="http://schemas.openxmlformats.org/officeDocument/2006/math">
                    <m:r>
                      <a:rPr lang="en-US" sz="1725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For example: given the propositional formula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The SAT problem decides whether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Approaches to solving the SAT problem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Brute-force </a:t>
                </a:r>
                <a:r>
                  <a:rPr lang="en-US" sz="1725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 check </a:t>
                </a:r>
                <a14:m>
                  <m:oMath xmlns:m="http://schemas.openxmlformats.org/officeDocument/2006/math">
                    <m:r>
                      <a:rPr lang="en-US" sz="1725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∅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 for each possible valuation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 </a:t>
                </a:r>
                <a:r>
                  <a:rPr lang="en-US" sz="1725" dirty="0">
                    <a:solidFill>
                      <a:schemeClr val="tx1"/>
                    </a:solidFill>
                    <a:sym typeface="Wingdings" pitchFamily="2" charset="2"/>
                  </a:rPr>
                  <a:t> requires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𝑂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sSup>
                      <m:sSupPr>
                        <m:ctrlP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p>
                    </m:sSup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 operations for a set of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</a:rPr>
                  <a:t> variables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</a:rPr>
                  <a:t>Davis Putnam </a:t>
                </a:r>
                <a:r>
                  <a:rPr lang="en-US" sz="1725" dirty="0" err="1">
                    <a:solidFill>
                      <a:schemeClr val="tx1"/>
                    </a:solidFill>
                  </a:rPr>
                  <a:t>Logeman</a:t>
                </a:r>
                <a:r>
                  <a:rPr lang="en-US" sz="1725" dirty="0">
                    <a:solidFill>
                      <a:schemeClr val="tx1"/>
                    </a:solidFill>
                  </a:rPr>
                  <a:t> and Loveland (DPLL) </a:t>
                </a:r>
                <a:r>
                  <a:rPr lang="en-US" sz="1725" dirty="0">
                    <a:solidFill>
                      <a:schemeClr val="tx1"/>
                    </a:solidFill>
                    <a:sym typeface="Wingdings" pitchFamily="2" charset="2"/>
                  </a:rPr>
                  <a:t> backtracking algorithm that most solvers build on</a:t>
                </a:r>
                <a:r>
                  <a:rPr lang="en-US" sz="1725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>
                  <a:lnSpc>
                    <a:spcPct val="150000"/>
                  </a:lnSpc>
                </a:pPr>
                <a:endParaRPr lang="en-US" sz="1725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2" y="1685814"/>
                <a:ext cx="12505829" cy="593259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Satisfiability and satisfiability modulo theories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FE0C4-20B8-9040-2CE2-64E6B1D3E2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259" t="-8571" r="22840"/>
          <a:stretch/>
        </p:blipFill>
        <p:spPr>
          <a:xfrm>
            <a:off x="2940748" y="3309277"/>
            <a:ext cx="5937955" cy="298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E52B5F-A62E-3C2E-2DE6-3C37595F0D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5227" r="35160"/>
          <a:stretch/>
        </p:blipFill>
        <p:spPr>
          <a:xfrm>
            <a:off x="4611511" y="3877573"/>
            <a:ext cx="3606800" cy="3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5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10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882" y="1685814"/>
                <a:ext cx="12505829" cy="5932599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SMT is a generalization of satisfiability in which some of the binary variables are replaced by predicates over nonbinary variables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Example:</a:t>
                </a:r>
              </a:p>
              <a:p>
                <a:pPr>
                  <a:lnSpc>
                    <a:spcPct val="150000"/>
                  </a:lnSpc>
                </a:pPr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an example of a predicate in </a:t>
                </a: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difference logic (DL), 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 predicate in </a:t>
                </a: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real arithmetic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The satisfaction of predicates is defined in terms of the appropriate theories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For example: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Linear inequalities over real variables are evaluated using the rules of the theory of linear real arithmetic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Predicates involving uninterpreted function symbols are evaluated using the rules of the theory of uninterpreted functions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These theories are called background theories for SMT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An SMT solver uses theory solvers together with DPLL       </a:t>
                </a:r>
                <a:endParaRPr lang="en-US" sz="1725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1725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2" y="1685814"/>
                <a:ext cx="12505829" cy="593259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Satisfiability modulo theory (SMT)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A40C4-4743-F580-EFEF-A4A0C99FBF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008" t="1425" r="14996" b="379"/>
          <a:stretch/>
        </p:blipFill>
        <p:spPr>
          <a:xfrm>
            <a:off x="2257778" y="2901245"/>
            <a:ext cx="6062133" cy="53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6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11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2" y="1685814"/>
            <a:ext cx="12505829" cy="5932599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endParaRPr lang="en-US" sz="1725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Combine theory solvers with DPLL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471CD-5407-D81C-70EC-78E3F9A0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3" y="2810934"/>
            <a:ext cx="6606084" cy="244522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ADCFAB5-40BF-14B2-FFFD-BEE1FBD46AAB}"/>
              </a:ext>
            </a:extLst>
          </p:cNvPr>
          <p:cNvGrpSpPr/>
          <p:nvPr/>
        </p:nvGrpSpPr>
        <p:grpSpPr>
          <a:xfrm>
            <a:off x="7410022" y="2882886"/>
            <a:ext cx="5314809" cy="2824380"/>
            <a:chOff x="7037489" y="2036403"/>
            <a:chExt cx="5314809" cy="2824380"/>
          </a:xfrm>
        </p:grpSpPr>
        <p:pic>
          <p:nvPicPr>
            <p:cNvPr id="7" name="Picture 6" descr="Text, letter&#10;&#10;Description automatically generated">
              <a:extLst>
                <a:ext uri="{FF2B5EF4-FFF2-40B4-BE49-F238E27FC236}">
                  <a16:creationId xmlns:a16="http://schemas.microsoft.com/office/drawing/2014/main" id="{82338035-BB94-E5BB-7EF6-5EBA1D893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7489" y="2713841"/>
              <a:ext cx="5314809" cy="2146942"/>
            </a:xfrm>
            <a:prstGeom prst="rect">
              <a:avLst/>
            </a:prstGeom>
          </p:spPr>
        </p:pic>
        <p:pic>
          <p:nvPicPr>
            <p:cNvPr id="9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67D5A29-3C3D-B3D8-F812-C4421631B4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35541"/>
            <a:stretch/>
          </p:blipFill>
          <p:spPr>
            <a:xfrm>
              <a:off x="7037490" y="2036403"/>
              <a:ext cx="5314808" cy="70745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6508E9-9B2B-A8DD-68D7-8DC909D5A08D}"/>
              </a:ext>
            </a:extLst>
          </p:cNvPr>
          <p:cNvSpPr txBox="1"/>
          <p:nvPr/>
        </p:nvSpPr>
        <p:spPr>
          <a:xfrm>
            <a:off x="7308754" y="2410824"/>
            <a:ext cx="5517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Lazy approach </a:t>
            </a:r>
            <a:r>
              <a:rPr lang="en-US" dirty="0"/>
              <a:t>to combine theory solvers with DPLL</a:t>
            </a:r>
          </a:p>
        </p:txBody>
      </p:sp>
    </p:spTree>
    <p:extLst>
      <p:ext uri="{BB962C8B-B14F-4D97-AF65-F5344CB8AC3E}">
        <p14:creationId xmlns:p14="http://schemas.microsoft.com/office/powerpoint/2010/main" val="3444974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2" y="1685814"/>
            <a:ext cx="12505829" cy="5932599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endParaRPr lang="en-US" sz="1725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Finding and learning invariants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7">
                <a:extLst>
                  <a:ext uri="{FF2B5EF4-FFF2-40B4-BE49-F238E27FC236}">
                    <a16:creationId xmlns:a16="http://schemas.microsoft.com/office/drawing/2014/main" id="{5FBE6180-8D37-7AD7-01E2-A4ECEFA1E3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3282" y="1838214"/>
                <a:ext cx="12505829" cy="5932599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The problem of finding adequately strong invariants for hybrid automata is a challenging one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Approach 1: Invariant generation with templates: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Basic idea is to choose a template form of the invariants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 and then solve constraints imposed by Theorem 7.1 to find the unknown coefficients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One example can be using the template shape of boxes or hyperrectangles defined by parameters </a:t>
                </a:r>
                <a14:m>
                  <m:oMath xmlns:m="http://schemas.openxmlformats.org/officeDocument/2006/math"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725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725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725" dirty="0">
                  <a:solidFill>
                    <a:schemeClr val="tx1"/>
                  </a:solidFill>
                  <a:latin typeface="+mn-lt"/>
                </a:endParaRPr>
              </a:p>
              <a:p>
                <a:pPr marL="311336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𝐵𝑜𝑥</m:t>
                      </m:r>
                      <m:d>
                        <m:dPr>
                          <m:ctrlP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)||</m:t>
                      </m:r>
                      <m:sSub>
                        <m:sSubPr>
                          <m:ctrlP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725" b="0" dirty="0">
                  <a:solidFill>
                    <a:schemeClr val="tx1"/>
                  </a:solidFill>
                  <a:latin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To find an instance of the template Box, we have to solve a constraint satisfaction problem of the following form </a:t>
                </a:r>
              </a:p>
              <a:p>
                <a:pPr marL="311336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𝐵𝑜𝑥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)⟹</m:t>
                      </m:r>
                      <m:sSub>
                        <m:sSubPr>
                          <m:ctrlP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𝑃𝑜𝑠𝑡</m:t>
                          </m:r>
                        </m:e>
                        <m:sub>
                          <m:r>
                            <a:rPr lang="en-US" sz="172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𝐵𝑜𝑥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172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25" b="0" dirty="0">
                  <a:solidFill>
                    <a:schemeClr val="tx1"/>
                  </a:solidFill>
                  <a:latin typeface="+mn-lt"/>
                </a:endParaRPr>
              </a:p>
              <a:p>
                <a:pPr marL="340720" indent="-342900"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Approach 2: Learning invariants by using execution data </a:t>
                </a:r>
              </a:p>
              <a:p>
                <a:pPr marL="654236" lvl="1" indent="-342900">
                  <a:lnSpc>
                    <a:spcPct val="150000"/>
                  </a:lnSpc>
                </a:pPr>
                <a:r>
                  <a:rPr lang="en-US" sz="1725" b="0" dirty="0">
                    <a:solidFill>
                      <a:schemeClr val="tx1"/>
                    </a:solidFill>
                    <a:latin typeface="+mn-lt"/>
                  </a:rPr>
                  <a:t>(Si et al, 2018) used RL approach to find invariant from execution data </a:t>
                </a:r>
              </a:p>
              <a:p>
                <a:pPr marL="654236" lvl="1" indent="-342900">
                  <a:lnSpc>
                    <a:spcPct val="150000"/>
                  </a:lnSpc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(</a:t>
                </a:r>
                <a:r>
                  <a:rPr lang="en-US" sz="1725" dirty="0" err="1">
                    <a:solidFill>
                      <a:schemeClr val="tx1"/>
                    </a:solidFill>
                    <a:latin typeface="+mn-lt"/>
                  </a:rPr>
                  <a:t>Kozarev</a:t>
                </a: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 et al, 2016) show how SVM and RL can be used to classify whether states satisfy an invariant based on execution data</a:t>
                </a:r>
                <a:endParaRPr lang="en-US" sz="1725" b="0" dirty="0">
                  <a:solidFill>
                    <a:schemeClr val="tx1"/>
                  </a:solidFill>
                  <a:latin typeface="+mn-lt"/>
                </a:endParaRPr>
              </a:p>
              <a:p>
                <a:pPr marL="654236" lvl="1" indent="-342900">
                  <a:lnSpc>
                    <a:spcPct val="150000"/>
                  </a:lnSpc>
                </a:pPr>
                <a:endParaRPr lang="en-US" sz="1725" b="0" dirty="0">
                  <a:solidFill>
                    <a:schemeClr val="tx1"/>
                  </a:solidFill>
                  <a:latin typeface="+mn-lt"/>
                </a:endParaRPr>
              </a:p>
              <a:p>
                <a:pPr marL="311336" lvl="1" indent="0">
                  <a:lnSpc>
                    <a:spcPct val="150000"/>
                  </a:lnSpc>
                  <a:buNone/>
                </a:pPr>
                <a:r>
                  <a:rPr lang="en-US" sz="1725" dirty="0">
                    <a:solidFill>
                      <a:schemeClr val="tx1"/>
                    </a:solidFill>
                    <a:latin typeface="+mn-lt"/>
                  </a:rPr>
                  <a:t>   </a:t>
                </a:r>
                <a:endParaRPr lang="en-US" sz="145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1725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5" name="Content Placeholder 37">
                <a:extLst>
                  <a:ext uri="{FF2B5EF4-FFF2-40B4-BE49-F238E27FC236}">
                    <a16:creationId xmlns:a16="http://schemas.microsoft.com/office/drawing/2014/main" id="{5FBE6180-8D37-7AD7-01E2-A4ECEFA1E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2" y="1838214"/>
                <a:ext cx="12505829" cy="593259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56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FD13-DE4C-CBFF-E543-251C3FD9037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C0CD48-BA7C-391F-CCB3-A9543E9B619C}"/>
              </a:ext>
            </a:extLst>
          </p:cNvPr>
          <p:cNvSpPr>
            <a:spLocks noGrp="1"/>
          </p:cNvSpPr>
          <p:nvPr/>
        </p:nvSpPr>
        <p:spPr>
          <a:xfrm>
            <a:off x="3210205" y="2176282"/>
            <a:ext cx="7397189" cy="2192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 dirty="0">
                <a:solidFill>
                  <a:srgbClr val="08436E"/>
                </a:solidFill>
                <a:ea typeface="+mn-ea"/>
                <a:cs typeface="+mn-cs"/>
              </a:rPr>
              <a:t>Thank You!!!</a:t>
            </a:r>
            <a:endParaRPr lang="en-US" sz="6000" b="1" dirty="0">
              <a:solidFill>
                <a:srgbClr val="08436E"/>
              </a:solidFill>
              <a:ea typeface="+mn-ea"/>
              <a:cs typeface="+mn-cs"/>
            </a:endParaRPr>
          </a:p>
          <a:p>
            <a:pPr algn="ctr"/>
            <a:r>
              <a:rPr lang="en-US" sz="5400" dirty="0">
                <a:solidFill>
                  <a:srgbClr val="08436E"/>
                </a:solidFill>
                <a:ea typeface="+mn-ea"/>
                <a:cs typeface="+mn-cs"/>
              </a:rPr>
              <a:t>Q&amp;A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A6DED9-925A-BB9D-460C-740E3DACF382}"/>
              </a:ext>
            </a:extLst>
          </p:cNvPr>
          <p:cNvSpPr/>
          <p:nvPr/>
        </p:nvSpPr>
        <p:spPr>
          <a:xfrm flipV="1">
            <a:off x="1638413" y="4507150"/>
            <a:ext cx="10540772" cy="76983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21" tIns="62707" rIns="125421" bIns="62707" rtlCol="0" anchor="ctr"/>
          <a:lstStyle/>
          <a:p>
            <a:pPr algn="ctr" defTabSz="698559"/>
            <a:endParaRPr lang="en-US" sz="2747">
              <a:solidFill>
                <a:srgbClr val="1183CC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078AA-060F-7217-B8B6-AF3BEB84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073" y="130632"/>
            <a:ext cx="1353332" cy="9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4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32165</TotalTime>
  <Words>1080</Words>
  <Application>Microsoft Macintosh PowerPoint</Application>
  <PresentationFormat>Custom</PresentationFormat>
  <Paragraphs>108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Avenir</vt:lpstr>
      <vt:lpstr>Avenir Black</vt:lpstr>
      <vt:lpstr>Avenir Book</vt:lpstr>
      <vt:lpstr>Avenir Medium</vt:lpstr>
      <vt:lpstr>AvenirNext LT Pro Bold</vt:lpstr>
      <vt:lpstr>Calibri</vt:lpstr>
      <vt:lpstr>Cambria Math</vt:lpstr>
      <vt:lpstr>Lucida Grande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Rex</dc:creator>
  <cp:keywords/>
  <dc:description/>
  <cp:lastModifiedBy>Taye, Abenezer Girma</cp:lastModifiedBy>
  <cp:revision>480</cp:revision>
  <cp:lastPrinted>2016-12-21T01:41:29Z</cp:lastPrinted>
  <dcterms:created xsi:type="dcterms:W3CDTF">2014-12-17T18:59:26Z</dcterms:created>
  <dcterms:modified xsi:type="dcterms:W3CDTF">2022-10-10T13:35:59Z</dcterms:modified>
  <cp:category/>
</cp:coreProperties>
</file>