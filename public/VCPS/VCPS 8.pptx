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33" r:id="rId2"/>
    <p:sldId id="485" r:id="rId3"/>
    <p:sldId id="520" r:id="rId4"/>
    <p:sldId id="509" r:id="rId5"/>
    <p:sldId id="521" r:id="rId6"/>
    <p:sldId id="522" r:id="rId7"/>
    <p:sldId id="524" r:id="rId8"/>
    <p:sldId id="525" r:id="rId9"/>
    <p:sldId id="526" r:id="rId10"/>
    <p:sldId id="527" r:id="rId11"/>
    <p:sldId id="528" r:id="rId12"/>
    <p:sldId id="529" r:id="rId13"/>
    <p:sldId id="530" r:id="rId14"/>
    <p:sldId id="531" r:id="rId15"/>
    <p:sldId id="481" r:id="rId16"/>
  </p:sldIdLst>
  <p:sldSz cx="13817600" cy="7772400"/>
  <p:notesSz cx="6858000" cy="9144000"/>
  <p:defaultTextStyle>
    <a:defPPr>
      <a:defRPr lang="en-US"/>
    </a:defPPr>
    <a:lvl1pPr marL="0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8639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727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591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4553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3194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1829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0470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910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1" userDrawn="1">
          <p15:clr>
            <a:srgbClr val="A4A3A4"/>
          </p15:clr>
        </p15:guide>
        <p15:guide id="2" pos="56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ynsay Belshe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B033"/>
    <a:srgbClr val="08436E"/>
    <a:srgbClr val="FEEBAD"/>
    <a:srgbClr val="6AB834"/>
    <a:srgbClr val="A65310"/>
    <a:srgbClr val="63A7DE"/>
    <a:srgbClr val="FEB91E"/>
    <a:srgbClr val="D5C2A3"/>
    <a:srgbClr val="D9002A"/>
    <a:srgbClr val="118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2" autoAdjust="0"/>
    <p:restoredTop sz="96327" autoAdjust="0"/>
  </p:normalViewPr>
  <p:slideViewPr>
    <p:cSldViewPr snapToGrid="0" snapToObjects="1">
      <p:cViewPr varScale="1">
        <p:scale>
          <a:sx n="97" d="100"/>
          <a:sy n="97" d="100"/>
        </p:scale>
        <p:origin x="1272" y="192"/>
      </p:cViewPr>
      <p:guideLst>
        <p:guide orient="horz" pos="1291"/>
        <p:guide pos="568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02" d="100"/>
          <a:sy n="102" d="100"/>
        </p:scale>
        <p:origin x="3477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6BD65-4128-AD4A-BC65-DD1A35B82098}" type="datetimeFigureOut">
              <a:rPr lang="en-US" smtClean="0"/>
              <a:t>11/13/22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2A848-6AD5-7B49-A3B8-7D8D442B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182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FFF99-B266-BA4A-9211-5D0EF0728BF9}" type="datetimeFigureOut">
              <a:rPr lang="en-US" smtClean="0"/>
              <a:t>11/13/22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D469F-60C6-C644-BD5F-F6073AC48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404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863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727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591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4553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43194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182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047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910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84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46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63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31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50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09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15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54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71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66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87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25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61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32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6320" y="2414482"/>
            <a:ext cx="11762456" cy="1666028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sz="4944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6320" y="4404360"/>
            <a:ext cx="11762456" cy="1986280"/>
          </a:xfrm>
          <a:prstGeom prst="rect">
            <a:avLst/>
          </a:prstGeom>
        </p:spPr>
        <p:txBody>
          <a:bodyPr lIns="91308" tIns="45652" rIns="91308" bIns="45652"/>
          <a:lstStyle>
            <a:lvl1pPr marL="0" indent="0" algn="l">
              <a:buNone/>
              <a:defRPr sz="2473">
                <a:solidFill>
                  <a:schemeClr val="tx1"/>
                </a:solidFill>
                <a:latin typeface="Avenir Medium"/>
                <a:cs typeface="Avenir Medium"/>
              </a:defRPr>
            </a:lvl1pPr>
            <a:lvl2pPr marL="698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97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95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93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91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90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589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 flipV="1">
            <a:off x="1036319" y="4248241"/>
            <a:ext cx="117624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A10A-7F51-3F22-A5DE-17A1DF223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B196E-6DC2-E122-768C-C9A812E319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7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ayout 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 flipH="1">
            <a:off x="9367650" y="4378273"/>
            <a:ext cx="3759072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810523" y="1689330"/>
            <a:ext cx="8344299" cy="2877599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9367650" y="1813561"/>
            <a:ext cx="375907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9367650" y="4520428"/>
            <a:ext cx="375907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9198892" y="1813584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810523" y="121370"/>
            <a:ext cx="10167899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3434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7"/>
          </p:nvPr>
        </p:nvSpPr>
        <p:spPr>
          <a:xfrm>
            <a:off x="9367654" y="3060395"/>
            <a:ext cx="3759713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"/>
                <a:cs typeface="Avenir"/>
              </a:defRPr>
            </a:lvl1pPr>
            <a:lvl2pPr>
              <a:defRPr b="0" i="0">
                <a:solidFill>
                  <a:srgbClr val="000000"/>
                </a:solidFill>
                <a:latin typeface="Avenir"/>
                <a:cs typeface="Avenir"/>
              </a:defRPr>
            </a:lvl2pPr>
            <a:lvl3pPr>
              <a:defRPr b="0" i="0">
                <a:solidFill>
                  <a:srgbClr val="000000"/>
                </a:solidFill>
                <a:latin typeface="Avenir"/>
                <a:cs typeface="Avenir"/>
              </a:defRPr>
            </a:lvl3pPr>
            <a:lvl4pPr>
              <a:defRPr b="0" i="0">
                <a:solidFill>
                  <a:srgbClr val="000000"/>
                </a:solidFill>
                <a:latin typeface="Avenir"/>
                <a:cs typeface="Avenir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Text Placeholder 32"/>
          <p:cNvSpPr>
            <a:spLocks noGrp="1"/>
          </p:cNvSpPr>
          <p:nvPr>
            <p:ph type="body" sz="quarter" idx="18"/>
          </p:nvPr>
        </p:nvSpPr>
        <p:spPr>
          <a:xfrm>
            <a:off x="9367654" y="5729429"/>
            <a:ext cx="3759713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810523" y="4864859"/>
            <a:ext cx="8344739" cy="2127916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747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2473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2198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923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810523" y="779625"/>
            <a:ext cx="10048279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810523" y="863219"/>
            <a:ext cx="10166927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2473" b="1" kern="0" cap="all" spc="165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2473" b="1">
                <a:solidFill>
                  <a:srgbClr val="08436E"/>
                </a:solidFill>
              </a:defRPr>
            </a:lvl2pPr>
            <a:lvl3pPr>
              <a:defRPr sz="2198" b="1">
                <a:solidFill>
                  <a:srgbClr val="08436E"/>
                </a:solidFill>
              </a:defRPr>
            </a:lvl3pPr>
            <a:lvl4pPr>
              <a:defRPr sz="1923" b="1">
                <a:solidFill>
                  <a:srgbClr val="08436E"/>
                </a:solidFill>
              </a:defRPr>
            </a:lvl4pPr>
            <a:lvl5pPr>
              <a:defRPr sz="2198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77AD98-F639-814A-DC5D-460532E5583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29128-9A40-700E-4524-C8EBF4358E7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691318" y="1813570"/>
            <a:ext cx="3764821" cy="5128719"/>
          </a:xfrm>
          <a:prstGeom prst="rect">
            <a:avLst/>
          </a:prstGeom>
        </p:spPr>
        <p:txBody>
          <a:bodyPr vert="horz" lIns="91298" tIns="45647" rIns="91298" bIns="45647"/>
          <a:lstStyle>
            <a:lvl1pPr>
              <a:defRPr sz="2747">
                <a:solidFill>
                  <a:srgbClr val="000000"/>
                </a:solidFill>
                <a:latin typeface="Verdana"/>
                <a:cs typeface="Verdana"/>
              </a:defRPr>
            </a:lvl1pPr>
            <a:lvl2pPr>
              <a:defRPr sz="2473">
                <a:solidFill>
                  <a:srgbClr val="000000"/>
                </a:solidFill>
                <a:latin typeface="Verdana"/>
                <a:cs typeface="Verdana"/>
              </a:defRPr>
            </a:lvl2pPr>
            <a:lvl3pPr>
              <a:defRPr sz="2198">
                <a:solidFill>
                  <a:srgbClr val="000000"/>
                </a:solidFill>
                <a:latin typeface="Verdana"/>
                <a:cs typeface="Verdana"/>
              </a:defRPr>
            </a:lvl3pPr>
            <a:lvl4pPr>
              <a:defRPr sz="1923">
                <a:solidFill>
                  <a:srgbClr val="000000"/>
                </a:solidFill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90881" y="760053"/>
            <a:ext cx="10167899" cy="563131"/>
          </a:xfrm>
          <a:prstGeom prst="rect">
            <a:avLst/>
          </a:prstGeom>
        </p:spPr>
        <p:txBody>
          <a:bodyPr lIns="91298" tIns="45647" rIns="91298" bIns="45647"/>
          <a:lstStyle>
            <a:lvl1pPr>
              <a:lnSpc>
                <a:spcPct val="130000"/>
              </a:lnSpc>
              <a:defRPr sz="3434" spc="0"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91323" y="1369060"/>
            <a:ext cx="10166927" cy="444500"/>
          </a:xfrm>
          <a:prstGeom prst="rect">
            <a:avLst/>
          </a:prstGeom>
        </p:spPr>
        <p:txBody>
          <a:bodyPr vert="horz" lIns="91298" tIns="45647" rIns="91298" bIns="45647"/>
          <a:lstStyle>
            <a:lvl1pPr marL="0" indent="0">
              <a:buNone/>
              <a:defRPr sz="2473" b="1" kern="0" cap="all" spc="0">
                <a:solidFill>
                  <a:srgbClr val="08436E"/>
                </a:solidFill>
                <a:latin typeface="Verdana"/>
                <a:cs typeface="Verdana"/>
              </a:defRPr>
            </a:lvl1pPr>
            <a:lvl2pPr>
              <a:defRPr sz="2473" b="1">
                <a:solidFill>
                  <a:srgbClr val="08436E"/>
                </a:solidFill>
              </a:defRPr>
            </a:lvl2pPr>
            <a:lvl3pPr>
              <a:defRPr sz="2198" b="1">
                <a:solidFill>
                  <a:srgbClr val="08436E"/>
                </a:solidFill>
              </a:defRPr>
            </a:lvl3pPr>
            <a:lvl4pPr>
              <a:defRPr sz="1923" b="1">
                <a:solidFill>
                  <a:srgbClr val="08436E"/>
                </a:solidFill>
              </a:defRPr>
            </a:lvl4pPr>
            <a:lvl5pPr>
              <a:defRPr sz="2198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4782012" y="1813569"/>
            <a:ext cx="8344299" cy="2877599"/>
          </a:xfrm>
          <a:prstGeom prst="rect">
            <a:avLst/>
          </a:prstGeom>
        </p:spPr>
        <p:txBody>
          <a:bodyPr lIns="91298" tIns="45647" rIns="91298" bIns="45647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4781550" y="4814363"/>
            <a:ext cx="8344739" cy="2127916"/>
          </a:xfrm>
          <a:prstGeom prst="rect">
            <a:avLst/>
          </a:prstGeom>
        </p:spPr>
        <p:txBody>
          <a:bodyPr vert="horz" lIns="91298" tIns="45647" rIns="91298" bIns="45647"/>
          <a:lstStyle>
            <a:lvl1pPr>
              <a:defRPr sz="2747">
                <a:solidFill>
                  <a:srgbClr val="000000"/>
                </a:solidFill>
                <a:latin typeface="Verdana"/>
                <a:cs typeface="Verdana"/>
              </a:defRPr>
            </a:lvl1pPr>
            <a:lvl2pPr>
              <a:defRPr sz="2473">
                <a:solidFill>
                  <a:srgbClr val="000000"/>
                </a:solidFill>
                <a:latin typeface="Verdana"/>
                <a:cs typeface="Verdana"/>
              </a:defRPr>
            </a:lvl2pPr>
            <a:lvl3pPr>
              <a:defRPr sz="2198">
                <a:solidFill>
                  <a:srgbClr val="000000"/>
                </a:solidFill>
                <a:latin typeface="Verdana"/>
                <a:cs typeface="Verdana"/>
              </a:defRPr>
            </a:lvl3pPr>
            <a:lvl4pPr>
              <a:defRPr sz="1923">
                <a:solidFill>
                  <a:srgbClr val="000000"/>
                </a:solidFill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C885BC-B151-73B3-FEA2-275F4DA7C75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C3286E-9FF7-F9B4-6848-29498FC45B2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7352227"/>
            <a:ext cx="13817601" cy="428278"/>
          </a:xfrm>
          <a:prstGeom prst="rect">
            <a:avLst/>
          </a:prstGeom>
          <a:solidFill>
            <a:srgbClr val="084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 b="1">
              <a:ln>
                <a:noFill/>
              </a:ln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 userDrawn="1"/>
        </p:nvSpPr>
        <p:spPr>
          <a:xfrm flipV="1">
            <a:off x="-1" y="7328691"/>
            <a:ext cx="13817601" cy="45720"/>
          </a:xfrm>
          <a:prstGeom prst="rect">
            <a:avLst/>
          </a:prstGeom>
          <a:solidFill>
            <a:srgbClr val="118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7174109" y="7405335"/>
            <a:ext cx="6018548" cy="338121"/>
          </a:xfrm>
          <a:prstGeom prst="rect">
            <a:avLst/>
          </a:prstGeom>
          <a:noFill/>
        </p:spPr>
        <p:txBody>
          <a:bodyPr wrap="square" lIns="125433" tIns="62714" rIns="125433" bIns="62714" rtlCol="0" anchor="ctr">
            <a:spAutoFit/>
          </a:bodyPr>
          <a:lstStyle/>
          <a:p>
            <a:pPr algn="r"/>
            <a:r>
              <a:rPr lang="en-US" sz="1374" b="1" kern="0" cap="all" spc="165" dirty="0">
                <a:solidFill>
                  <a:srgbClr val="1183CC"/>
                </a:solidFill>
                <a:latin typeface="Avenir Black"/>
                <a:cs typeface="Avenir Black"/>
              </a:rPr>
              <a:t>The George Washington University</a:t>
            </a:r>
          </a:p>
        </p:txBody>
      </p:sp>
      <p:pic>
        <p:nvPicPr>
          <p:cNvPr id="6" name="Picture 5" descr="gw_txt_4cp_pos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6977" y="216490"/>
            <a:ext cx="1500397" cy="8343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574A8A-BFC3-1A7B-060A-0ECE1FBC2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58363" y="7204075"/>
            <a:ext cx="3109912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89A34-57A7-432C-1297-465A3C34F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6763" y="7204075"/>
            <a:ext cx="4664075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9" r:id="rId3"/>
  </p:sldLayoutIdLst>
  <p:hf hdr="0" ftr="0" dt="0"/>
  <p:txStyles>
    <p:titleStyle>
      <a:lvl1pPr algn="l" defTabSz="698642" rtl="0" eaLnBrk="1" latinLnBrk="0" hangingPunct="1">
        <a:spcBef>
          <a:spcPct val="0"/>
        </a:spcBef>
        <a:buNone/>
        <a:defRPr sz="3846" b="1" i="0" kern="0" cap="all" spc="165" baseline="0">
          <a:solidFill>
            <a:srgbClr val="08436E"/>
          </a:solidFill>
          <a:latin typeface="AvenirNext LT Pro Bold"/>
          <a:ea typeface="+mj-ea"/>
          <a:cs typeface="AvenirNext LT Pro Bold"/>
        </a:defRPr>
      </a:lvl1pPr>
    </p:titleStyle>
    <p:bodyStyle>
      <a:lvl1pPr marL="311338" indent="-311338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2198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1pPr>
      <a:lvl2pPr marL="624854" indent="-313518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tabLst/>
        <a:defRPr sz="1923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2pPr>
      <a:lvl3pPr marL="857819" indent="-232962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1648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3pPr>
      <a:lvl4pPr marL="1090781" indent="-232962" algn="l" defTabSz="698642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1511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4pPr>
      <a:lvl5pPr marL="2118414" indent="-232962" algn="r" defTabSz="698642" rtl="0" eaLnBrk="1" latinLnBrk="0" hangingPunct="1">
        <a:spcBef>
          <a:spcPct val="20000"/>
        </a:spcBef>
        <a:buFont typeface="Arial"/>
        <a:buChar char="•"/>
        <a:tabLst/>
        <a:defRPr sz="1648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5pPr>
      <a:lvl6pPr marL="3842525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6pPr>
      <a:lvl7pPr marL="4541165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7pPr>
      <a:lvl8pPr marL="5239806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8pPr>
      <a:lvl9pPr marL="5938442" indent="-349325" algn="l" defTabSz="698642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1pPr>
      <a:lvl2pPr marL="698642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2pPr>
      <a:lvl3pPr marL="1397281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3pPr>
      <a:lvl4pPr marL="2095923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4pPr>
      <a:lvl5pPr marL="2794560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5pPr>
      <a:lvl6pPr marL="3493206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6pPr>
      <a:lvl7pPr marL="4191841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7pPr>
      <a:lvl8pPr marL="4890487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8pPr>
      <a:lvl9pPr marL="5589124" algn="l" defTabSz="698642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12F166-26A4-F264-E8CC-86F355D67CAA}"/>
              </a:ext>
            </a:extLst>
          </p:cNvPr>
          <p:cNvSpPr txBox="1"/>
          <p:nvPr/>
        </p:nvSpPr>
        <p:spPr>
          <a:xfrm>
            <a:off x="1344201" y="2185812"/>
            <a:ext cx="1135261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8436E"/>
                </a:solidFill>
                <a:latin typeface="+mj-lt"/>
              </a:rPr>
              <a:t>Verifying Cyber-Physical Systems</a:t>
            </a:r>
          </a:p>
          <a:p>
            <a:pPr algn="ctr"/>
            <a:r>
              <a:rPr lang="en-US" sz="4400" dirty="0">
                <a:solidFill>
                  <a:srgbClr val="08436E"/>
                </a:solidFill>
                <a:latin typeface="+mj-lt"/>
              </a:rPr>
              <a:t> </a:t>
            </a:r>
          </a:p>
          <a:p>
            <a:pPr algn="ctr"/>
            <a:r>
              <a:rPr lang="en-US" sz="3600" dirty="0">
                <a:solidFill>
                  <a:srgbClr val="08436E"/>
                </a:solidFill>
                <a:latin typeface="+mj-lt"/>
              </a:rPr>
              <a:t>Chapter 8 – Abstractions and Compositional Reasoning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9A615E-44A7-CEA7-A0C6-B46233468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F0B33B8-8000-8D8A-F786-AF3F99146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9283" y="4611189"/>
            <a:ext cx="11762456" cy="325086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8436E"/>
                </a:solidFill>
                <a:latin typeface="+mj-lt"/>
              </a:rPr>
              <a:t>Abenezer Taye</a:t>
            </a:r>
          </a:p>
          <a:p>
            <a:pPr algn="ctr"/>
            <a:endParaRPr lang="en-US" dirty="0">
              <a:solidFill>
                <a:srgbClr val="08436E"/>
              </a:solidFill>
              <a:latin typeface="+mj-lt"/>
            </a:endParaRPr>
          </a:p>
          <a:p>
            <a:pPr algn="ctr"/>
            <a:r>
              <a:rPr lang="en-US" sz="2400" dirty="0">
                <a:solidFill>
                  <a:srgbClr val="08436E"/>
                </a:solidFill>
                <a:latin typeface="+mj-lt"/>
              </a:rPr>
              <a:t>Nov 14, 2022</a:t>
            </a:r>
          </a:p>
          <a:p>
            <a:pPr algn="ctr"/>
            <a:r>
              <a:rPr lang="en-US" dirty="0">
                <a:solidFill>
                  <a:srgbClr val="08436E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915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2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System Design Ecosystem</a:t>
            </a:r>
          </a:p>
        </p:txBody>
      </p:sp>
      <p:pic>
        <p:nvPicPr>
          <p:cNvPr id="33" name="Content Placeholder 6">
            <a:extLst>
              <a:ext uri="{FF2B5EF4-FFF2-40B4-BE49-F238E27FC236}">
                <a16:creationId xmlns:a16="http://schemas.microsoft.com/office/drawing/2014/main" id="{6F0E0D5D-C90C-0BBB-9FED-2A77EC9D2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431" y="2024223"/>
            <a:ext cx="9094888" cy="4328817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B8BF05A-626F-DFE6-F056-62B2538BBA5D}"/>
              </a:ext>
            </a:extLst>
          </p:cNvPr>
          <p:cNvSpPr/>
          <p:nvPr/>
        </p:nvSpPr>
        <p:spPr>
          <a:xfrm>
            <a:off x="4368800" y="3589867"/>
            <a:ext cx="1828152" cy="722489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5F90FF6-B295-EE38-E5EF-0E2882AB424C}"/>
              </a:ext>
            </a:extLst>
          </p:cNvPr>
          <p:cNvSpPr/>
          <p:nvPr/>
        </p:nvSpPr>
        <p:spPr>
          <a:xfrm>
            <a:off x="4368800" y="4435258"/>
            <a:ext cx="1828152" cy="722489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9FA7B0E-72AF-445F-8801-D39B36AF743E}"/>
              </a:ext>
            </a:extLst>
          </p:cNvPr>
          <p:cNvSpPr/>
          <p:nvPr/>
        </p:nvSpPr>
        <p:spPr>
          <a:xfrm>
            <a:off x="6908800" y="3886199"/>
            <a:ext cx="1828152" cy="9341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2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3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690883" y="1839801"/>
            <a:ext cx="5574450" cy="4697660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Thermostat Automaton </a:t>
            </a:r>
            <a:endParaRPr lang="en-US" sz="2000" dirty="0"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What is an Abstraction?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4AF16C1-C302-E31A-75C8-B475FA845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2" y="2499078"/>
            <a:ext cx="5292633" cy="3721100"/>
          </a:xfrm>
          <a:prstGeom prst="rect">
            <a:avLst/>
          </a:prstGeom>
        </p:spPr>
      </p:pic>
      <p:sp>
        <p:nvSpPr>
          <p:cNvPr id="6" name="Content Placeholder 37">
            <a:extLst>
              <a:ext uri="{FF2B5EF4-FFF2-40B4-BE49-F238E27FC236}">
                <a16:creationId xmlns:a16="http://schemas.microsoft.com/office/drawing/2014/main" id="{B549CB91-5790-E611-DB53-112577C506AC}"/>
              </a:ext>
            </a:extLst>
          </p:cNvPr>
          <p:cNvSpPr txBox="1">
            <a:spLocks/>
          </p:cNvSpPr>
          <p:nvPr/>
        </p:nvSpPr>
        <p:spPr>
          <a:xfrm>
            <a:off x="7552267" y="1839801"/>
            <a:ext cx="5574450" cy="4697660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If we only care about the timing behavior of the thermostat </a:t>
            </a:r>
            <a:endParaRPr lang="en-US" sz="2000" dirty="0">
              <a:latin typeface="+mn-lt"/>
            </a:endParaRP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4D72D401-65D3-1DD3-1F56-851590E98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475" y="3148370"/>
            <a:ext cx="3992033" cy="242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9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4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690883" y="1839800"/>
            <a:ext cx="822733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How can we show that B indeed has the “same” timing behavior as A?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More generally, we may only care about certain aspects of A’s executions such as</a:t>
            </a:r>
          </a:p>
          <a:p>
            <a:pPr lvl="1">
              <a:lnSpc>
                <a:spcPct val="150000"/>
              </a:lnSpc>
            </a:pPr>
            <a:r>
              <a:rPr lang="en-US" sz="1725" dirty="0">
                <a:solidFill>
                  <a:schemeClr val="tx1"/>
                </a:solidFill>
                <a:latin typeface="+mn-lt"/>
              </a:rPr>
              <a:t>Timing </a:t>
            </a:r>
          </a:p>
          <a:p>
            <a:pPr lvl="1">
              <a:lnSpc>
                <a:spcPct val="150000"/>
              </a:lnSpc>
            </a:pPr>
            <a:r>
              <a:rPr lang="en-US" sz="1725" dirty="0">
                <a:solidFill>
                  <a:schemeClr val="tx1"/>
                </a:solidFill>
                <a:latin typeface="+mn-lt"/>
              </a:rPr>
              <a:t>Subset of continuous variables </a:t>
            </a:r>
          </a:p>
          <a:p>
            <a:pPr lvl="1">
              <a:lnSpc>
                <a:spcPct val="150000"/>
              </a:lnSpc>
            </a:pPr>
            <a:r>
              <a:rPr lang="en-US" sz="1725" dirty="0">
                <a:solidFill>
                  <a:schemeClr val="tx1"/>
                </a:solidFill>
                <a:latin typeface="+mn-lt"/>
              </a:rPr>
              <a:t>Control state reachability, etc.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How can we show that B is equivalent to A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wrt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the aspects of behavior we care about?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How can we come up with an “equivalent” B that is simpler to analyze?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Therefore, proving safety of B </a:t>
            </a:r>
            <a:r>
              <a:rPr lang="en-US" sz="20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 safety of A</a:t>
            </a:r>
            <a:endParaRPr lang="en-US" sz="2000" dirty="0">
              <a:solidFill>
                <a:schemeClr val="tx1"/>
              </a:solidFill>
              <a:latin typeface="+mn-lt"/>
              <a:ea typeface="Cambria Math" panose="02040503050406030204" pitchFamily="18" charset="0"/>
              <a:sym typeface="Wingdings" pitchFamily="2" charset="2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What is an Abstraction?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04C5EA-5239-6140-688B-91559068536C}"/>
              </a:ext>
            </a:extLst>
          </p:cNvPr>
          <p:cNvGrpSpPr/>
          <p:nvPr/>
        </p:nvGrpSpPr>
        <p:grpSpPr>
          <a:xfrm>
            <a:off x="9584267" y="2675467"/>
            <a:ext cx="3994138" cy="2675466"/>
            <a:chOff x="9584267" y="2675467"/>
            <a:chExt cx="3994138" cy="2675466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7CDE3EC3-E18C-B2E1-A889-5658A7C3E37C}"/>
                </a:ext>
              </a:extLst>
            </p:cNvPr>
            <p:cNvSpPr/>
            <p:nvPr/>
          </p:nvSpPr>
          <p:spPr>
            <a:xfrm>
              <a:off x="9584267" y="2675467"/>
              <a:ext cx="3994138" cy="267546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60306B5-5E3B-36F0-5AF2-6358E6C0083C}"/>
                </a:ext>
              </a:extLst>
            </p:cNvPr>
            <p:cNvSpPr/>
            <p:nvPr/>
          </p:nvSpPr>
          <p:spPr>
            <a:xfrm>
              <a:off x="9758363" y="2980267"/>
              <a:ext cx="1320800" cy="90593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unsafe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4A0FF50-F9C9-9A24-4088-4147C24001EF}"/>
                </a:ext>
              </a:extLst>
            </p:cNvPr>
            <p:cNvSpPr/>
            <p:nvPr/>
          </p:nvSpPr>
          <p:spPr>
            <a:xfrm>
              <a:off x="11089658" y="3601156"/>
              <a:ext cx="2176903" cy="12954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Execs B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0D415CF-E2C4-9D87-DF90-16B3EA9A50AA}"/>
                </a:ext>
              </a:extLst>
            </p:cNvPr>
            <p:cNvSpPr/>
            <p:nvPr/>
          </p:nvSpPr>
          <p:spPr>
            <a:xfrm>
              <a:off x="11458223" y="3956755"/>
              <a:ext cx="1455208" cy="905933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Execs A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11F053-6F14-998A-A674-8149F7F5CC52}"/>
                  </a:ext>
                </a:extLst>
              </p:cNvPr>
              <p:cNvSpPr txBox="1"/>
              <p:nvPr/>
            </p:nvSpPr>
            <p:spPr>
              <a:xfrm>
                <a:off x="428978" y="6803965"/>
                <a:ext cx="1179609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Mathematically, we would like to show that 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∀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𝜶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𝑬𝒙𝒆𝒄𝒔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𝑨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∃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𝜷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𝑬𝒙𝒆𝒄𝒔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𝑩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𝒔𝒖𝒄𝒉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𝒕𝒉𝒂𝒕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𝜶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𝜷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  <a:ea typeface="Cambria Math" panose="02040503050406030204" pitchFamily="18" charset="0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11F053-6F14-998A-A674-8149F7F5C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78" y="6803965"/>
                <a:ext cx="11796095" cy="400110"/>
              </a:xfrm>
              <a:prstGeom prst="rect">
                <a:avLst/>
              </a:prstGeom>
              <a:blipFill>
                <a:blip r:embed="rId4"/>
                <a:stretch>
                  <a:fillRect l="-538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043798A-0DCC-60E6-2AC2-35BFC7ED3920}"/>
              </a:ext>
            </a:extLst>
          </p:cNvPr>
          <p:cNvSpPr txBox="1"/>
          <p:nvPr/>
        </p:nvSpPr>
        <p:spPr>
          <a:xfrm>
            <a:off x="4059238" y="7299480"/>
            <a:ext cx="3776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B is said to be an Abstraction of A</a:t>
            </a:r>
            <a:endParaRPr lang="en-US" sz="2000" b="1" dirty="0">
              <a:solidFill>
                <a:schemeClr val="tx1"/>
              </a:solidFill>
              <a:ea typeface="Cambria Math" panose="02040503050406030204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8052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5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/>
              <a:t>How to prove B abstracts 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3">
                <a:extLst>
                  <a:ext uri="{FF2B5EF4-FFF2-40B4-BE49-F238E27FC236}">
                    <a16:creationId xmlns:a16="http://schemas.microsoft.com/office/drawing/2014/main" id="{1C0AA21C-08C4-A9DA-AC93-46D5E80E12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882" y="1650463"/>
                <a:ext cx="10515600" cy="53340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Lucida Grande"/>
                  <a:buNone/>
                </a:pPr>
                <a:r>
                  <a:rPr lang="en-US" sz="1800" b="1" dirty="0">
                    <a:solidFill>
                      <a:schemeClr val="accent6">
                        <a:lumMod val="75000"/>
                      </a:schemeClr>
                    </a:solidFill>
                    <a:latin typeface="+mn-lt"/>
                  </a:rPr>
                  <a:t>Forward simulation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relation from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𝒜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to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𝒜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2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is a relation R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⊆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𝑣𝑎𝑙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+mn-lt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+mn-lt"/>
                                <a:ea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+mn-lt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× 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𝑣𝑎𝑙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+mn-lt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+mn-lt"/>
                                <a:ea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+mn-lt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)</m:t>
                        </m:r>
                      </m:e>
                      <m:sub/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such that</a:t>
                </a:r>
                <a:endParaRPr lang="en-US" sz="1800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For every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1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Θ</m:t>
                    </m:r>
                    <m:r>
                      <a:rPr lang="en-US" sz="1800" i="1" baseline="-2500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1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there exists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Θ</m:t>
                    </m:r>
                    <m:r>
                      <a:rPr lang="en-US" sz="1800" i="1" baseline="-2500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2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such that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1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R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For every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+mn-lt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+mn-lt"/>
                          </a:rPr>
                          <m:t>→</m:t>
                        </m:r>
                      </m:e>
                      <m:sub>
                        <m:sSub>
                          <m:sSubPr>
                            <m:ctrlPr>
                              <a:rPr lang="en-US" sz="1800" b="1" i="1">
                                <a:solidFill>
                                  <a:schemeClr val="tx1"/>
                                </a:solidFill>
                                <a:latin typeface="+mn-lt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chemeClr val="tx1"/>
                                </a:solidFill>
                                <a:latin typeface="+mn-lt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>
                                <a:solidFill>
                                  <a:schemeClr val="tx1"/>
                                </a:solidFill>
                                <a:latin typeface="+mn-lt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1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’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𝒟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and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such that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1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R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2,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there exists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’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such that </a:t>
                </a:r>
              </a:p>
              <a:p>
                <a:pPr lvl="3"/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→</m:t>
                        </m:r>
                      </m:e>
                      <m:sub>
                        <m:sSub>
                          <m:sSubPr>
                            <m:ctrlPr>
                              <a:rPr lang="en-US" sz="1800" b="1" i="1">
                                <a:solidFill>
                                  <a:schemeClr val="tx1"/>
                                </a:solidFill>
                                <a:latin typeface="+mn-lt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chemeClr val="tx1"/>
                                </a:solidFill>
                                <a:latin typeface="+mn-lt"/>
                                <a:ea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>
                                <a:solidFill>
                                  <a:schemeClr val="tx1"/>
                                </a:solidFill>
                                <a:latin typeface="+mn-lt"/>
                                <a:ea typeface="Cambria Math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’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and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</a:t>
                </a:r>
              </a:p>
              <a:p>
                <a:pPr lvl="3"/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1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’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R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’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𝝉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.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𝑓𝑠𝑡𝑎𝑡𝑒</m:t>
                    </m:r>
                  </m:oMath>
                </a14:m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R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2,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that </a:t>
                </a:r>
              </a:p>
              <a:p>
                <a:pPr lvl="3"/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2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.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𝑓𝑠𝑡𝑎𝑡𝑒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and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</a:t>
                </a:r>
              </a:p>
              <a:p>
                <a:pPr lvl="3"/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x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1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’</a:t>
                </a:r>
                <a:r>
                  <a:rPr lang="en-US" sz="1800" b="1" baseline="-25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R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.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𝑙𝑠𝑡𝑎𝑡𝑒</m:t>
                    </m:r>
                  </m:oMath>
                </a14:m>
                <a:endParaRPr lang="en-US" sz="1800" b="1" dirty="0">
                  <a:solidFill>
                    <a:schemeClr val="tx1"/>
                  </a:solidFill>
                  <a:latin typeface="+mn-lt"/>
                </a:endParaRP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180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dom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.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𝑑𝑜𝑚</m:t>
                    </m:r>
                  </m:oMath>
                </a14:m>
                <a:endParaRPr lang="en-US" sz="1800" b="1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>
                  <a:buFont typeface="Lucida Grande"/>
                  <a:buNone/>
                </a:pPr>
                <a:r>
                  <a:rPr lang="en-US" sz="1800" b="1" dirty="0">
                    <a:solidFill>
                      <a:srgbClr val="00B050"/>
                    </a:solidFill>
                    <a:latin typeface="+mn-lt"/>
                  </a:rPr>
                  <a:t>Theorem.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If there exists a forward simulation relation from hybrid automaton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𝒜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𝒜</m:t>
                    </m:r>
                    <m:r>
                      <a:rPr lang="en-US" sz="1800" baseline="-2500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2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then  for every execution of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𝒜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+mn-lt"/>
                  </a:rPr>
                  <a:t>1 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there exists a corresponding execution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+mn-lt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.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endParaRPr lang="en-US" sz="1800" baseline="-250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en-US" sz="1800" b="1" baseline="-25000" dirty="0">
                  <a:latin typeface="+mn-lt"/>
                </a:endParaRPr>
              </a:p>
              <a:p>
                <a:pPr lvl="1"/>
                <a:endParaRPr lang="en-US" sz="1800" dirty="0">
                  <a:latin typeface="+mn-lt"/>
                </a:endParaRPr>
              </a:p>
            </p:txBody>
          </p:sp>
        </mc:Choice>
        <mc:Fallback>
          <p:sp>
            <p:nvSpPr>
              <p:cNvPr id="11" name="Content Placeholder 3">
                <a:extLst>
                  <a:ext uri="{FF2B5EF4-FFF2-40B4-BE49-F238E27FC236}">
                    <a16:creationId xmlns:a16="http://schemas.microsoft.com/office/drawing/2014/main" id="{1C0AA21C-08C4-A9DA-AC93-46D5E80E1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2" y="1650463"/>
                <a:ext cx="10515600" cy="5334000"/>
              </a:xfrm>
              <a:prstGeom prst="rect">
                <a:avLst/>
              </a:prstGeom>
              <a:blipFill>
                <a:blip r:embed="rId4"/>
                <a:stretch>
                  <a:fillRect l="-483" t="-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66D38B9-01E6-0E0A-509A-FFC19DEF1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661" y="5676331"/>
            <a:ext cx="6324600" cy="173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4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6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2027" y="1861066"/>
                <a:ext cx="12578549" cy="5193178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Different types of simulation relations (R) depending on different notions for “Trace”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Match for all variable values, action names, and time duration of trajectories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(abstraction)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Match variables but not time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(time abstract simulation)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Match a subset (external) of variables and actions </a:t>
                </a:r>
                <a:r>
                  <a:rPr lang="en-US" sz="1800" b="1" dirty="0">
                    <a:solidFill>
                      <a:schemeClr val="tx1"/>
                    </a:solidFill>
                    <a:latin typeface="+mn-lt"/>
                  </a:rPr>
                  <a:t>(trace inclusion)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Match single action/trajectory of A with a sequence of actions and trajectories of B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75" dirty="0">
                    <a:solidFill>
                      <a:srgbClr val="A4B033"/>
                    </a:solidFill>
                    <a:latin typeface="+mn-lt"/>
                  </a:rPr>
                  <a:t>Comparable automata </a:t>
                </a:r>
                <a:r>
                  <a:rPr lang="en-US" sz="2075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 automata with matching sets of variables and actions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𝒜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, 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ℬ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and</m:t>
                    </m:r>
                    <m:r>
                      <a:rPr lang="en-US" sz="2000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 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be comparable HAs. If R</a:t>
                </a:r>
                <a:r>
                  <a:rPr lang="en-US" sz="2000" baseline="-25000" dirty="0">
                    <a:solidFill>
                      <a:schemeClr val="tx1"/>
                    </a:solidFill>
                    <a:latin typeface="+mn-lt"/>
                  </a:rPr>
                  <a:t>1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is a forward simulation from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ℬ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and R</a:t>
                </a:r>
                <a:r>
                  <a:rPr lang="en-US" sz="2000" baseline="-25000" dirty="0">
                    <a:solidFill>
                      <a:schemeClr val="tx1"/>
                    </a:solidFill>
                    <a:latin typeface="+mn-lt"/>
                  </a:rPr>
                  <a:t>2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is a forward simulation from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ℬ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, then </a:t>
                </a: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R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+mn-lt"/>
                  </a:rPr>
                  <a:t>1</a:t>
                </a: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∘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 R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+mn-lt"/>
                  </a:rPr>
                  <a:t>2</a:t>
                </a:r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 is a forward simulation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𝓐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𝓒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𝓐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 implements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𝓒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n-lt"/>
                  </a:rPr>
                  <a:t>)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If R is a forward simulation from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ℬ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and R</a:t>
                </a:r>
                <a:r>
                  <a:rPr lang="en-US" sz="2000" baseline="30000" dirty="0">
                    <a:solidFill>
                      <a:schemeClr val="tx1"/>
                    </a:solidFill>
                    <a:latin typeface="+mn-lt"/>
                  </a:rPr>
                  <a:t>-1 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is a forward simulation from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ℬ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300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then R is called a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+mn-lt"/>
                  </a:rPr>
                  <a:t>bisimulation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+mn-lt"/>
                        <a:ea typeface="Cambria Math"/>
                      </a:rPr>
                      <m:t>ℬ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are </a:t>
                </a:r>
                <a:r>
                  <a:rPr lang="en-US" sz="2000" b="1" dirty="0" err="1">
                    <a:solidFill>
                      <a:schemeClr val="accent6">
                        <a:lumMod val="75000"/>
                      </a:schemeClr>
                    </a:solidFill>
                    <a:latin typeface="+mn-lt"/>
                  </a:rPr>
                  <a:t>bisimilar</a:t>
                </a:r>
                <a:r>
                  <a:rPr lang="en-US" sz="2000" baseline="30000" dirty="0">
                    <a:latin typeface="+mn-lt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 err="1">
                    <a:solidFill>
                      <a:schemeClr val="tx1"/>
                    </a:solidFill>
                    <a:latin typeface="+mn-lt"/>
                  </a:rPr>
                  <a:t>Bisimilarity</a:t>
                </a:r>
                <a:r>
                  <a:rPr lang="en-US" sz="2000" dirty="0">
                    <a:solidFill>
                      <a:schemeClr val="tx1"/>
                    </a:solidFill>
                    <a:latin typeface="+mn-lt"/>
                  </a:rPr>
                  <a:t> is an 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  <a:latin typeface="+mn-lt"/>
                  </a:rPr>
                  <a:t>equivalence relation</a:t>
                </a:r>
              </a:p>
              <a:p>
                <a:pPr>
                  <a:lnSpc>
                    <a:spcPct val="12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en-US" sz="2075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Content Placeholder 37">
                <a:extLst>
                  <a:ext uri="{FF2B5EF4-FFF2-40B4-BE49-F238E27FC236}">
                    <a16:creationId xmlns:a16="http://schemas.microsoft.com/office/drawing/2014/main" id="{D5A71C11-69B8-635C-9A8F-2FD5342D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27" y="1861066"/>
                <a:ext cx="12578549" cy="519317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>
                <a:latin typeface="+mj-lt"/>
              </a:rPr>
              <a:t>Properties of forward simulation</a:t>
            </a:r>
          </a:p>
        </p:txBody>
      </p:sp>
    </p:spTree>
    <p:extLst>
      <p:ext uri="{BB962C8B-B14F-4D97-AF65-F5344CB8AC3E}">
        <p14:creationId xmlns:p14="http://schemas.microsoft.com/office/powerpoint/2010/main" val="337762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7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542027" y="18610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>
                <a:latin typeface="+mj-lt"/>
              </a:rPr>
              <a:t>Substituting with abstractions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1A9BB2-BEAD-F101-31F2-31FFBCF5E607}"/>
              </a:ext>
            </a:extLst>
          </p:cNvPr>
          <p:cNvGrpSpPr/>
          <p:nvPr/>
        </p:nvGrpSpPr>
        <p:grpSpPr>
          <a:xfrm>
            <a:off x="506576" y="2650304"/>
            <a:ext cx="5452021" cy="2859840"/>
            <a:chOff x="3032760" y="1711344"/>
            <a:chExt cx="6126480" cy="313497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810E94-A70E-7B9F-4D6E-F7F9452134F0}"/>
                </a:ext>
              </a:extLst>
            </p:cNvPr>
            <p:cNvSpPr/>
            <p:nvPr/>
          </p:nvSpPr>
          <p:spPr>
            <a:xfrm>
              <a:off x="3032760" y="1711344"/>
              <a:ext cx="6126480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latin typeface="+mj-lt"/>
                  <a:ea typeface="Cambria Math" panose="02040503050406030204" pitchFamily="18" charset="0"/>
                </a:rPr>
                <a:t>Concrete system</a:t>
              </a: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C05434D-A183-3646-6E3A-16726918BFF6}"/>
                </a:ext>
              </a:extLst>
            </p:cNvPr>
            <p:cNvSpPr/>
            <p:nvPr/>
          </p:nvSpPr>
          <p:spPr>
            <a:xfrm>
              <a:off x="3842779" y="2516816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sz="2400" b="1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3F4AEAB-F10A-4E12-70A1-A592DF2C61A7}"/>
                </a:ext>
              </a:extLst>
            </p:cNvPr>
            <p:cNvSpPr/>
            <p:nvPr/>
          </p:nvSpPr>
          <p:spPr>
            <a:xfrm>
              <a:off x="6560579" y="2516816"/>
              <a:ext cx="1881672" cy="1824367"/>
            </a:xfrm>
            <a:prstGeom prst="roundRect">
              <a:avLst/>
            </a:prstGeom>
            <a:pattFill prst="pct20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i="1" dirty="0">
                  <a:latin typeface="+mj-lt"/>
                  <a:ea typeface="Cambria Math" panose="02040503050406030204" pitchFamily="18" charset="0"/>
                </a:rPr>
                <a:t>Controller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F8035E-E82C-07BF-9CC1-4E9D06CBD1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705" y="3197721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B4C459-568B-7C62-8916-82344A44EB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2705" y="3856089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9364998-2005-1822-0A93-5433957B9D3B}"/>
              </a:ext>
            </a:extLst>
          </p:cNvPr>
          <p:cNvGrpSpPr/>
          <p:nvPr/>
        </p:nvGrpSpPr>
        <p:grpSpPr>
          <a:xfrm>
            <a:off x="6994096" y="2650304"/>
            <a:ext cx="5874179" cy="2859840"/>
            <a:chOff x="6994096" y="2593847"/>
            <a:chExt cx="6126480" cy="3134975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AA5F2DB-94AB-D5C5-8EA1-7D7E3BF473F3}"/>
                </a:ext>
              </a:extLst>
            </p:cNvPr>
            <p:cNvSpPr/>
            <p:nvPr/>
          </p:nvSpPr>
          <p:spPr>
            <a:xfrm>
              <a:off x="6994096" y="2593847"/>
              <a:ext cx="6126480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latin typeface="+mj-lt"/>
                  <a:ea typeface="Cambria Math" panose="02040503050406030204" pitchFamily="18" charset="0"/>
                </a:rPr>
                <a:t>Abstract system</a:t>
              </a: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3200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2BAB781-0AE7-833E-0FCC-EA61B5EC5B5B}"/>
                </a:ext>
              </a:extLst>
            </p:cNvPr>
            <p:cNvSpPr/>
            <p:nvPr/>
          </p:nvSpPr>
          <p:spPr>
            <a:xfrm>
              <a:off x="7804115" y="3399319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sz="2400" b="1" i="1" dirty="0">
                <a:latin typeface="+mj-lt"/>
                <a:ea typeface="Cambria Math" panose="02040503050406030204" pitchFamily="18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F30D57C-FE5F-72B3-6A07-4ED62167EF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4041" y="4080224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1F4BB6-C777-FF38-E8DE-5B33F8DC27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94041" y="4738592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0C4197A0-7461-1893-F8AF-AC06714A5405}"/>
                </a:ext>
              </a:extLst>
            </p:cNvPr>
            <p:cNvSpPr/>
            <p:nvPr/>
          </p:nvSpPr>
          <p:spPr>
            <a:xfrm>
              <a:off x="10521915" y="3399319"/>
              <a:ext cx="1789926" cy="1824367"/>
            </a:xfrm>
            <a:prstGeom prst="round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latin typeface="+mj-lt"/>
                  <a:ea typeface="Cambria Math" panose="02040503050406030204" pitchFamily="18" charset="0"/>
                </a:rPr>
                <a:t>Abstract Controller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0449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8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542027" y="18610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173" b="1" dirty="0">
                <a:latin typeface="+mj-lt"/>
              </a:rPr>
              <a:t>Substituting with abstractions</a:t>
            </a:r>
          </a:p>
          <a:p>
            <a:endParaRPr lang="en-US" sz="3173" b="1" dirty="0">
              <a:latin typeface="+mj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4F3BA07-2E7F-82B7-9C57-9E74665D57B2}"/>
              </a:ext>
            </a:extLst>
          </p:cNvPr>
          <p:cNvSpPr/>
          <p:nvPr/>
        </p:nvSpPr>
        <p:spPr>
          <a:xfrm>
            <a:off x="3795824" y="1317514"/>
            <a:ext cx="1407730" cy="1269195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+mj-lt"/>
                <a:ea typeface="Cambria Math" panose="02040503050406030204" pitchFamily="18" charset="0"/>
              </a:rPr>
              <a:t>Controller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4B69FB-F6FE-E757-A48B-B853F2D8F03A}"/>
              </a:ext>
            </a:extLst>
          </p:cNvPr>
          <p:cNvGrpSpPr/>
          <p:nvPr/>
        </p:nvGrpSpPr>
        <p:grpSpPr>
          <a:xfrm>
            <a:off x="6629400" y="3450596"/>
            <a:ext cx="3356705" cy="1717656"/>
            <a:chOff x="3032761" y="1711344"/>
            <a:chExt cx="6126479" cy="313497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CB24ECF-7AE8-B1D3-D1E3-743CADB5E196}"/>
                </a:ext>
              </a:extLst>
            </p:cNvPr>
            <p:cNvSpPr/>
            <p:nvPr/>
          </p:nvSpPr>
          <p:spPr>
            <a:xfrm>
              <a:off x="3032761" y="1711344"/>
              <a:ext cx="6126479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+mj-lt"/>
                  <a:ea typeface="Cambria Math" panose="02040503050406030204" pitchFamily="18" charset="0"/>
                </a:rPr>
                <a:t>Abstract system</a:t>
              </a: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6084232-17C2-1B6A-6D0B-410A11284818}"/>
                </a:ext>
              </a:extLst>
            </p:cNvPr>
            <p:cNvSpPr/>
            <p:nvPr/>
          </p:nvSpPr>
          <p:spPr>
            <a:xfrm>
              <a:off x="3842779" y="2516816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b="1" i="1" dirty="0">
                <a:latin typeface="+mj-lt"/>
                <a:ea typeface="Cambria Math" panose="02040503050406030204" pitchFamily="18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3D96A4-2502-8182-2781-1D326EE85E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705" y="3197721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0FE86A9-BC61-168B-45FD-5040B0A19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2705" y="3856089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DADE684-5541-0A8E-5E8B-8E5D703A199F}"/>
                </a:ext>
              </a:extLst>
            </p:cNvPr>
            <p:cNvSpPr/>
            <p:nvPr/>
          </p:nvSpPr>
          <p:spPr>
            <a:xfrm>
              <a:off x="6560580" y="2516816"/>
              <a:ext cx="2109563" cy="1824368"/>
            </a:xfrm>
            <a:prstGeom prst="round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i="1" dirty="0">
                  <a:latin typeface="+mj-lt"/>
                  <a:ea typeface="Cambria Math" panose="02040503050406030204" pitchFamily="18" charset="0"/>
                </a:rPr>
                <a:t>Abstract Controller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DD4DCE-4665-1962-A7BA-6F307973BE28}"/>
              </a:ext>
            </a:extLst>
          </p:cNvPr>
          <p:cNvGrpSpPr/>
          <p:nvPr/>
        </p:nvGrpSpPr>
        <p:grpSpPr>
          <a:xfrm>
            <a:off x="2116862" y="3459510"/>
            <a:ext cx="3356705" cy="1717656"/>
            <a:chOff x="3032760" y="1711344"/>
            <a:chExt cx="6126480" cy="3134975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4C30A47-E2EE-66EC-B9E8-B188A951BB42}"/>
                </a:ext>
              </a:extLst>
            </p:cNvPr>
            <p:cNvSpPr/>
            <p:nvPr/>
          </p:nvSpPr>
          <p:spPr>
            <a:xfrm>
              <a:off x="3032760" y="1711344"/>
              <a:ext cx="6126480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latin typeface="+mj-lt"/>
                  <a:ea typeface="Cambria Math" panose="02040503050406030204" pitchFamily="18" charset="0"/>
                </a:rPr>
                <a:t>Concrete system</a:t>
              </a: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55E328F-AA8A-03D8-7A55-5B7825CC3BC8}"/>
                </a:ext>
              </a:extLst>
            </p:cNvPr>
            <p:cNvSpPr/>
            <p:nvPr/>
          </p:nvSpPr>
          <p:spPr>
            <a:xfrm>
              <a:off x="3842779" y="2516816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sz="2000" b="1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9DDADCA-EE7B-301A-9D74-3411F5C13B7E}"/>
                </a:ext>
              </a:extLst>
            </p:cNvPr>
            <p:cNvSpPr/>
            <p:nvPr/>
          </p:nvSpPr>
          <p:spPr>
            <a:xfrm>
              <a:off x="6560577" y="2516816"/>
              <a:ext cx="2534357" cy="1824368"/>
            </a:xfrm>
            <a:prstGeom prst="roundRect">
              <a:avLst/>
            </a:prstGeom>
            <a:pattFill prst="pct20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latin typeface="+mj-lt"/>
                  <a:ea typeface="Cambria Math" panose="02040503050406030204" pitchFamily="18" charset="0"/>
                </a:rPr>
                <a:t>Controller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9C686E-4094-047C-1237-C4F7ADFD5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705" y="3197721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5084DA-F3EF-60BC-F304-7918D8C525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2705" y="3856089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52258A8-78DC-F392-22EA-9AA52A841E17}"/>
              </a:ext>
            </a:extLst>
          </p:cNvPr>
          <p:cNvSpPr/>
          <p:nvPr/>
        </p:nvSpPr>
        <p:spPr>
          <a:xfrm>
            <a:off x="6930926" y="1230124"/>
            <a:ext cx="1245235" cy="1269195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latin typeface="+mj-lt"/>
                <a:ea typeface="Cambria Math" panose="02040503050406030204" pitchFamily="18" charset="0"/>
              </a:rPr>
              <a:t>Abstract Controller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5F63BFE-9442-1E25-9B18-CA70445E33F3}"/>
                  </a:ext>
                </a:extLst>
              </p:cNvPr>
              <p:cNvSpPr txBox="1"/>
              <p:nvPr/>
            </p:nvSpPr>
            <p:spPr>
              <a:xfrm>
                <a:off x="5778942" y="1510778"/>
                <a:ext cx="676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5F63BFE-9442-1E25-9B18-CA70445E3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942" y="1510778"/>
                <a:ext cx="676788" cy="707886"/>
              </a:xfrm>
              <a:prstGeom prst="rect">
                <a:avLst/>
              </a:prstGeom>
              <a:blipFill>
                <a:blip r:embed="rId4"/>
                <a:stretch>
                  <a:fillRect l="-5556" r="-3704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CEC4-C33D-7296-6694-136AC903D371}"/>
                  </a:ext>
                </a:extLst>
              </p:cNvPr>
              <p:cNvSpPr txBox="1"/>
              <p:nvPr/>
            </p:nvSpPr>
            <p:spPr>
              <a:xfrm>
                <a:off x="5713089" y="3917818"/>
                <a:ext cx="676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CEC4-C33D-7296-6694-136AC903D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089" y="3917818"/>
                <a:ext cx="676788" cy="707886"/>
              </a:xfrm>
              <a:prstGeom prst="rect">
                <a:avLst/>
              </a:prstGeom>
              <a:blipFill>
                <a:blip r:embed="rId5"/>
                <a:stretch>
                  <a:fillRect l="-3636" r="-3636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2142987-FBE4-BB2F-DFC1-D7669DB5DAFF}"/>
              </a:ext>
            </a:extLst>
          </p:cNvPr>
          <p:cNvSpPr txBox="1"/>
          <p:nvPr/>
        </p:nvSpPr>
        <p:spPr>
          <a:xfrm>
            <a:off x="1718607" y="1567390"/>
            <a:ext cx="13324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Does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C67555-55FD-63EE-E9C2-03247767C393}"/>
              </a:ext>
            </a:extLst>
          </p:cNvPr>
          <p:cNvSpPr txBox="1"/>
          <p:nvPr/>
        </p:nvSpPr>
        <p:spPr>
          <a:xfrm>
            <a:off x="5438335" y="2534527"/>
            <a:ext cx="1446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imply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20CC57-3F94-49B1-7E30-FC3416687847}"/>
              </a:ext>
            </a:extLst>
          </p:cNvPr>
          <p:cNvSpPr txBox="1"/>
          <p:nvPr/>
        </p:nvSpPr>
        <p:spPr>
          <a:xfrm>
            <a:off x="10225628" y="3881460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751D364-5EC6-CA6E-D5D6-C262321D3865}"/>
                  </a:ext>
                </a:extLst>
              </p:cNvPr>
              <p:cNvSpPr txBox="1"/>
              <p:nvPr/>
            </p:nvSpPr>
            <p:spPr>
              <a:xfrm>
                <a:off x="637109" y="5393424"/>
                <a:ext cx="1094113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Substitutivity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 </a:t>
                </a:r>
              </a:p>
              <a:p>
                <a:r>
                  <a:rPr lang="en-US" sz="2000" b="1" dirty="0">
                    <a:solidFill>
                      <a:srgbClr val="00B0F0"/>
                    </a:solidFill>
                  </a:rPr>
                  <a:t>Theorem</a:t>
                </a:r>
                <a:r>
                  <a:rPr lang="en-US" b="1" dirty="0">
                    <a:solidFill>
                      <a:srgbClr val="00B050"/>
                    </a:solidFill>
                  </a:rPr>
                  <a:t>: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 </a:t>
                </a:r>
                <a:r>
                  <a:rPr lang="en-US" sz="2000" dirty="0"/>
                  <a:t>Suppose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1</a:t>
                </a:r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2 </a:t>
                </a:r>
                <a:r>
                  <a:rPr lang="en-US" sz="2000" dirty="0"/>
                  <a:t>and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sz="2000" dirty="0"/>
                  <a:t> have the same external interface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1</a:t>
                </a:r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2 </a:t>
                </a:r>
                <a:r>
                  <a:rPr lang="en-US" sz="2000" dirty="0"/>
                  <a:t>are compatible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sz="2000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2 </a:t>
                </a: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1</a:t>
                </a:r>
                <a:r>
                  <a:rPr lang="en-US" sz="2000" dirty="0"/>
                  <a:t>||</a:t>
                </a:r>
                <a:r>
                  <a:rPr lang="en-US" sz="20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baseline="-25000" dirty="0"/>
                  <a:t>2 </a:t>
                </a:r>
                <a:r>
                  <a:rPr lang="en-US" sz="2000" dirty="0"/>
                  <a:t>||</a:t>
                </a:r>
                <a:r>
                  <a:rPr lang="en-US" sz="20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751D364-5EC6-CA6E-D5D6-C262321D3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09" y="5393424"/>
                <a:ext cx="10941137" cy="1015663"/>
              </a:xfrm>
              <a:prstGeom prst="rect">
                <a:avLst/>
              </a:prstGeom>
              <a:blipFill>
                <a:blip r:embed="rId6"/>
                <a:stretch>
                  <a:fillRect l="-580" t="-3704" r="-812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84FA2D-B229-3E24-BF5C-826DF7BEF64F}"/>
                  </a:ext>
                </a:extLst>
              </p:cNvPr>
              <p:cNvSpPr txBox="1"/>
              <p:nvPr/>
            </p:nvSpPr>
            <p:spPr>
              <a:xfrm>
                <a:off x="637108" y="6578730"/>
                <a:ext cx="1094113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Stronger substitutivity result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 </a:t>
                </a:r>
              </a:p>
              <a:p>
                <a:r>
                  <a:rPr lang="en-US" sz="2000" b="1" dirty="0">
                    <a:solidFill>
                      <a:srgbClr val="00B0F0"/>
                    </a:solidFill>
                  </a:rPr>
                  <a:t>Theorem</a:t>
                </a:r>
                <a:r>
                  <a:rPr lang="en-US" b="1" dirty="0">
                    <a:solidFill>
                      <a:srgbClr val="00B05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84FA2D-B229-3E24-BF5C-826DF7BEF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08" y="6578730"/>
                <a:ext cx="10941137" cy="707886"/>
              </a:xfrm>
              <a:prstGeom prst="rect">
                <a:avLst/>
              </a:prstGeom>
              <a:blipFill>
                <a:blip r:embed="rId7"/>
                <a:stretch>
                  <a:fillRect l="-580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02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9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542027" y="18610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b="1" dirty="0">
                <a:latin typeface="+mj-lt"/>
              </a:rPr>
              <a:t>Counterexample guided abstraction refinement (CEGAR)</a:t>
            </a:r>
            <a:endParaRPr lang="en-US" sz="3173" b="1" dirty="0">
              <a:latin typeface="+mj-lt"/>
            </a:endParaRPr>
          </a:p>
        </p:txBody>
      </p:sp>
      <p:sp>
        <p:nvSpPr>
          <p:cNvPr id="3" name="Content Placeholder 37">
            <a:extLst>
              <a:ext uri="{FF2B5EF4-FFF2-40B4-BE49-F238E27FC236}">
                <a16:creationId xmlns:a16="http://schemas.microsoft.com/office/drawing/2014/main" id="{93F0A620-8F83-5F0C-DEA9-7AAEAE384D47}"/>
              </a:ext>
            </a:extLst>
          </p:cNvPr>
          <p:cNvSpPr txBox="1">
            <a:spLocks/>
          </p:cNvSpPr>
          <p:nvPr/>
        </p:nvSpPr>
        <p:spPr>
          <a:xfrm>
            <a:off x="619525" y="1477988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A general algorithmic framework  for automatically constructing and verifying property-specific abstractions </a:t>
            </a:r>
            <a:r>
              <a:rPr lang="en-US" sz="2000" dirty="0">
                <a:solidFill>
                  <a:srgbClr val="00B0F0"/>
                </a:solidFill>
                <a:latin typeface="+mn-lt"/>
              </a:rPr>
              <a:t>[Clarke:2000]</a:t>
            </a: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CEGAR has been applied to discrete automata, software, and hybrid systems </a:t>
            </a:r>
            <a:r>
              <a:rPr lang="en-US" sz="2000" dirty="0">
                <a:solidFill>
                  <a:srgbClr val="00B0F0"/>
                </a:solidFill>
                <a:latin typeface="+mn-lt"/>
              </a:rPr>
              <a:t>[Holzman 00,Ball 01, Alur 2006,Clarke 2003, Fehnker2005, Prabhakar 15, </a:t>
            </a:r>
            <a:r>
              <a:rPr lang="en-US" sz="2000" dirty="0" err="1">
                <a:solidFill>
                  <a:srgbClr val="00B0F0"/>
                </a:solidFill>
                <a:latin typeface="+mn-lt"/>
              </a:rPr>
              <a:t>Roohi</a:t>
            </a:r>
            <a:r>
              <a:rPr lang="en-US" sz="2000" dirty="0">
                <a:solidFill>
                  <a:srgbClr val="00B0F0"/>
                </a:solidFill>
                <a:latin typeface="+mn-lt"/>
              </a:rPr>
              <a:t> 17]</a:t>
            </a: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The goal is to verify a requirement S for a system or an automaton A</a:t>
            </a:r>
          </a:p>
          <a:p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88C3DCB-237C-A02D-3AF2-99CADF28B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32" y="3196175"/>
            <a:ext cx="3470267" cy="408995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1FEA916-5A38-358B-FC50-1E2F5E76CDBB}"/>
              </a:ext>
            </a:extLst>
          </p:cNvPr>
          <p:cNvSpPr txBox="1"/>
          <p:nvPr/>
        </p:nvSpPr>
        <p:spPr>
          <a:xfrm>
            <a:off x="1376366" y="7359044"/>
            <a:ext cx="7262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CEGAR loop for verifying a requirement S for a system A</a:t>
            </a:r>
          </a:p>
        </p:txBody>
      </p:sp>
    </p:spTree>
    <p:extLst>
      <p:ext uri="{BB962C8B-B14F-4D97-AF65-F5344CB8AC3E}">
        <p14:creationId xmlns:p14="http://schemas.microsoft.com/office/powerpoint/2010/main" val="96885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10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542027" y="18610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b="1" dirty="0">
                <a:latin typeface="+mj-lt"/>
              </a:rPr>
              <a:t>Key design choices in CEGAR</a:t>
            </a:r>
            <a:endParaRPr lang="en-US" sz="3173" b="1" dirty="0">
              <a:latin typeface="+mj-lt"/>
            </a:endParaRPr>
          </a:p>
        </p:txBody>
      </p:sp>
      <p:sp>
        <p:nvSpPr>
          <p:cNvPr id="3" name="Content Placeholder 37">
            <a:extLst>
              <a:ext uri="{FF2B5EF4-FFF2-40B4-BE49-F238E27FC236}">
                <a16:creationId xmlns:a16="http://schemas.microsoft.com/office/drawing/2014/main" id="{93F0A620-8F83-5F0C-DEA9-7AAEAE384D47}"/>
              </a:ext>
            </a:extLst>
          </p:cNvPr>
          <p:cNvSpPr txBox="1">
            <a:spLocks/>
          </p:cNvSpPr>
          <p:nvPr/>
        </p:nvSpPr>
        <p:spPr>
          <a:xfrm>
            <a:off x="694427" y="20134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Space of the abstract automata (finite, timed, linear)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Model checker for abstract automaton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Counter-example validation procedure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Refinement strategy</a:t>
            </a:r>
          </a:p>
          <a:p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3337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11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542027" y="18610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b="1" dirty="0">
                <a:latin typeface="+mj-lt"/>
              </a:rPr>
              <a:t>Space of the abstract automata </a:t>
            </a:r>
            <a:endParaRPr lang="en-US" sz="3173" b="1" dirty="0">
              <a:latin typeface="+mj-lt"/>
            </a:endParaRPr>
          </a:p>
        </p:txBody>
      </p:sp>
      <p:sp>
        <p:nvSpPr>
          <p:cNvPr id="3" name="Content Placeholder 37">
            <a:extLst>
              <a:ext uri="{FF2B5EF4-FFF2-40B4-BE49-F238E27FC236}">
                <a16:creationId xmlns:a16="http://schemas.microsoft.com/office/drawing/2014/main" id="{93F0A620-8F83-5F0C-DEA9-7AAEAE384D47}"/>
              </a:ext>
            </a:extLst>
          </p:cNvPr>
          <p:cNvSpPr txBox="1">
            <a:spLocks/>
          </p:cNvSpPr>
          <p:nvPr/>
        </p:nvSpPr>
        <p:spPr>
          <a:xfrm>
            <a:off x="694427" y="20134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5AED9-D9A4-412E-0016-9F95DEFF0A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7032"/>
          <a:stretch/>
        </p:blipFill>
        <p:spPr>
          <a:xfrm>
            <a:off x="1669077" y="3021112"/>
            <a:ext cx="3902325" cy="2562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84A707-62E1-AD4B-AA7C-B404AF0DA9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185" b="33311"/>
          <a:stretch/>
        </p:blipFill>
        <p:spPr>
          <a:xfrm>
            <a:off x="6983701" y="2964098"/>
            <a:ext cx="3902325" cy="260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6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12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542027" y="18610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b="1" dirty="0">
                <a:latin typeface="+mj-lt"/>
              </a:rPr>
              <a:t>Model checker </a:t>
            </a:r>
            <a:endParaRPr lang="en-US" sz="3173" b="1" dirty="0">
              <a:latin typeface="+mj-lt"/>
            </a:endParaRPr>
          </a:p>
        </p:txBody>
      </p:sp>
      <p:sp>
        <p:nvSpPr>
          <p:cNvPr id="3" name="Content Placeholder 37">
            <a:extLst>
              <a:ext uri="{FF2B5EF4-FFF2-40B4-BE49-F238E27FC236}">
                <a16:creationId xmlns:a16="http://schemas.microsoft.com/office/drawing/2014/main" id="{93F0A620-8F83-5F0C-DEA9-7AAEAE384D47}"/>
              </a:ext>
            </a:extLst>
          </p:cNvPr>
          <p:cNvSpPr txBox="1">
            <a:spLocks/>
          </p:cNvSpPr>
          <p:nvPr/>
        </p:nvSpPr>
        <p:spPr>
          <a:xfrm>
            <a:off x="694427" y="20134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37">
                <a:extLst>
                  <a:ext uri="{FF2B5EF4-FFF2-40B4-BE49-F238E27FC236}">
                    <a16:creationId xmlns:a16="http://schemas.microsoft.com/office/drawing/2014/main" id="{F1AC87E5-3B1C-9193-B259-B485560975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427" y="1854646"/>
                <a:ext cx="12578549" cy="5193178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solidFill>
                      <a:srgbClr val="00B0F0"/>
                    </a:solidFill>
                    <a:latin typeface="+mn-lt"/>
                  </a:rPr>
                  <a:t>Model checker </a:t>
                </a:r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takes an input abstract automaton B and </a:t>
                </a:r>
                <a:r>
                  <a:rPr lang="en-US" sz="2400" b="1" dirty="0">
                    <a:solidFill>
                      <a:schemeClr val="tx1"/>
                    </a:solidFill>
                    <a:latin typeface="+mn-lt"/>
                  </a:rPr>
                  <a:t>decides whether B meets the requirement S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If B violates S, the model checker has to produce a counterexample,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+mn-lt"/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</a:rPr>
                  <a:t>The type of requirement S and the choice of the type of abstract automaton determine the type of model checker we can employ</a:t>
                </a:r>
              </a:p>
              <a:p>
                <a:pPr lvl="1"/>
                <a:r>
                  <a:rPr lang="en-US" sz="2125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</a:rPr>
                  <a:t>If B is timed automaton </a:t>
                </a:r>
                <a:r>
                  <a:rPr lang="en-US" sz="2125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 </a:t>
                </a:r>
                <a:r>
                  <a:rPr lang="en-US" sz="2125" dirty="0">
                    <a:solidFill>
                      <a:srgbClr val="00B0F0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UPPAL</a:t>
                </a:r>
                <a:r>
                  <a:rPr lang="en-US" sz="2125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 (scales exponentially with the number of clock variables)</a:t>
                </a:r>
              </a:p>
              <a:p>
                <a:pPr lvl="1"/>
                <a:r>
                  <a:rPr lang="en-US" sz="2125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If B is an RHA  model checking is technically undecidable but tools like </a:t>
                </a:r>
                <a:r>
                  <a:rPr lang="en-US" sz="2125" dirty="0" err="1">
                    <a:solidFill>
                      <a:srgbClr val="00B0F0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HyTech</a:t>
                </a:r>
                <a:r>
                  <a:rPr lang="en-US" sz="2125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 and </a:t>
                </a:r>
                <a:r>
                  <a:rPr lang="en-US" sz="2125" dirty="0" err="1">
                    <a:solidFill>
                      <a:srgbClr val="00B0F0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PHAVer</a:t>
                </a:r>
                <a:r>
                  <a:rPr lang="en-US" sz="2125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 can be used without the guarantee of termination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  </a:t>
                </a:r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 </a:t>
                </a:r>
              </a:p>
              <a:p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en-US" sz="2075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8" name="Content Placeholder 37">
                <a:extLst>
                  <a:ext uri="{FF2B5EF4-FFF2-40B4-BE49-F238E27FC236}">
                    <a16:creationId xmlns:a16="http://schemas.microsoft.com/office/drawing/2014/main" id="{F1AC87E5-3B1C-9193-B259-B48556097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27" y="1854646"/>
                <a:ext cx="12578549" cy="519317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996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13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542027" y="18610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b="1" dirty="0">
                <a:latin typeface="+mj-lt"/>
              </a:rPr>
              <a:t>Counterexample validation </a:t>
            </a:r>
            <a:endParaRPr lang="en-US" sz="3173" b="1" dirty="0">
              <a:latin typeface="+mj-lt"/>
            </a:endParaRPr>
          </a:p>
        </p:txBody>
      </p:sp>
      <p:sp>
        <p:nvSpPr>
          <p:cNvPr id="3" name="Content Placeholder 37">
            <a:extLst>
              <a:ext uri="{FF2B5EF4-FFF2-40B4-BE49-F238E27FC236}">
                <a16:creationId xmlns:a16="http://schemas.microsoft.com/office/drawing/2014/main" id="{93F0A620-8F83-5F0C-DEA9-7AAEAE384D47}"/>
              </a:ext>
            </a:extLst>
          </p:cNvPr>
          <p:cNvSpPr txBox="1">
            <a:spLocks/>
          </p:cNvSpPr>
          <p:nvPr/>
        </p:nvSpPr>
        <p:spPr>
          <a:xfrm>
            <a:off x="694427" y="20134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37">
                <a:extLst>
                  <a:ext uri="{FF2B5EF4-FFF2-40B4-BE49-F238E27FC236}">
                    <a16:creationId xmlns:a16="http://schemas.microsoft.com/office/drawing/2014/main" id="{F1AC87E5-3B1C-9193-B259-B485560975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427" y="1854646"/>
                <a:ext cx="12578549" cy="5193178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>
                    <a:solidFill>
                      <a:schemeClr val="tx1"/>
                    </a:solidFill>
                    <a:latin typeface="+mn-lt"/>
                  </a:rPr>
                  <a:t>Validation step (step 2)</a:t>
                </a:r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 in CEGAR loop takes an abstract counterexample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 and checks whether there is a corresponding execution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 of the concrete automaton A.  </a:t>
                </a:r>
                <a:endParaRPr lang="en-US" sz="2125" dirty="0">
                  <a:solidFill>
                    <a:schemeClr val="tx1"/>
                  </a:solidFill>
                  <a:latin typeface="+mn-lt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+mn-lt"/>
                    <a:ea typeface="Cambria Math" panose="02040503050406030204" pitchFamily="18" charset="0"/>
                    <a:sym typeface="Wingdings" pitchFamily="2" charset="2"/>
                  </a:rPr>
                  <a:t>For example, the counterexample for the discrete automaton B discovered by the discrete model checker is the execution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𝛽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Now, we have to check whether there is an execution of A that traverses those regions. 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effectLst/>
                    <a:latin typeface="+mn-lt"/>
                  </a:rPr>
                  <a:t>One way to implement that is to compute the set of states that are backward-reachable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+mn-lt"/>
                  </a:rPr>
                  <a:t> and that touch states in </a:t>
                </a:r>
                <a:r>
                  <a:rPr lang="el-GR" sz="2400" dirty="0">
                    <a:solidFill>
                      <a:schemeClr val="tx1"/>
                    </a:solidFill>
                    <a:effectLst/>
                    <a:latin typeface="+mn-lt"/>
                  </a:rPr>
                  <a:t>β, </a:t>
                </a:r>
                <a:r>
                  <a:rPr lang="en-US" sz="2400" dirty="0">
                    <a:solidFill>
                      <a:schemeClr val="tx1"/>
                    </a:solidFill>
                    <a:effectLst/>
                    <a:latin typeface="+mn-lt"/>
                  </a:rPr>
                  <a:t>and check whether this set intersects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endParaRPr lang="en-US" sz="24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en-US" sz="2075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8" name="Content Placeholder 37">
                <a:extLst>
                  <a:ext uri="{FF2B5EF4-FFF2-40B4-BE49-F238E27FC236}">
                    <a16:creationId xmlns:a16="http://schemas.microsoft.com/office/drawing/2014/main" id="{F1AC87E5-3B1C-9193-B259-B48556097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27" y="1854646"/>
                <a:ext cx="12578549" cy="519317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C186F2E-DAE5-E0D2-6B96-DBF500C2AE2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7032"/>
          <a:stretch/>
        </p:blipFill>
        <p:spPr>
          <a:xfrm>
            <a:off x="4613490" y="5055966"/>
            <a:ext cx="3902325" cy="256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46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2E3A5-5EF2-43D3-E7BF-443295FA10F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14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CBBFE7-29EB-A52F-709E-2E8EA855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073" y="349903"/>
            <a:ext cx="1353332" cy="982105"/>
          </a:xfrm>
          <a:prstGeom prst="rect">
            <a:avLst/>
          </a:prstGeom>
        </p:spPr>
      </p:pic>
      <p:sp>
        <p:nvSpPr>
          <p:cNvPr id="2" name="Content Placeholder 37">
            <a:extLst>
              <a:ext uri="{FF2B5EF4-FFF2-40B4-BE49-F238E27FC236}">
                <a16:creationId xmlns:a16="http://schemas.microsoft.com/office/drawing/2014/main" id="{D5A71C11-69B8-635C-9A8F-2FD5342DD221}"/>
              </a:ext>
            </a:extLst>
          </p:cNvPr>
          <p:cNvSpPr txBox="1">
            <a:spLocks/>
          </p:cNvSpPr>
          <p:nvPr/>
        </p:nvSpPr>
        <p:spPr>
          <a:xfrm>
            <a:off x="542027" y="18610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12B01C3-1EB3-AE43-0918-AD6469DC2664}"/>
              </a:ext>
            </a:extLst>
          </p:cNvPr>
          <p:cNvSpPr txBox="1">
            <a:spLocks/>
          </p:cNvSpPr>
          <p:nvPr/>
        </p:nvSpPr>
        <p:spPr>
          <a:xfrm>
            <a:off x="690882" y="518161"/>
            <a:ext cx="12205547" cy="655027"/>
          </a:xfrm>
          <a:prstGeom prst="rect">
            <a:avLst/>
          </a:prstGeom>
        </p:spPr>
        <p:txBody>
          <a:bodyPr vert="horz" lIns="103632" tIns="51816" rIns="103632" bIns="51816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b="1" dirty="0">
                <a:latin typeface="+mj-lt"/>
              </a:rPr>
              <a:t>Refinement strategy</a:t>
            </a:r>
            <a:endParaRPr lang="en-US" sz="3173" b="1" dirty="0">
              <a:latin typeface="+mj-lt"/>
            </a:endParaRPr>
          </a:p>
        </p:txBody>
      </p:sp>
      <p:sp>
        <p:nvSpPr>
          <p:cNvPr id="3" name="Content Placeholder 37">
            <a:extLst>
              <a:ext uri="{FF2B5EF4-FFF2-40B4-BE49-F238E27FC236}">
                <a16:creationId xmlns:a16="http://schemas.microsoft.com/office/drawing/2014/main" id="{93F0A620-8F83-5F0C-DEA9-7AAEAE384D47}"/>
              </a:ext>
            </a:extLst>
          </p:cNvPr>
          <p:cNvSpPr txBox="1">
            <a:spLocks/>
          </p:cNvSpPr>
          <p:nvPr/>
        </p:nvSpPr>
        <p:spPr>
          <a:xfrm>
            <a:off x="694427" y="2013466"/>
            <a:ext cx="12578549" cy="5193178"/>
          </a:xfrm>
        </p:spPr>
        <p:txBody>
          <a:bodyPr/>
          <a:lstStyle>
            <a:lvl1pPr marL="311338" indent="-31133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219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624854" indent="-313518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tabLst/>
              <a:defRPr sz="192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857819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090781" indent="-232962" algn="l" defTabSz="698642" rtl="0" eaLnBrk="1" latinLnBrk="0" hangingPunct="1">
              <a:spcBef>
                <a:spcPct val="20000"/>
              </a:spcBef>
              <a:buClr>
                <a:srgbClr val="BAA278"/>
              </a:buClr>
              <a:buFont typeface="Lucida Grande"/>
              <a:buChar char="▸"/>
              <a:defRPr sz="151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2118414" indent="-232962" algn="r" defTabSz="698642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1648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384252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41165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39806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938442" indent="-349325" algn="l" defTabSz="698642" rtl="0" eaLnBrk="1" latinLnBrk="0" hangingPunct="1">
              <a:spcBef>
                <a:spcPct val="20000"/>
              </a:spcBef>
              <a:buFont typeface="Arial"/>
              <a:buChar char="•"/>
              <a:defRPr sz="30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endParaRPr lang="en-US" sz="2075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37">
                <a:extLst>
                  <a:ext uri="{FF2B5EF4-FFF2-40B4-BE49-F238E27FC236}">
                    <a16:creationId xmlns:a16="http://schemas.microsoft.com/office/drawing/2014/main" id="{F1AC87E5-3B1C-9193-B259-B485560975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427" y="1854646"/>
                <a:ext cx="12578549" cy="5193178"/>
              </a:xfrm>
            </p:spPr>
            <p:txBody>
              <a:bodyPr/>
              <a:lstStyle>
                <a:lvl1pPr marL="311338" indent="-31133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219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1pPr>
                <a:lvl2pPr marL="624854" indent="-313518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tabLst/>
                  <a:defRPr sz="1923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2pPr>
                <a:lvl3pPr marL="857819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3pPr>
                <a:lvl4pPr marL="1090781" indent="-232962" algn="l" defTabSz="698642" rtl="0" eaLnBrk="1" latinLnBrk="0" hangingPunct="1">
                  <a:spcBef>
                    <a:spcPct val="20000"/>
                  </a:spcBef>
                  <a:buClr>
                    <a:srgbClr val="BAA278"/>
                  </a:buClr>
                  <a:buFont typeface="Lucida Grande"/>
                  <a:buChar char="▸"/>
                  <a:defRPr sz="1511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4pPr>
                <a:lvl5pPr marL="2118414" indent="-232962" algn="r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tabLst/>
                  <a:defRPr sz="1648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+mn-ea"/>
                    <a:cs typeface="Arial"/>
                  </a:defRPr>
                </a:lvl5pPr>
                <a:lvl6pPr marL="384252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41165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239806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938442" indent="-349325" algn="l" defTabSz="698642" rtl="0" eaLnBrk="1" latinLnBrk="0" hangingPunct="1">
                  <a:spcBef>
                    <a:spcPct val="20000"/>
                  </a:spcBef>
                  <a:buFont typeface="Arial"/>
                  <a:buChar char="•"/>
                  <a:defRPr sz="302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Final step in CEGAR loop refines an abstract automaton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 to a new finer abstraction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 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+mn-lt"/>
                  </a:rPr>
                  <a:t>Strategies for refinement include:</a:t>
                </a:r>
              </a:p>
              <a:p>
                <a:pPr lvl="1"/>
                <a:r>
                  <a:rPr lang="en-US" sz="2125" dirty="0">
                    <a:solidFill>
                      <a:schemeClr val="tx1"/>
                    </a:solidFill>
                    <a:latin typeface="+mn-lt"/>
                  </a:rPr>
                  <a:t>Splitting of a single location into multiple locations</a:t>
                </a:r>
              </a:p>
              <a:p>
                <a:pPr lvl="1"/>
                <a:r>
                  <a:rPr lang="en-US" sz="2125" dirty="0">
                    <a:solidFill>
                      <a:schemeClr val="tx1"/>
                    </a:solidFill>
                    <a:latin typeface="+mn-lt"/>
                  </a:rPr>
                  <a:t>Addition of variables </a:t>
                </a:r>
              </a:p>
              <a:p>
                <a:pPr lvl="1"/>
                <a:r>
                  <a:rPr lang="en-US" sz="2125" dirty="0">
                    <a:solidFill>
                      <a:schemeClr val="tx1"/>
                    </a:solidFill>
                    <a:latin typeface="+mn-lt"/>
                  </a:rPr>
                  <a:t>Splitting of transitions</a:t>
                </a:r>
              </a:p>
              <a:p>
                <a:pPr lvl="1"/>
                <a:r>
                  <a:rPr lang="en-US" sz="2125" dirty="0">
                    <a:solidFill>
                      <a:schemeClr val="tx1"/>
                    </a:solidFill>
                    <a:latin typeface="+mn-lt"/>
                  </a:rPr>
                  <a:t>Addition of higher-order terms in approximating nonlinear dynamics   </a:t>
                </a:r>
              </a:p>
              <a:p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en-US" sz="20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en-US" sz="2075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8" name="Content Placeholder 37">
                <a:extLst>
                  <a:ext uri="{FF2B5EF4-FFF2-40B4-BE49-F238E27FC236}">
                    <a16:creationId xmlns:a16="http://schemas.microsoft.com/office/drawing/2014/main" id="{F1AC87E5-3B1C-9193-B259-B48556097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27" y="1854646"/>
                <a:ext cx="12578549" cy="519317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164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FD13-DE4C-CBFF-E543-251C3FD9037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C0CD48-BA7C-391F-CCB3-A9543E9B619C}"/>
              </a:ext>
            </a:extLst>
          </p:cNvPr>
          <p:cNvSpPr>
            <a:spLocks noGrp="1"/>
          </p:cNvSpPr>
          <p:nvPr/>
        </p:nvSpPr>
        <p:spPr>
          <a:xfrm>
            <a:off x="3210205" y="2176282"/>
            <a:ext cx="7397189" cy="2192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b="1" dirty="0">
                <a:solidFill>
                  <a:srgbClr val="08436E"/>
                </a:solidFill>
                <a:ea typeface="+mn-ea"/>
                <a:cs typeface="+mn-cs"/>
              </a:rPr>
              <a:t>Thank You!!!</a:t>
            </a:r>
            <a:endParaRPr lang="en-US" sz="6000" b="1" dirty="0">
              <a:solidFill>
                <a:srgbClr val="08436E"/>
              </a:solidFill>
              <a:ea typeface="+mn-ea"/>
              <a:cs typeface="+mn-cs"/>
            </a:endParaRPr>
          </a:p>
          <a:p>
            <a:pPr algn="ctr"/>
            <a:r>
              <a:rPr lang="en-US" sz="5400" dirty="0">
                <a:solidFill>
                  <a:srgbClr val="08436E"/>
                </a:solidFill>
                <a:ea typeface="+mn-ea"/>
                <a:cs typeface="+mn-cs"/>
              </a:rPr>
              <a:t>Q&amp;A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A6DED9-925A-BB9D-460C-740E3DACF382}"/>
              </a:ext>
            </a:extLst>
          </p:cNvPr>
          <p:cNvSpPr/>
          <p:nvPr/>
        </p:nvSpPr>
        <p:spPr>
          <a:xfrm flipV="1">
            <a:off x="1638413" y="4507150"/>
            <a:ext cx="10540772" cy="76983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21" tIns="62707" rIns="125421" bIns="62707" rtlCol="0" anchor="ctr"/>
          <a:lstStyle/>
          <a:p>
            <a:pPr algn="ctr" defTabSz="698559"/>
            <a:endParaRPr lang="en-US" sz="2747">
              <a:solidFill>
                <a:srgbClr val="1183CC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8078AA-060F-7217-B8B6-AF3BEB84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5073" y="130632"/>
            <a:ext cx="1353332" cy="98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4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38451</TotalTime>
  <Words>1004</Words>
  <Application>Microsoft Macintosh PowerPoint</Application>
  <PresentationFormat>Custom</PresentationFormat>
  <Paragraphs>154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Avenir</vt:lpstr>
      <vt:lpstr>Avenir Black</vt:lpstr>
      <vt:lpstr>Avenir Book</vt:lpstr>
      <vt:lpstr>Avenir Medium</vt:lpstr>
      <vt:lpstr>AvenirNext LT Pro Bold</vt:lpstr>
      <vt:lpstr>Calibri</vt:lpstr>
      <vt:lpstr>Cambria Math</vt:lpstr>
      <vt:lpstr>Lucida Grande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Rex</dc:creator>
  <cp:keywords/>
  <dc:description/>
  <cp:lastModifiedBy>Taye, Abenezer Girma</cp:lastModifiedBy>
  <cp:revision>506</cp:revision>
  <cp:lastPrinted>2016-12-21T01:41:29Z</cp:lastPrinted>
  <dcterms:created xsi:type="dcterms:W3CDTF">2014-12-17T18:59:26Z</dcterms:created>
  <dcterms:modified xsi:type="dcterms:W3CDTF">2022-11-17T17:33:36Z</dcterms:modified>
  <cp:category/>
</cp:coreProperties>
</file>