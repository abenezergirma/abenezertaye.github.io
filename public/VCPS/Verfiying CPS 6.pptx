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15"/>
  </p:notesMasterIdLst>
  <p:sldIdLst>
    <p:sldId id="257" r:id="rId2"/>
    <p:sldId id="261" r:id="rId3"/>
    <p:sldId id="278" r:id="rId4"/>
    <p:sldId id="279" r:id="rId5"/>
    <p:sldId id="271" r:id="rId6"/>
    <p:sldId id="272" r:id="rId7"/>
    <p:sldId id="273" r:id="rId8"/>
    <p:sldId id="258" r:id="rId9"/>
    <p:sldId id="274" r:id="rId10"/>
    <p:sldId id="275" r:id="rId11"/>
    <p:sldId id="276" r:id="rId12"/>
    <p:sldId id="277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05"/>
    <p:restoredTop sz="94674"/>
  </p:normalViewPr>
  <p:slideViewPr>
    <p:cSldViewPr snapToGrid="0" snapToObjects="1">
      <p:cViewPr varScale="1">
        <p:scale>
          <a:sx n="102" d="100"/>
          <a:sy n="102" d="100"/>
        </p:scale>
        <p:origin x="9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082FD7-E905-2040-8B74-8B0BCF491973}" type="doc">
      <dgm:prSet loTypeId="urn:microsoft.com/office/officeart/2005/8/layout/orgChart1" loCatId="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6D5334-A71F-3D49-8B38-96842385239A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dirty="0"/>
            <a:t>Temporal logic</a:t>
          </a:r>
        </a:p>
      </dgm:t>
    </dgm:pt>
    <dgm:pt modelId="{28ABF79C-4D48-314D-97E0-F19F36ECA8FF}" type="parTrans" cxnId="{58AEBD5A-B013-A740-8A3B-02C5B802DE11}">
      <dgm:prSet/>
      <dgm:spPr/>
      <dgm:t>
        <a:bodyPr/>
        <a:lstStyle/>
        <a:p>
          <a:endParaRPr lang="en-US"/>
        </a:p>
      </dgm:t>
    </dgm:pt>
    <dgm:pt modelId="{021EFC9B-B443-C448-BCD4-A9E806D34E73}" type="sibTrans" cxnId="{58AEBD5A-B013-A740-8A3B-02C5B802DE11}">
      <dgm:prSet/>
      <dgm:spPr/>
      <dgm:t>
        <a:bodyPr/>
        <a:lstStyle/>
        <a:p>
          <a:endParaRPr lang="en-US"/>
        </a:p>
      </dgm:t>
    </dgm:pt>
    <dgm:pt modelId="{D6A54F79-104A-AC45-9A64-1E5757911794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/>
            <a:t>Linear Logics</a:t>
          </a:r>
        </a:p>
      </dgm:t>
    </dgm:pt>
    <dgm:pt modelId="{BF29C018-2249-2F4F-AA1F-46C7C3352178}" type="parTrans" cxnId="{13FE28D7-CBEB-F448-A1FD-A8AAE49DBAF4}">
      <dgm:prSet>
        <dgm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/>
        </a:p>
      </dgm:t>
    </dgm:pt>
    <dgm:pt modelId="{80857B06-DABB-004F-AE63-EDDDC4689D4D}" type="sibTrans" cxnId="{13FE28D7-CBEB-F448-A1FD-A8AAE49DBAF4}">
      <dgm:prSet/>
      <dgm:spPr/>
      <dgm:t>
        <a:bodyPr/>
        <a:lstStyle/>
        <a:p>
          <a:endParaRPr lang="en-US"/>
        </a:p>
      </dgm:t>
    </dgm:pt>
    <dgm:pt modelId="{3E301392-05E4-3D4B-88BB-3E4D3727C299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/>
            <a:t>Branching Logics</a:t>
          </a:r>
        </a:p>
      </dgm:t>
    </dgm:pt>
    <dgm:pt modelId="{D8540A61-75F4-B146-8171-DF9BB8A4D33A}" type="parTrans" cxnId="{E32A4503-9A31-F147-8F5B-FFE5A738E4C4}">
      <dgm:prSet>
        <dgm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/>
        </a:p>
      </dgm:t>
    </dgm:pt>
    <dgm:pt modelId="{073B69DF-BD7A-E74E-A97E-5F4CABBAD05A}" type="sibTrans" cxnId="{E32A4503-9A31-F147-8F5B-FFE5A738E4C4}">
      <dgm:prSet/>
      <dgm:spPr/>
      <dgm:t>
        <a:bodyPr/>
        <a:lstStyle/>
        <a:p>
          <a:endParaRPr lang="en-US"/>
        </a:p>
      </dgm:t>
    </dgm:pt>
    <dgm:pt modelId="{FC61663A-C2A3-2E4C-B0A0-86F1456C4002}" type="pres">
      <dgm:prSet presAssocID="{30082FD7-E905-2040-8B74-8B0BCF49197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6EAEA8B-8728-9A4B-99EA-66C2001B3E34}" type="pres">
      <dgm:prSet presAssocID="{AF6D5334-A71F-3D49-8B38-96842385239A}" presName="hierRoot1" presStyleCnt="0">
        <dgm:presLayoutVars>
          <dgm:hierBranch val="init"/>
        </dgm:presLayoutVars>
      </dgm:prSet>
      <dgm:spPr/>
    </dgm:pt>
    <dgm:pt modelId="{B56DA2CB-0B6D-814E-AF1D-3D8DD70A0597}" type="pres">
      <dgm:prSet presAssocID="{AF6D5334-A71F-3D49-8B38-96842385239A}" presName="rootComposite1" presStyleCnt="0"/>
      <dgm:spPr/>
    </dgm:pt>
    <dgm:pt modelId="{485688CF-E840-664E-95DF-99445E3DFB57}" type="pres">
      <dgm:prSet presAssocID="{AF6D5334-A71F-3D49-8B38-96842385239A}" presName="rootText1" presStyleLbl="node0" presStyleIdx="0" presStyleCnt="1">
        <dgm:presLayoutVars>
          <dgm:chPref val="3"/>
        </dgm:presLayoutVars>
      </dgm:prSet>
      <dgm:spPr>
        <a:prstGeom prst="roundRect">
          <a:avLst/>
        </a:prstGeom>
      </dgm:spPr>
    </dgm:pt>
    <dgm:pt modelId="{713A8E36-6FA9-814F-9E7A-6891EBFC3A2E}" type="pres">
      <dgm:prSet presAssocID="{AF6D5334-A71F-3D49-8B38-96842385239A}" presName="rootConnector1" presStyleLbl="node1" presStyleIdx="0" presStyleCnt="0"/>
      <dgm:spPr/>
    </dgm:pt>
    <dgm:pt modelId="{6A916BEA-40C0-5D45-A1CC-A7D7722966D3}" type="pres">
      <dgm:prSet presAssocID="{AF6D5334-A71F-3D49-8B38-96842385239A}" presName="hierChild2" presStyleCnt="0"/>
      <dgm:spPr/>
    </dgm:pt>
    <dgm:pt modelId="{DEAAFD63-50B1-8A4F-8631-3C0084538902}" type="pres">
      <dgm:prSet presAssocID="{BF29C018-2249-2F4F-AA1F-46C7C3352178}" presName="Name37" presStyleLbl="parChTrans1D2" presStyleIdx="0" presStyleCnt="2"/>
      <dgm:spPr/>
    </dgm:pt>
    <dgm:pt modelId="{F16B5179-BA91-A84A-9741-5F9CBA2B90C1}" type="pres">
      <dgm:prSet presAssocID="{D6A54F79-104A-AC45-9A64-1E5757911794}" presName="hierRoot2" presStyleCnt="0">
        <dgm:presLayoutVars>
          <dgm:hierBranch val="init"/>
        </dgm:presLayoutVars>
      </dgm:prSet>
      <dgm:spPr/>
    </dgm:pt>
    <dgm:pt modelId="{06FE5D8C-52CD-F54E-8D28-02C954DF58B2}" type="pres">
      <dgm:prSet presAssocID="{D6A54F79-104A-AC45-9A64-1E5757911794}" presName="rootComposite" presStyleCnt="0"/>
      <dgm:spPr/>
    </dgm:pt>
    <dgm:pt modelId="{3D6AA2CE-1D9A-E640-963E-E499CFD39A20}" type="pres">
      <dgm:prSet presAssocID="{D6A54F79-104A-AC45-9A64-1E5757911794}" presName="rootText" presStyleLbl="node2" presStyleIdx="0" presStyleCnt="2">
        <dgm:presLayoutVars>
          <dgm:chPref val="3"/>
        </dgm:presLayoutVars>
      </dgm:prSet>
      <dgm:spPr>
        <a:prstGeom prst="roundRect">
          <a:avLst/>
        </a:prstGeom>
      </dgm:spPr>
    </dgm:pt>
    <dgm:pt modelId="{76CC13BB-748E-3A47-BCAC-761EE2E785F8}" type="pres">
      <dgm:prSet presAssocID="{D6A54F79-104A-AC45-9A64-1E5757911794}" presName="rootConnector" presStyleLbl="node2" presStyleIdx="0" presStyleCnt="2"/>
      <dgm:spPr/>
    </dgm:pt>
    <dgm:pt modelId="{C6649F0A-7F8E-934F-B1FE-E158B2D713D6}" type="pres">
      <dgm:prSet presAssocID="{D6A54F79-104A-AC45-9A64-1E5757911794}" presName="hierChild4" presStyleCnt="0"/>
      <dgm:spPr/>
    </dgm:pt>
    <dgm:pt modelId="{DF5D5944-A732-C646-97D5-38EC6D0049A0}" type="pres">
      <dgm:prSet presAssocID="{D6A54F79-104A-AC45-9A64-1E5757911794}" presName="hierChild5" presStyleCnt="0"/>
      <dgm:spPr/>
    </dgm:pt>
    <dgm:pt modelId="{7DE4585E-361F-3B43-9DAB-967CE31D8614}" type="pres">
      <dgm:prSet presAssocID="{D8540A61-75F4-B146-8171-DF9BB8A4D33A}" presName="Name37" presStyleLbl="parChTrans1D2" presStyleIdx="1" presStyleCnt="2"/>
      <dgm:spPr/>
    </dgm:pt>
    <dgm:pt modelId="{D72C0DBB-2E2B-884A-90B1-1D88ACF6DE59}" type="pres">
      <dgm:prSet presAssocID="{3E301392-05E4-3D4B-88BB-3E4D3727C299}" presName="hierRoot2" presStyleCnt="0">
        <dgm:presLayoutVars>
          <dgm:hierBranch val="init"/>
        </dgm:presLayoutVars>
      </dgm:prSet>
      <dgm:spPr/>
    </dgm:pt>
    <dgm:pt modelId="{5FBC5631-38DE-074A-8E8E-2784AAF3F5AB}" type="pres">
      <dgm:prSet presAssocID="{3E301392-05E4-3D4B-88BB-3E4D3727C299}" presName="rootComposite" presStyleCnt="0"/>
      <dgm:spPr/>
    </dgm:pt>
    <dgm:pt modelId="{2A2BC378-668C-E24F-9EFA-CF19F6759090}" type="pres">
      <dgm:prSet presAssocID="{3E301392-05E4-3D4B-88BB-3E4D3727C299}" presName="rootText" presStyleLbl="node2" presStyleIdx="1" presStyleCnt="2">
        <dgm:presLayoutVars>
          <dgm:chPref val="3"/>
        </dgm:presLayoutVars>
      </dgm:prSet>
      <dgm:spPr>
        <a:prstGeom prst="roundRect">
          <a:avLst/>
        </a:prstGeom>
      </dgm:spPr>
    </dgm:pt>
    <dgm:pt modelId="{954743D7-C826-C747-B8B2-BD171A5EE856}" type="pres">
      <dgm:prSet presAssocID="{3E301392-05E4-3D4B-88BB-3E4D3727C299}" presName="rootConnector" presStyleLbl="node2" presStyleIdx="1" presStyleCnt="2"/>
      <dgm:spPr/>
    </dgm:pt>
    <dgm:pt modelId="{9AAB46A5-5C0A-734D-99B3-D5089B741F78}" type="pres">
      <dgm:prSet presAssocID="{3E301392-05E4-3D4B-88BB-3E4D3727C299}" presName="hierChild4" presStyleCnt="0"/>
      <dgm:spPr/>
    </dgm:pt>
    <dgm:pt modelId="{FB79B776-5471-A64E-B956-4A95E68CC320}" type="pres">
      <dgm:prSet presAssocID="{3E301392-05E4-3D4B-88BB-3E4D3727C299}" presName="hierChild5" presStyleCnt="0"/>
      <dgm:spPr/>
    </dgm:pt>
    <dgm:pt modelId="{ADAB0FE4-2E23-9E46-BDD2-3717DC33619B}" type="pres">
      <dgm:prSet presAssocID="{AF6D5334-A71F-3D49-8B38-96842385239A}" presName="hierChild3" presStyleCnt="0"/>
      <dgm:spPr/>
    </dgm:pt>
  </dgm:ptLst>
  <dgm:cxnLst>
    <dgm:cxn modelId="{E32A4503-9A31-F147-8F5B-FFE5A738E4C4}" srcId="{AF6D5334-A71F-3D49-8B38-96842385239A}" destId="{3E301392-05E4-3D4B-88BB-3E4D3727C299}" srcOrd="1" destOrd="0" parTransId="{D8540A61-75F4-B146-8171-DF9BB8A4D33A}" sibTransId="{073B69DF-BD7A-E74E-A97E-5F4CABBAD05A}"/>
    <dgm:cxn modelId="{6DCA1A0B-0030-F44C-9A51-D95D6515C239}" type="presOf" srcId="{30082FD7-E905-2040-8B74-8B0BCF491973}" destId="{FC61663A-C2A3-2E4C-B0A0-86F1456C4002}" srcOrd="0" destOrd="0" presId="urn:microsoft.com/office/officeart/2005/8/layout/orgChart1"/>
    <dgm:cxn modelId="{F6D9AB27-4542-7849-A320-61A5479363C1}" type="presOf" srcId="{BF29C018-2249-2F4F-AA1F-46C7C3352178}" destId="{DEAAFD63-50B1-8A4F-8631-3C0084538902}" srcOrd="0" destOrd="0" presId="urn:microsoft.com/office/officeart/2005/8/layout/orgChart1"/>
    <dgm:cxn modelId="{F5591C5A-4550-424C-9E27-0ABE40E76F23}" type="presOf" srcId="{D8540A61-75F4-B146-8171-DF9BB8A4D33A}" destId="{7DE4585E-361F-3B43-9DAB-967CE31D8614}" srcOrd="0" destOrd="0" presId="urn:microsoft.com/office/officeart/2005/8/layout/orgChart1"/>
    <dgm:cxn modelId="{58AEBD5A-B013-A740-8A3B-02C5B802DE11}" srcId="{30082FD7-E905-2040-8B74-8B0BCF491973}" destId="{AF6D5334-A71F-3D49-8B38-96842385239A}" srcOrd="0" destOrd="0" parTransId="{28ABF79C-4D48-314D-97E0-F19F36ECA8FF}" sibTransId="{021EFC9B-B443-C448-BCD4-A9E806D34E73}"/>
    <dgm:cxn modelId="{CDDBCD72-ABDF-FD47-B623-01602ED6D36E}" type="presOf" srcId="{AF6D5334-A71F-3D49-8B38-96842385239A}" destId="{485688CF-E840-664E-95DF-99445E3DFB57}" srcOrd="0" destOrd="0" presId="urn:microsoft.com/office/officeart/2005/8/layout/orgChart1"/>
    <dgm:cxn modelId="{B70EC67C-7213-3C4E-AACF-3122F6149D0C}" type="presOf" srcId="{3E301392-05E4-3D4B-88BB-3E4D3727C299}" destId="{954743D7-C826-C747-B8B2-BD171A5EE856}" srcOrd="1" destOrd="0" presId="urn:microsoft.com/office/officeart/2005/8/layout/orgChart1"/>
    <dgm:cxn modelId="{1F1145B2-7FBD-A94F-8199-8E2870ECE878}" type="presOf" srcId="{3E301392-05E4-3D4B-88BB-3E4D3727C299}" destId="{2A2BC378-668C-E24F-9EFA-CF19F6759090}" srcOrd="0" destOrd="0" presId="urn:microsoft.com/office/officeart/2005/8/layout/orgChart1"/>
    <dgm:cxn modelId="{A21580CB-25BF-6D4B-A0BA-E8C60382C54B}" type="presOf" srcId="{D6A54F79-104A-AC45-9A64-1E5757911794}" destId="{3D6AA2CE-1D9A-E640-963E-E499CFD39A20}" srcOrd="0" destOrd="0" presId="urn:microsoft.com/office/officeart/2005/8/layout/orgChart1"/>
    <dgm:cxn modelId="{A57C3FCF-1147-9D4F-8C28-66395B7CF7DE}" type="presOf" srcId="{D6A54F79-104A-AC45-9A64-1E5757911794}" destId="{76CC13BB-748E-3A47-BCAC-761EE2E785F8}" srcOrd="1" destOrd="0" presId="urn:microsoft.com/office/officeart/2005/8/layout/orgChart1"/>
    <dgm:cxn modelId="{13FE28D7-CBEB-F448-A1FD-A8AAE49DBAF4}" srcId="{AF6D5334-A71F-3D49-8B38-96842385239A}" destId="{D6A54F79-104A-AC45-9A64-1E5757911794}" srcOrd="0" destOrd="0" parTransId="{BF29C018-2249-2F4F-AA1F-46C7C3352178}" sibTransId="{80857B06-DABB-004F-AE63-EDDDC4689D4D}"/>
    <dgm:cxn modelId="{F36D4CF3-94A4-354D-A25D-4FADBD2424B1}" type="presOf" srcId="{AF6D5334-A71F-3D49-8B38-96842385239A}" destId="{713A8E36-6FA9-814F-9E7A-6891EBFC3A2E}" srcOrd="1" destOrd="0" presId="urn:microsoft.com/office/officeart/2005/8/layout/orgChart1"/>
    <dgm:cxn modelId="{0C752BF3-F64C-694C-80B5-FDC90CEEB968}" type="presParOf" srcId="{FC61663A-C2A3-2E4C-B0A0-86F1456C4002}" destId="{36EAEA8B-8728-9A4B-99EA-66C2001B3E34}" srcOrd="0" destOrd="0" presId="urn:microsoft.com/office/officeart/2005/8/layout/orgChart1"/>
    <dgm:cxn modelId="{2D08AB66-66DC-B647-AD13-E79901C929D5}" type="presParOf" srcId="{36EAEA8B-8728-9A4B-99EA-66C2001B3E34}" destId="{B56DA2CB-0B6D-814E-AF1D-3D8DD70A0597}" srcOrd="0" destOrd="0" presId="urn:microsoft.com/office/officeart/2005/8/layout/orgChart1"/>
    <dgm:cxn modelId="{93C3DFC3-7790-3749-9665-3AFC703CBA14}" type="presParOf" srcId="{B56DA2CB-0B6D-814E-AF1D-3D8DD70A0597}" destId="{485688CF-E840-664E-95DF-99445E3DFB57}" srcOrd="0" destOrd="0" presId="urn:microsoft.com/office/officeart/2005/8/layout/orgChart1"/>
    <dgm:cxn modelId="{CE1A1172-E36A-8C45-ABF4-28B0E30A3803}" type="presParOf" srcId="{B56DA2CB-0B6D-814E-AF1D-3D8DD70A0597}" destId="{713A8E36-6FA9-814F-9E7A-6891EBFC3A2E}" srcOrd="1" destOrd="0" presId="urn:microsoft.com/office/officeart/2005/8/layout/orgChart1"/>
    <dgm:cxn modelId="{7F408CA4-1706-124B-8262-AEAC4AE55350}" type="presParOf" srcId="{36EAEA8B-8728-9A4B-99EA-66C2001B3E34}" destId="{6A916BEA-40C0-5D45-A1CC-A7D7722966D3}" srcOrd="1" destOrd="0" presId="urn:microsoft.com/office/officeart/2005/8/layout/orgChart1"/>
    <dgm:cxn modelId="{5B819A8F-7D65-C440-85DC-C45390B5BAEA}" type="presParOf" srcId="{6A916BEA-40C0-5D45-A1CC-A7D7722966D3}" destId="{DEAAFD63-50B1-8A4F-8631-3C0084538902}" srcOrd="0" destOrd="0" presId="urn:microsoft.com/office/officeart/2005/8/layout/orgChart1"/>
    <dgm:cxn modelId="{352F9B40-9B84-154F-973C-A9982727DFC0}" type="presParOf" srcId="{6A916BEA-40C0-5D45-A1CC-A7D7722966D3}" destId="{F16B5179-BA91-A84A-9741-5F9CBA2B90C1}" srcOrd="1" destOrd="0" presId="urn:microsoft.com/office/officeart/2005/8/layout/orgChart1"/>
    <dgm:cxn modelId="{70A10A4C-3F41-324C-8232-69B51B282B59}" type="presParOf" srcId="{F16B5179-BA91-A84A-9741-5F9CBA2B90C1}" destId="{06FE5D8C-52CD-F54E-8D28-02C954DF58B2}" srcOrd="0" destOrd="0" presId="urn:microsoft.com/office/officeart/2005/8/layout/orgChart1"/>
    <dgm:cxn modelId="{D2AFF793-0BC4-DA4F-9B31-18686EFA9900}" type="presParOf" srcId="{06FE5D8C-52CD-F54E-8D28-02C954DF58B2}" destId="{3D6AA2CE-1D9A-E640-963E-E499CFD39A20}" srcOrd="0" destOrd="0" presId="urn:microsoft.com/office/officeart/2005/8/layout/orgChart1"/>
    <dgm:cxn modelId="{C91DA499-3D7E-CF4E-AC83-61FE509EAF34}" type="presParOf" srcId="{06FE5D8C-52CD-F54E-8D28-02C954DF58B2}" destId="{76CC13BB-748E-3A47-BCAC-761EE2E785F8}" srcOrd="1" destOrd="0" presId="urn:microsoft.com/office/officeart/2005/8/layout/orgChart1"/>
    <dgm:cxn modelId="{4308640B-FF2C-F54F-B941-AE21EC518CD2}" type="presParOf" srcId="{F16B5179-BA91-A84A-9741-5F9CBA2B90C1}" destId="{C6649F0A-7F8E-934F-B1FE-E158B2D713D6}" srcOrd="1" destOrd="0" presId="urn:microsoft.com/office/officeart/2005/8/layout/orgChart1"/>
    <dgm:cxn modelId="{793917CE-1B34-EA49-8E87-B4F32C1767C0}" type="presParOf" srcId="{F16B5179-BA91-A84A-9741-5F9CBA2B90C1}" destId="{DF5D5944-A732-C646-97D5-38EC6D0049A0}" srcOrd="2" destOrd="0" presId="urn:microsoft.com/office/officeart/2005/8/layout/orgChart1"/>
    <dgm:cxn modelId="{976B8E5B-1425-C146-BFC5-1C2483A4B077}" type="presParOf" srcId="{6A916BEA-40C0-5D45-A1CC-A7D7722966D3}" destId="{7DE4585E-361F-3B43-9DAB-967CE31D8614}" srcOrd="2" destOrd="0" presId="urn:microsoft.com/office/officeart/2005/8/layout/orgChart1"/>
    <dgm:cxn modelId="{319C9B57-060D-7A41-9A3C-F4D3CBE189FC}" type="presParOf" srcId="{6A916BEA-40C0-5D45-A1CC-A7D7722966D3}" destId="{D72C0DBB-2E2B-884A-90B1-1D88ACF6DE59}" srcOrd="3" destOrd="0" presId="urn:microsoft.com/office/officeart/2005/8/layout/orgChart1"/>
    <dgm:cxn modelId="{3294C47D-C6C6-0C4D-8A1F-A17B5C9F7816}" type="presParOf" srcId="{D72C0DBB-2E2B-884A-90B1-1D88ACF6DE59}" destId="{5FBC5631-38DE-074A-8E8E-2784AAF3F5AB}" srcOrd="0" destOrd="0" presId="urn:microsoft.com/office/officeart/2005/8/layout/orgChart1"/>
    <dgm:cxn modelId="{91616D09-EDD7-EE40-8C26-A964F38E1E17}" type="presParOf" srcId="{5FBC5631-38DE-074A-8E8E-2784AAF3F5AB}" destId="{2A2BC378-668C-E24F-9EFA-CF19F6759090}" srcOrd="0" destOrd="0" presId="urn:microsoft.com/office/officeart/2005/8/layout/orgChart1"/>
    <dgm:cxn modelId="{F2F3A9A0-A52A-E640-A512-65BFF2DCDF53}" type="presParOf" srcId="{5FBC5631-38DE-074A-8E8E-2784AAF3F5AB}" destId="{954743D7-C826-C747-B8B2-BD171A5EE856}" srcOrd="1" destOrd="0" presId="urn:microsoft.com/office/officeart/2005/8/layout/orgChart1"/>
    <dgm:cxn modelId="{E31AE6D8-6CB7-E54A-AE89-657C7AEED811}" type="presParOf" srcId="{D72C0DBB-2E2B-884A-90B1-1D88ACF6DE59}" destId="{9AAB46A5-5C0A-734D-99B3-D5089B741F78}" srcOrd="1" destOrd="0" presId="urn:microsoft.com/office/officeart/2005/8/layout/orgChart1"/>
    <dgm:cxn modelId="{96B4B8AB-65B2-1240-B024-D7730F07AD84}" type="presParOf" srcId="{D72C0DBB-2E2B-884A-90B1-1D88ACF6DE59}" destId="{FB79B776-5471-A64E-B956-4A95E68CC320}" srcOrd="2" destOrd="0" presId="urn:microsoft.com/office/officeart/2005/8/layout/orgChart1"/>
    <dgm:cxn modelId="{0387CD54-AD55-8744-85EF-93A2DD4A54A8}" type="presParOf" srcId="{36EAEA8B-8728-9A4B-99EA-66C2001B3E34}" destId="{ADAB0FE4-2E23-9E46-BDD2-3717DC33619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E4585E-361F-3B43-9DAB-967CE31D8614}">
      <dsp:nvSpPr>
        <dsp:cNvPr id="0" name=""/>
        <dsp:cNvSpPr/>
      </dsp:nvSpPr>
      <dsp:spPr>
        <a:xfrm>
          <a:off x="2333828" y="1506602"/>
          <a:ext cx="1277181" cy="4433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659"/>
              </a:lnTo>
              <a:lnTo>
                <a:pt x="1277181" y="221659"/>
              </a:lnTo>
              <a:lnTo>
                <a:pt x="1277181" y="443319"/>
              </a:lnTo>
            </a:path>
          </a:pathLst>
        </a:custGeom>
        <a:noFill/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dsp:style>
    </dsp:sp>
    <dsp:sp modelId="{DEAAFD63-50B1-8A4F-8631-3C0084538902}">
      <dsp:nvSpPr>
        <dsp:cNvPr id="0" name=""/>
        <dsp:cNvSpPr/>
      </dsp:nvSpPr>
      <dsp:spPr>
        <a:xfrm>
          <a:off x="1056647" y="1506602"/>
          <a:ext cx="1277181" cy="443319"/>
        </a:xfrm>
        <a:custGeom>
          <a:avLst/>
          <a:gdLst/>
          <a:ahLst/>
          <a:cxnLst/>
          <a:rect l="0" t="0" r="0" b="0"/>
          <a:pathLst>
            <a:path>
              <a:moveTo>
                <a:pt x="1277181" y="0"/>
              </a:moveTo>
              <a:lnTo>
                <a:pt x="1277181" y="221659"/>
              </a:lnTo>
              <a:lnTo>
                <a:pt x="0" y="221659"/>
              </a:lnTo>
              <a:lnTo>
                <a:pt x="0" y="443319"/>
              </a:lnTo>
            </a:path>
          </a:pathLst>
        </a:custGeom>
        <a:noFill/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dsp:style>
    </dsp:sp>
    <dsp:sp modelId="{485688CF-E840-664E-95DF-99445E3DFB57}">
      <dsp:nvSpPr>
        <dsp:cNvPr id="0" name=""/>
        <dsp:cNvSpPr/>
      </dsp:nvSpPr>
      <dsp:spPr>
        <a:xfrm>
          <a:off x="1278306" y="451080"/>
          <a:ext cx="2111043" cy="1055521"/>
        </a:xfrm>
        <a:prstGeom prst="roundRect">
          <a:avLst/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Temporal logic</a:t>
          </a:r>
        </a:p>
      </dsp:txBody>
      <dsp:txXfrm>
        <a:off x="1329832" y="502606"/>
        <a:ext cx="2007991" cy="952469"/>
      </dsp:txXfrm>
    </dsp:sp>
    <dsp:sp modelId="{3D6AA2CE-1D9A-E640-963E-E499CFD39A20}">
      <dsp:nvSpPr>
        <dsp:cNvPr id="0" name=""/>
        <dsp:cNvSpPr/>
      </dsp:nvSpPr>
      <dsp:spPr>
        <a:xfrm>
          <a:off x="1125" y="1949921"/>
          <a:ext cx="2111043" cy="1055521"/>
        </a:xfrm>
        <a:prstGeom prst="roundRect">
          <a:avLst/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Linear Logics</a:t>
          </a:r>
        </a:p>
      </dsp:txBody>
      <dsp:txXfrm>
        <a:off x="52651" y="2001447"/>
        <a:ext cx="2007991" cy="952469"/>
      </dsp:txXfrm>
    </dsp:sp>
    <dsp:sp modelId="{2A2BC378-668C-E24F-9EFA-CF19F6759090}">
      <dsp:nvSpPr>
        <dsp:cNvPr id="0" name=""/>
        <dsp:cNvSpPr/>
      </dsp:nvSpPr>
      <dsp:spPr>
        <a:xfrm>
          <a:off x="2555488" y="1949921"/>
          <a:ext cx="2111043" cy="1055521"/>
        </a:xfrm>
        <a:prstGeom prst="roundRect">
          <a:avLst/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Branching Logics</a:t>
          </a:r>
        </a:p>
      </dsp:txBody>
      <dsp:txXfrm>
        <a:off x="2607014" y="2001447"/>
        <a:ext cx="2007991" cy="9524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2943A3-34D7-7C43-8302-10A0A21D9251}" type="datetimeFigureOut">
              <a:rPr lang="en-US" smtClean="0"/>
              <a:t>4/19/22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0340E-30CA-0F4F-AB80-7A9782307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65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340E-30CA-0F4F-AB80-7A97823076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5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340E-30CA-0F4F-AB80-7A97823076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064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340E-30CA-0F4F-AB80-7A97823076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68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340E-30CA-0F4F-AB80-7A97823076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11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340E-30CA-0F4F-AB80-7A978230766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56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340E-30CA-0F4F-AB80-7A97823076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74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340E-30CA-0F4F-AB80-7A978230766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3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7C203-56B9-E546-AD2E-CBFE2F89AB6A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76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1301-637C-E740-8D11-A7EE68D71AF3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24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9862-B14F-7A43-BC9C-CDBF2F2DD738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48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9A4DC-8870-4144-8FDE-A8E524FFBD54}" type="datetime1">
              <a:rPr lang="en-US" smtClean="0"/>
              <a:t>4/19/22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620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F7FFBB20-AEBD-3446-BE3B-EEAF1A461906}" type="datetime1">
              <a:rPr lang="en-US" smtClean="0"/>
              <a:t>4/19/22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3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D59AF-BA39-D54E-9593-7C63AF6BB779}" type="datetime1">
              <a:rPr lang="en-US" smtClean="0"/>
              <a:t>4/19/22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322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D8CA-DCEF-0442-A289-187E5A89F606}" type="datetime1">
              <a:rPr lang="en-US" smtClean="0"/>
              <a:t>4/19/22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53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BCC56-F230-1740-A435-3C66F8321A8C}" type="datetime1">
              <a:rPr lang="en-US" smtClean="0"/>
              <a:t>4/19/22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9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A31CD-7C82-914C-81DC-DFDE0D65C213}" type="datetime1">
              <a:rPr lang="en-US" smtClean="0"/>
              <a:t>4/19/22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49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2891-5A9E-374B-BC76-376D1FD8A74F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34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C7381-6EB4-804F-9D2A-1A0941D37E0A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55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A068B-858A-2F42-9379-BC384CF9C458}" type="datetime1">
              <a:rPr lang="en-US" smtClean="0"/>
              <a:t>4/19/22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14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45" r:id="rId7"/>
    <p:sldLayoutId id="2147483746" r:id="rId8"/>
    <p:sldLayoutId id="2147483747" r:id="rId9"/>
    <p:sldLayoutId id="2147483749" r:id="rId10"/>
    <p:sldLayoutId id="2147483748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02647-11D7-5740-860E-5D14C9DBA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880" y="2707768"/>
            <a:ext cx="5148103" cy="14424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Chapter 6: </a:t>
            </a:r>
            <a:br>
              <a:rPr lang="en-US" sz="5400" dirty="0"/>
            </a:br>
            <a:r>
              <a:rPr lang="en-US" sz="3600" dirty="0"/>
              <a:t>Specifying Requirements </a:t>
            </a:r>
            <a:endParaRPr lang="en-US" sz="5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09F297-8F74-2C49-8F1D-0CB677338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8AE3-4079-AF47-B402-2BF39C30D2B7}" type="datetime1">
              <a:rPr lang="en-US" smtClean="0"/>
              <a:t>4/19/22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BDF06-EF76-8E46-BBD4-73A8D3BB6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68095-AEC2-DC47-ABA4-EAF2D22B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2" descr="Verifying Cyber-Physical Systems | The MIT Press">
            <a:extLst>
              <a:ext uri="{FF2B5EF4-FFF2-40B4-BE49-F238E27FC236}">
                <a16:creationId xmlns:a16="http://schemas.microsoft.com/office/drawing/2014/main" id="{06C44B22-8197-3C41-A77A-31F24FB66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378" y="143948"/>
            <a:ext cx="5148102" cy="657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5F0BB907-94E4-E0FB-F934-9DC181882674}"/>
              </a:ext>
            </a:extLst>
          </p:cNvPr>
          <p:cNvSpPr txBox="1">
            <a:spLocks/>
          </p:cNvSpPr>
          <p:nvPr/>
        </p:nvSpPr>
        <p:spPr>
          <a:xfrm>
            <a:off x="691078" y="4181123"/>
            <a:ext cx="5185297" cy="1589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Abenezer Taye</a:t>
            </a:r>
          </a:p>
          <a:p>
            <a:pPr marL="0" indent="0" algn="ctr">
              <a:buNone/>
            </a:pPr>
            <a:r>
              <a:rPr lang="en-US" dirty="0"/>
              <a:t>Apr 20, 2022</a:t>
            </a:r>
          </a:p>
        </p:txBody>
      </p:sp>
    </p:spTree>
    <p:extLst>
      <p:ext uri="{BB962C8B-B14F-4D97-AF65-F5344CB8AC3E}">
        <p14:creationId xmlns:p14="http://schemas.microsoft.com/office/powerpoint/2010/main" val="1492301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8446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Safety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803" y="1810804"/>
            <a:ext cx="6973557" cy="4822192"/>
          </a:xfrm>
        </p:spPr>
        <p:txBody>
          <a:bodyPr>
            <a:normAutofit/>
          </a:bodyPr>
          <a:lstStyle/>
          <a:p>
            <a:r>
              <a:rPr lang="en-US" dirty="0"/>
              <a:t>The verification process looks like: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Design requirement documents</a:t>
            </a:r>
            <a:r>
              <a:rPr lang="en-US" dirty="0"/>
              <a:t>: describe the </a:t>
            </a:r>
            <a:r>
              <a:rPr lang="en-US" b="1" dirty="0"/>
              <a:t>capabilities</a:t>
            </a:r>
            <a:r>
              <a:rPr lang="en-US" dirty="0"/>
              <a:t>, </a:t>
            </a:r>
            <a:r>
              <a:rPr lang="en-US" b="1" dirty="0"/>
              <a:t>functions</a:t>
            </a:r>
            <a:r>
              <a:rPr lang="en-US" dirty="0"/>
              <a:t>, and </a:t>
            </a:r>
            <a:r>
              <a:rPr lang="en-US" b="1" dirty="0"/>
              <a:t>operations</a:t>
            </a:r>
            <a:r>
              <a:rPr lang="en-US" dirty="0"/>
              <a:t> of a system.</a:t>
            </a:r>
            <a:endParaRPr lang="en-US" b="1" dirty="0"/>
          </a:p>
          <a:p>
            <a:r>
              <a:rPr lang="en-US" b="1" dirty="0"/>
              <a:t>Safety standards</a:t>
            </a:r>
            <a:r>
              <a:rPr lang="en-US" dirty="0"/>
              <a:t>: provide guidelines and processes for developing safety-critical systems </a:t>
            </a:r>
          </a:p>
          <a:p>
            <a:r>
              <a:rPr lang="en-US" b="1" dirty="0"/>
              <a:t>DO-178C:</a:t>
            </a:r>
            <a:r>
              <a:rPr lang="en-US" dirty="0"/>
              <a:t> a standard given by FAA for determining and certifying the airworthiness of aviation software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620589B-E70F-5441-B626-1082A58B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D6A1-706C-9142-BAD0-717BCDC91371}" type="datetime1">
              <a:rPr lang="en-US" smtClean="0"/>
              <a:t>4/20/22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05958A0-FBC6-324E-8BA3-2783E47A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85D96-E3B5-E14C-B8AC-372F3662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Avionics Certification - Complete Guide to DO-178, DO-178C, DO-254: Vance  HIlderman and Tony Baghai: 9781885544339: Amazon.com: Books">
            <a:extLst>
              <a:ext uri="{FF2B5EF4-FFF2-40B4-BE49-F238E27FC236}">
                <a16:creationId xmlns:a16="http://schemas.microsoft.com/office/drawing/2014/main" id="{9B866E57-604B-80B8-2745-F3CD00F9D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070" y="1554285"/>
            <a:ext cx="3627987" cy="5078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27810A-F788-958B-118D-EC0D2FE5E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87" y="2462173"/>
            <a:ext cx="6040821" cy="1402881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0E110DB-CAFD-12E2-91FF-2D3749450737}"/>
              </a:ext>
            </a:extLst>
          </p:cNvPr>
          <p:cNvSpPr/>
          <p:nvPr/>
        </p:nvSpPr>
        <p:spPr>
          <a:xfrm>
            <a:off x="678721" y="3203578"/>
            <a:ext cx="1582565" cy="70408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FFD65C8-1150-7CD2-B757-24CCFBB57FEA}"/>
              </a:ext>
            </a:extLst>
          </p:cNvPr>
          <p:cNvSpPr/>
          <p:nvPr/>
        </p:nvSpPr>
        <p:spPr>
          <a:xfrm>
            <a:off x="678720" y="2419561"/>
            <a:ext cx="1582565" cy="704088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9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Safety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32" y="1853530"/>
            <a:ext cx="6142208" cy="436234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DO-178C: </a:t>
            </a:r>
            <a:r>
              <a:rPr lang="en-US" dirty="0"/>
              <a:t>Has five assurance levels for software modules (aka Design Assurance Levels (DALs))</a:t>
            </a:r>
          </a:p>
          <a:p>
            <a:pPr>
              <a:lnSpc>
                <a:spcPct val="150000"/>
              </a:lnSpc>
            </a:pPr>
            <a:r>
              <a:rPr lang="en-US" dirty="0"/>
              <a:t>Categorizes failure conditions by their effects on the aircraft, crew, and passenger.  </a:t>
            </a:r>
          </a:p>
          <a:p>
            <a:pPr>
              <a:lnSpc>
                <a:spcPct val="150000"/>
              </a:lnSpc>
            </a:pPr>
            <a:r>
              <a:rPr lang="en-US" dirty="0"/>
              <a:t>Modified Condition/Decision Coverage (MC/DC) is a test suite that requires</a:t>
            </a:r>
          </a:p>
          <a:p>
            <a:pPr marL="8001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Each entry and exit point in the code be invoked</a:t>
            </a:r>
          </a:p>
          <a:p>
            <a:pPr marL="8001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Each decision take every possible value</a:t>
            </a:r>
          </a:p>
          <a:p>
            <a:pPr marL="8001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Each condition in a decision take every possible value  </a:t>
            </a:r>
          </a:p>
          <a:p>
            <a:pPr lvl="1">
              <a:lnSpc>
                <a:spcPct val="150000"/>
              </a:lnSpc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620589B-E70F-5441-B626-1082A58B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D6A1-706C-9142-BAD0-717BCDC91371}" type="datetime1">
              <a:rPr lang="en-US" smtClean="0"/>
              <a:t>4/20/22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05958A0-FBC6-324E-8BA3-2783E47A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85D96-E3B5-E14C-B8AC-372F3662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D633C8A9-60F5-5A9A-8A93-6B0FC23E3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708" y="1727629"/>
            <a:ext cx="4927092" cy="448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45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Safety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767" y="1400085"/>
            <a:ext cx="11109624" cy="784115"/>
          </a:xfrm>
        </p:spPr>
        <p:txBody>
          <a:bodyPr>
            <a:normAutofit/>
          </a:bodyPr>
          <a:lstStyle/>
          <a:p>
            <a:r>
              <a:rPr lang="en-US" b="1" dirty="0"/>
              <a:t>ISO 26262: </a:t>
            </a:r>
            <a:r>
              <a:rPr lang="en-US" dirty="0"/>
              <a:t>a standard governing the functional safety of electronic and software components in road vehicles</a:t>
            </a:r>
            <a:r>
              <a:rPr lang="en-US" b="1" dirty="0"/>
              <a:t> </a:t>
            </a:r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620589B-E70F-5441-B626-1082A58B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D6A1-706C-9142-BAD0-717BCDC91371}" type="datetime1">
              <a:rPr lang="en-US" smtClean="0"/>
              <a:t>4/20/22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05958A0-FBC6-324E-8BA3-2783E47A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85D96-E3B5-E14C-B8AC-372F3662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  <p:pic>
        <p:nvPicPr>
          <p:cNvPr id="1028" name="Picture 4" descr="FUNCTIONAL SAFETY ISO 26262 -">
            <a:extLst>
              <a:ext uri="{FF2B5EF4-FFF2-40B4-BE49-F238E27FC236}">
                <a16:creationId xmlns:a16="http://schemas.microsoft.com/office/drawing/2014/main" id="{02BD89F0-2752-A417-3159-857B8D63E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012" y="2184200"/>
            <a:ext cx="6215384" cy="3151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2E237E-8702-BFD8-1C14-CA0F5BEDD3B7}"/>
                  </a:ext>
                </a:extLst>
              </p:cNvPr>
              <p:cNvSpPr txBox="1"/>
              <p:nvPr/>
            </p:nvSpPr>
            <p:spPr>
              <a:xfrm>
                <a:off x="146930" y="2309451"/>
                <a:ext cx="5203095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sz="1600" dirty="0"/>
                  <a:t>Has four Automotive Safety Integrity Levels (ASILs) based on exposure to issues that affect the controllability of the vehicle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𝐴𝑆𝐼𝐿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𝐸𝑥𝑝𝑜𝑠𝑢𝑟𝑒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𝐶𝑜𝑛𝑡𝑟𝑜𝑙𝑙𝑎𝑏𝑖𝑙𝑖𝑡𝑦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𝑆𝑒𝑣𝑒𝑟𝑖𝑡𝑦</m:t>
                    </m:r>
                  </m:oMath>
                </a14:m>
                <a:endParaRPr lang="en-US" sz="1600" dirty="0"/>
              </a:p>
              <a:p>
                <a:endParaRPr lang="en-US" sz="1600" dirty="0"/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sz="1600" dirty="0"/>
                  <a:t>Divides probabilities of </a:t>
                </a:r>
                <a:r>
                  <a:rPr lang="en-US" sz="1600" b="1" dirty="0"/>
                  <a:t>exposure</a:t>
                </a:r>
                <a:r>
                  <a:rPr lang="en-US" sz="1600" dirty="0"/>
                  <a:t> </a:t>
                </a:r>
                <a:r>
                  <a:rPr lang="en-US" sz="1600"/>
                  <a:t>into </a:t>
                </a:r>
                <a:r>
                  <a:rPr lang="en-US" sz="1600" b="1"/>
                  <a:t>four</a:t>
                </a:r>
                <a:r>
                  <a:rPr lang="en-US" sz="1600"/>
                  <a:t> </a:t>
                </a:r>
                <a:r>
                  <a:rPr lang="en-US" sz="1600" dirty="0"/>
                  <a:t>classes </a:t>
                </a:r>
              </a:p>
              <a:p>
                <a:r>
                  <a:rPr lang="en-US" sz="1600" dirty="0"/>
                  <a:t>very low (E1) </a:t>
                </a:r>
                <a:r>
                  <a:rPr lang="en-US" sz="1600" dirty="0">
                    <a:sym typeface="Wingdings" pitchFamily="2" charset="2"/>
                  </a:rPr>
                  <a:t> </a:t>
                </a:r>
                <a:r>
                  <a:rPr lang="en-US" sz="1600" dirty="0"/>
                  <a:t>high (E4) </a:t>
                </a:r>
              </a:p>
              <a:p>
                <a:endParaRPr lang="en-US" sz="1600" dirty="0"/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sz="1600" b="1" dirty="0"/>
                  <a:t>Four</a:t>
                </a:r>
                <a:r>
                  <a:rPr lang="en-US" sz="1600" dirty="0"/>
                  <a:t> classes to rate </a:t>
                </a:r>
                <a:r>
                  <a:rPr lang="en-US" sz="1600" b="1" dirty="0"/>
                  <a:t>controllability</a:t>
                </a:r>
                <a:r>
                  <a:rPr lang="en-US" sz="1600" dirty="0"/>
                  <a:t> </a:t>
                </a:r>
                <a:r>
                  <a:rPr lang="en-US" sz="1600" dirty="0">
                    <a:sym typeface="Wingdings" pitchFamily="2" charset="2"/>
                  </a:rPr>
                  <a:t> “controllable” to “difficult to control”</a:t>
                </a:r>
              </a:p>
              <a:p>
                <a:pPr marL="285750" indent="-285750">
                  <a:buFont typeface="Wingdings" pitchFamily="2" charset="2"/>
                  <a:buChar char="Ø"/>
                </a:pPr>
                <a:endParaRPr lang="en-US" sz="1600" dirty="0">
                  <a:sym typeface="Wingdings" pitchFamily="2" charset="2"/>
                </a:endParaRPr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sz="1600" b="1" dirty="0">
                    <a:sym typeface="Wingdings" pitchFamily="2" charset="2"/>
                  </a:rPr>
                  <a:t>Four</a:t>
                </a:r>
                <a:r>
                  <a:rPr lang="en-US" sz="1600" dirty="0">
                    <a:sym typeface="Wingdings" pitchFamily="2" charset="2"/>
                  </a:rPr>
                  <a:t> classes to rate </a:t>
                </a:r>
                <a:r>
                  <a:rPr lang="en-US" sz="1600" b="1" dirty="0">
                    <a:sym typeface="Wingdings" pitchFamily="2" charset="2"/>
                  </a:rPr>
                  <a:t>severity</a:t>
                </a:r>
                <a:r>
                  <a:rPr lang="en-US" sz="1600" dirty="0">
                    <a:sym typeface="Wingdings" pitchFamily="2" charset="2"/>
                  </a:rPr>
                  <a:t>  “No injuries” to “Fatal injuries”</a:t>
                </a:r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2E237E-8702-BFD8-1C14-CA0F5BEDD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30" y="2309451"/>
                <a:ext cx="5203095" cy="3539430"/>
              </a:xfrm>
              <a:prstGeom prst="rect">
                <a:avLst/>
              </a:prstGeom>
              <a:blipFill>
                <a:blip r:embed="rId4"/>
                <a:stretch>
                  <a:fillRect l="-487" t="-357" r="-1460" b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6082C36-2E2F-02A6-1B06-728D31C14159}"/>
              </a:ext>
            </a:extLst>
          </p:cNvPr>
          <p:cNvSpPr txBox="1">
            <a:spLocks/>
          </p:cNvSpPr>
          <p:nvPr/>
        </p:nvSpPr>
        <p:spPr>
          <a:xfrm>
            <a:off x="146930" y="5837521"/>
            <a:ext cx="11603466" cy="784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A component that must be relied upon in a situation that has a </a:t>
            </a:r>
            <a:r>
              <a:rPr lang="en-US" sz="1600" b="1" dirty="0"/>
              <a:t>medium probability of occurrence</a:t>
            </a:r>
            <a:r>
              <a:rPr lang="en-US" sz="1600" dirty="0"/>
              <a:t>, and is considered </a:t>
            </a:r>
            <a:r>
              <a:rPr lang="en-US" sz="1600" b="1" dirty="0"/>
              <a:t>normally controllable </a:t>
            </a:r>
            <a:r>
              <a:rPr lang="en-US" sz="1600" dirty="0"/>
              <a:t>but can result </a:t>
            </a:r>
            <a:r>
              <a:rPr lang="en-US" sz="1600" b="1" dirty="0"/>
              <a:t>in life-threatening injuries </a:t>
            </a:r>
            <a:r>
              <a:rPr lang="en-US" sz="1600" dirty="0">
                <a:sym typeface="Wingdings" pitchFamily="2" charset="2"/>
              </a:rPr>
              <a:t> requires an </a:t>
            </a:r>
            <a:r>
              <a:rPr lang="en-US" sz="1600" b="1" dirty="0">
                <a:sym typeface="Wingdings" pitchFamily="2" charset="2"/>
              </a:rPr>
              <a:t>ASIL of B</a:t>
            </a:r>
            <a:r>
              <a:rPr lang="en-US" sz="1600" b="1" dirty="0"/>
              <a:t> </a:t>
            </a:r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566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Challenges of safety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80" y="1797269"/>
            <a:ext cx="7155462" cy="4822192"/>
          </a:xfrm>
        </p:spPr>
        <p:txBody>
          <a:bodyPr>
            <a:normAutofit/>
          </a:bodyPr>
          <a:lstStyle/>
          <a:p>
            <a:r>
              <a:rPr lang="en-US" dirty="0">
                <a:sym typeface="Wingdings" pitchFamily="2" charset="2"/>
              </a:rPr>
              <a:t>Safety standards are useful for dealing with many potential design and implementation defects.</a:t>
            </a:r>
          </a:p>
          <a:p>
            <a:pPr lvl="1"/>
            <a:r>
              <a:rPr lang="en-US" dirty="0">
                <a:sym typeface="Wingdings" pitchFamily="2" charset="2"/>
              </a:rPr>
              <a:t>However, research shows many areas of autonomous systems are not covered by existing standards </a:t>
            </a:r>
          </a:p>
          <a:p>
            <a:r>
              <a:rPr lang="en-US" dirty="0">
                <a:sym typeface="Wingdings" pitchFamily="2" charset="2"/>
              </a:rPr>
              <a:t>The role of human effort in the task of verification and validation</a:t>
            </a:r>
          </a:p>
          <a:p>
            <a:pPr lvl="1"/>
            <a:r>
              <a:rPr lang="en-US" dirty="0">
                <a:sym typeface="Wingdings" pitchFamily="2" charset="2"/>
              </a:rPr>
              <a:t>Encoding the requirements and models in a verification tool </a:t>
            </a:r>
          </a:p>
          <a:p>
            <a:pPr lvl="1"/>
            <a:r>
              <a:rPr lang="en-US" dirty="0">
                <a:sym typeface="Wingdings" pitchFamily="2" charset="2"/>
              </a:rPr>
              <a:t>Validating the models (checking that the models indeed correspond to the real system)</a:t>
            </a:r>
          </a:p>
          <a:p>
            <a:pPr lvl="1"/>
            <a:r>
              <a:rPr lang="en-US" dirty="0">
                <a:sym typeface="Wingdings" pitchFamily="2" charset="2"/>
              </a:rPr>
              <a:t>Interpreting the output results of the verification tool </a:t>
            </a:r>
          </a:p>
          <a:p>
            <a:r>
              <a:rPr lang="en-US" dirty="0">
                <a:sym typeface="Wingdings" pitchFamily="2" charset="2"/>
              </a:rPr>
              <a:t>There is no agreed-upon definition for precisely accounting for these human efforts  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620589B-E70F-5441-B626-1082A58B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D6A1-706C-9142-BAD0-717BCDC91371}" type="datetime1">
              <a:rPr lang="en-US" smtClean="0"/>
              <a:t>4/19/22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05958A0-FBC6-324E-8BA3-2783E47A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85D96-E3B5-E14C-B8AC-372F3662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</a:t>
            </a:fld>
            <a:endParaRPr lang="en-US"/>
          </a:p>
        </p:txBody>
      </p:sp>
      <p:sp>
        <p:nvSpPr>
          <p:cNvPr id="4" name="AutoShape 2" descr="SAC Releases Three Mandatory National Standards for Electric Vehicles –  SESEC IV Archive 2016 – 2020">
            <a:extLst>
              <a:ext uri="{FF2B5EF4-FFF2-40B4-BE49-F238E27FC236}">
                <a16:creationId xmlns:a16="http://schemas.microsoft.com/office/drawing/2014/main" id="{88FD1FE0-AF74-A576-37BB-436A1D3188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6" name="Picture 4" descr="SAC Releases Three Mandatory National Standards for Electric Vehicles –  SESEC IV Archive 2016 – 2020">
            <a:extLst>
              <a:ext uri="{FF2B5EF4-FFF2-40B4-BE49-F238E27FC236}">
                <a16:creationId xmlns:a16="http://schemas.microsoft.com/office/drawing/2014/main" id="{C385A741-DC0C-1C07-F8DB-6F6675F14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6032" y="1922948"/>
            <a:ext cx="3727622" cy="3727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9955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Safety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797269"/>
            <a:ext cx="11500921" cy="4822192"/>
          </a:xfrm>
        </p:spPr>
        <p:txBody>
          <a:bodyPr>
            <a:normAutofit/>
          </a:bodyPr>
          <a:lstStyle/>
          <a:p>
            <a:r>
              <a:rPr lang="en-US" b="1" dirty="0"/>
              <a:t>Invariant:</a:t>
            </a:r>
            <a:r>
              <a:rPr lang="en-US" dirty="0"/>
              <a:t> captures the idea that “some things always hold” or equivalently, “bad things never happen”.</a:t>
            </a:r>
          </a:p>
          <a:p>
            <a:r>
              <a:rPr lang="en-US" dirty="0"/>
              <a:t>A candidate invariant I is an invariant if all states along all executions of A satisfy I </a:t>
            </a:r>
          </a:p>
          <a:p>
            <a:endParaRPr lang="en-US" dirty="0"/>
          </a:p>
          <a:p>
            <a:r>
              <a:rPr lang="en-US" b="1" dirty="0"/>
              <a:t>Progress requirements</a:t>
            </a:r>
            <a:r>
              <a:rPr lang="en-US" dirty="0"/>
              <a:t>: captures the idea that “something good eventually happens” </a:t>
            </a:r>
          </a:p>
          <a:p>
            <a:r>
              <a:rPr lang="en-US" dirty="0"/>
              <a:t>Automaton A is said to meet progress requirement if every execution of A eventually reaches P. </a:t>
            </a:r>
          </a:p>
          <a:p>
            <a:endParaRPr lang="en-US" dirty="0"/>
          </a:p>
          <a:p>
            <a:r>
              <a:rPr lang="en-US" dirty="0"/>
              <a:t>A more meaningful version of progress is captured by </a:t>
            </a:r>
            <a:r>
              <a:rPr lang="en-US" b="1" dirty="0"/>
              <a:t>asymptotic stability </a:t>
            </a:r>
            <a:r>
              <a:rPr lang="en-US" dirty="0">
                <a:sym typeface="Wingdings" pitchFamily="2" charset="2"/>
              </a:rPr>
              <a:t> requires all executions of A to converge to P as time goes to infinity.</a:t>
            </a:r>
          </a:p>
          <a:p>
            <a:r>
              <a:rPr lang="en-US" dirty="0">
                <a:sym typeface="Wingdings" pitchFamily="2" charset="2"/>
              </a:rPr>
              <a:t>A stronger version of progress bounds the time within which P must be achieved  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620589B-E70F-5441-B626-1082A58B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D6A1-706C-9142-BAD0-717BCDC91371}" type="datetime1">
              <a:rPr lang="en-US" smtClean="0"/>
              <a:t>4/19/22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05958A0-FBC6-324E-8BA3-2783E47A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85D96-E3B5-E14C-B8AC-372F3662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E4AB278D-09FC-8F0E-A212-5654CAD51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804" y="2957137"/>
            <a:ext cx="3604391" cy="581353"/>
          </a:xfrm>
          <a:prstGeom prst="rect">
            <a:avLst/>
          </a:prstGeom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FE4814A8-9730-4CF0-DE07-E13DD1826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804" y="4411287"/>
            <a:ext cx="3477855" cy="4900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A054263-CE51-A04E-8826-D70D2514E10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1121" t="-8300" r="30948"/>
          <a:stretch/>
        </p:blipFill>
        <p:spPr>
          <a:xfrm>
            <a:off x="3447393" y="6215870"/>
            <a:ext cx="4624551" cy="32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22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486969"/>
            <a:ext cx="10325000" cy="73223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Formal Languages to specifying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566041"/>
            <a:ext cx="11500921" cy="5185582"/>
          </a:xfrm>
        </p:spPr>
        <p:txBody>
          <a:bodyPr>
            <a:normAutofit/>
          </a:bodyPr>
          <a:lstStyle/>
          <a:p>
            <a:r>
              <a:rPr lang="en-US" b="1" dirty="0"/>
              <a:t>Temporal Logics: </a:t>
            </a:r>
            <a:r>
              <a:rPr lang="en-US" dirty="0"/>
              <a:t>a family of formal languages for succinctly specifying complex requirements </a:t>
            </a:r>
          </a:p>
          <a:p>
            <a:r>
              <a:rPr lang="en-US" b="1" dirty="0"/>
              <a:t>Temporal</a:t>
            </a:r>
            <a:r>
              <a:rPr lang="en-US" dirty="0"/>
              <a:t> refers to the sequential ordering of certain actions or predicates in the execution of an automaton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Branching logics</a:t>
            </a:r>
            <a:r>
              <a:rPr lang="en-US" dirty="0"/>
              <a:t>: allow quantification over execution (Computational Tree Logic (CTL))</a:t>
            </a:r>
          </a:p>
          <a:p>
            <a:r>
              <a:rPr lang="en-US" b="1" dirty="0"/>
              <a:t>Linear logics</a:t>
            </a:r>
            <a:r>
              <a:rPr lang="en-US" dirty="0"/>
              <a:t>: do not allow quantification over execution (Linear Temporal Logic (LTL))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620589B-E70F-5441-B626-1082A58B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D6A1-706C-9142-BAD0-717BCDC91371}" type="datetime1">
              <a:rPr lang="en-US" smtClean="0"/>
              <a:t>4/19/22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05958A0-FBC6-324E-8BA3-2783E47A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85D96-E3B5-E14C-B8AC-372F3662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B27E436-47B7-6832-019F-0B878F5259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4285822"/>
              </p:ext>
            </p:extLst>
          </p:nvPr>
        </p:nvGraphicFramePr>
        <p:xfrm>
          <a:off x="3762171" y="2193635"/>
          <a:ext cx="4667657" cy="3456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05875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Linear Temporal Logic (LTL)  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4FA3909-AE31-9236-574E-EE990B213B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18900"/>
              </p:ext>
            </p:extLst>
          </p:nvPr>
        </p:nvGraphicFramePr>
        <p:xfrm>
          <a:off x="1521350" y="2089852"/>
          <a:ext cx="2168251" cy="17674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8251">
                  <a:extLst>
                    <a:ext uri="{9D8B030D-6E8A-4147-A177-3AD203B41FA5}">
                      <a16:colId xmlns:a16="http://schemas.microsoft.com/office/drawing/2014/main" val="1833853574"/>
                    </a:ext>
                  </a:extLst>
                </a:gridCol>
              </a:tblGrid>
              <a:tr h="1767442">
                <a:tc>
                  <a:txBody>
                    <a:bodyPr/>
                    <a:lstStyle/>
                    <a:p>
                      <a:r>
                        <a:rPr lang="en-US" dirty="0"/>
                        <a:t>While (x&lt;3){</a:t>
                      </a:r>
                    </a:p>
                    <a:p>
                      <a:r>
                        <a:rPr lang="en-US" dirty="0"/>
                        <a:t>print (“hello”)</a:t>
                      </a:r>
                    </a:p>
                    <a:p>
                      <a:r>
                        <a:rPr lang="en-US" dirty="0"/>
                        <a:t>if (x==1) print (“hi”);</a:t>
                      </a:r>
                    </a:p>
                    <a:p>
                      <a:r>
                        <a:rPr lang="en-US" dirty="0"/>
                        <a:t>if (x==2) x=0;</a:t>
                      </a:r>
                    </a:p>
                    <a:p>
                      <a:r>
                        <a:rPr lang="en-US" dirty="0"/>
                        <a:t>else x++;</a:t>
                      </a:r>
                    </a:p>
                    <a:p>
                      <a:r>
                        <a:rPr lang="en-US" dirty="0"/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69806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CC725-90EC-E847-A907-D596985F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CEFC6-760B-D249-9BC4-05FBA2AA552C}" type="datetime1">
              <a:rPr lang="en-US" smtClean="0"/>
              <a:t>4/19/22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8354-D3CD-2342-A914-15E0C714B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B14E9-FAD7-9D4A-B6E2-DCC9BF73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C5DB708D-AD78-246F-A64C-499867AFFA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1079" y="1566040"/>
                <a:ext cx="11047840" cy="5066955"/>
              </a:xfrm>
              <a:prstGeom prst="rect">
                <a:avLst/>
              </a:prstGeom>
            </p:spPr>
            <p:txBody>
              <a:bodyPr vert="horz" lIns="91440" tIns="45720" rIns="91440" bIns="45720" numCol="1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Clr>
                    <a:schemeClr val="tx2">
                      <a:lumMod val="50000"/>
                      <a:lumOff val="50000"/>
                    </a:schemeClr>
                  </a:buClr>
                  <a:buSzPct val="75000"/>
                  <a:buFont typeface="Wingdings" panose="05000000000000000000" pitchFamily="2" charset="2"/>
                  <a:buChar char="§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tx2">
                      <a:lumMod val="50000"/>
                      <a:lumOff val="50000"/>
                    </a:schemeClr>
                  </a:buClr>
                  <a:buSzPct val="75000"/>
                  <a:buFont typeface="Wingdings" panose="05000000000000000000" pitchFamily="2" charset="2"/>
                  <a:buChar char="§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tx2">
                      <a:lumMod val="50000"/>
                      <a:lumOff val="50000"/>
                    </a:schemeClr>
                  </a:buClr>
                  <a:buSzPct val="75000"/>
                  <a:buFont typeface="Wingdings" panose="05000000000000000000" pitchFamily="2" charset="2"/>
                  <a:buChar char="§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tx2">
                      <a:lumMod val="50000"/>
                      <a:lumOff val="50000"/>
                    </a:schemeClr>
                  </a:buClr>
                  <a:buSzPct val="75000"/>
                  <a:buFont typeface="Wingdings" panose="05000000000000000000" pitchFamily="2" charset="2"/>
                  <a:buChar char="§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tx2">
                      <a:lumMod val="50000"/>
                      <a:lumOff val="50000"/>
                    </a:schemeClr>
                  </a:buClr>
                  <a:buSzPct val="75000"/>
                  <a:buFont typeface="Wingdings" panose="05000000000000000000" pitchFamily="2" charset="2"/>
                  <a:buChar char="§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Consider the program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LTL semantics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𝑛𝑜𝑡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∨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∧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𝑎𝑛𝑑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→(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𝑖𝑚𝑝𝑙𝑖𝑒𝑠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are </a:t>
                </a:r>
                <a:r>
                  <a:rPr lang="en-US" b="1" dirty="0"/>
                  <a:t>propositional connectives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𝑛𝑒𝑥𝑡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𝑒𝑣𝑒𝑛𝑡𝑢𝑎𝑙𝑙𝑦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,▯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𝑎𝑙𝑤𝑎𝑦𝑠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𝑢𝑛𝑡𝑖𝑙</m:t>
                        </m:r>
                      </m:e>
                    </m:d>
                  </m:oMath>
                </a14:m>
                <a:r>
                  <a:rPr lang="en-US" dirty="0"/>
                  <a:t> are </a:t>
                </a:r>
                <a:r>
                  <a:rPr lang="en-US" b="1" dirty="0"/>
                  <a:t>temporal connectives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Font typeface="Wingdings" panose="05000000000000000000" pitchFamily="2" charset="2"/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C5DB708D-AD78-246F-A64C-499867AFF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79" y="1566040"/>
                <a:ext cx="11047840" cy="5066955"/>
              </a:xfrm>
              <a:prstGeom prst="rect">
                <a:avLst/>
              </a:prstGeom>
              <a:blipFill>
                <a:blip r:embed="rId3"/>
                <a:stretch>
                  <a:fillRect l="-230" t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7E3609AF-0050-A515-A02E-DB6A0E8F4B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1758591"/>
              </p:ext>
            </p:extLst>
          </p:nvPr>
        </p:nvGraphicFramePr>
        <p:xfrm>
          <a:off x="4527366" y="2104679"/>
          <a:ext cx="2441050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1050">
                  <a:extLst>
                    <a:ext uri="{9D8B030D-6E8A-4147-A177-3AD203B41FA5}">
                      <a16:colId xmlns:a16="http://schemas.microsoft.com/office/drawing/2014/main" val="1833853574"/>
                    </a:ext>
                  </a:extLst>
                </a:gridCol>
              </a:tblGrid>
              <a:tr h="1383315">
                <a:tc>
                  <a:txBody>
                    <a:bodyPr/>
                    <a:lstStyle/>
                    <a:p>
                      <a:r>
                        <a:rPr lang="en-US" b="1" dirty="0"/>
                        <a:t>Atomic Propositions</a:t>
                      </a:r>
                    </a:p>
                    <a:p>
                      <a:r>
                        <a:rPr lang="en-US" dirty="0">
                          <a:sym typeface="Wingdings" pitchFamily="2" charset="2"/>
                        </a:rPr>
                        <a:t>p “prints hello”</a:t>
                      </a:r>
                    </a:p>
                    <a:p>
                      <a:r>
                        <a:rPr lang="en-US" dirty="0">
                          <a:sym typeface="Wingdings" pitchFamily="2" charset="2"/>
                        </a:rPr>
                        <a:t>q “prints hi”</a:t>
                      </a:r>
                    </a:p>
                    <a:p>
                      <a:r>
                        <a:rPr lang="en-US" dirty="0">
                          <a:sym typeface="Wingdings" pitchFamily="2" charset="2"/>
                        </a:rPr>
                        <a:t>r ”x is even”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698067"/>
                  </a:ext>
                </a:extLst>
              </a:tr>
            </a:tbl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0466F2BA-97B1-936B-B971-9A8E2E9201BD}"/>
              </a:ext>
            </a:extLst>
          </p:cNvPr>
          <p:cNvGrpSpPr/>
          <p:nvPr/>
        </p:nvGrpSpPr>
        <p:grpSpPr>
          <a:xfrm>
            <a:off x="3885729" y="3664119"/>
            <a:ext cx="5778089" cy="884476"/>
            <a:chOff x="1521350" y="3979899"/>
            <a:chExt cx="5778089" cy="88447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CFEAE0D-EE67-CEBD-0768-B8329C420DCD}"/>
                </a:ext>
              </a:extLst>
            </p:cNvPr>
            <p:cNvGrpSpPr/>
            <p:nvPr/>
          </p:nvGrpSpPr>
          <p:grpSpPr>
            <a:xfrm>
              <a:off x="1521350" y="4349369"/>
              <a:ext cx="5778089" cy="515006"/>
              <a:chOff x="1345324" y="4056994"/>
              <a:chExt cx="5778089" cy="515006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697FF34-692D-D52B-D6E8-12D7C3BB1012}"/>
                  </a:ext>
                </a:extLst>
              </p:cNvPr>
              <p:cNvSpPr/>
              <p:nvPr/>
            </p:nvSpPr>
            <p:spPr>
              <a:xfrm>
                <a:off x="1345324" y="4078014"/>
                <a:ext cx="956442" cy="49398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ym typeface="Wingdings" pitchFamily="2" charset="2"/>
                  </a:rPr>
                  <a:t>x0</a:t>
                </a:r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E97B3E9-C49C-8324-B0AC-F8C80A32E209}"/>
                  </a:ext>
                </a:extLst>
              </p:cNvPr>
              <p:cNvSpPr/>
              <p:nvPr/>
            </p:nvSpPr>
            <p:spPr>
              <a:xfrm>
                <a:off x="2956011" y="4078014"/>
                <a:ext cx="956442" cy="49398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ym typeface="Wingdings" pitchFamily="2" charset="2"/>
                  </a:rPr>
                  <a:t>x1</a:t>
                </a:r>
                <a:endParaRPr lang="en-US" dirty="0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0B25EAA-C341-8EBC-A380-4835B6C79D5A}"/>
                  </a:ext>
                </a:extLst>
              </p:cNvPr>
              <p:cNvSpPr/>
              <p:nvPr/>
            </p:nvSpPr>
            <p:spPr>
              <a:xfrm>
                <a:off x="4561491" y="4060975"/>
                <a:ext cx="956442" cy="49398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ym typeface="Wingdings" pitchFamily="2" charset="2"/>
                  </a:rPr>
                  <a:t>x2</a:t>
                </a:r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E4F986A-635F-C357-5DFB-5AA495C8A744}"/>
                  </a:ext>
                </a:extLst>
              </p:cNvPr>
              <p:cNvSpPr/>
              <p:nvPr/>
            </p:nvSpPr>
            <p:spPr>
              <a:xfrm>
                <a:off x="6166971" y="4056994"/>
                <a:ext cx="956442" cy="49398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ym typeface="Wingdings" pitchFamily="2" charset="2"/>
                  </a:rPr>
                  <a:t>x0</a:t>
                </a:r>
                <a:endParaRPr lang="en-US" dirty="0"/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9857E306-DE59-A414-17D3-57D7095BBE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766" y="4325007"/>
                <a:ext cx="6542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412B199A-F4D4-33E2-293F-1C5435358D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2453" y="4307968"/>
                <a:ext cx="649038" cy="170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719739F3-80EF-33B3-8055-EADA66EB04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17933" y="4303987"/>
                <a:ext cx="649038" cy="398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15BB524-D9AE-2A5E-4CAF-3D97D205DDF3}"/>
                </a:ext>
              </a:extLst>
            </p:cNvPr>
            <p:cNvSpPr txBox="1"/>
            <p:nvPr/>
          </p:nvSpPr>
          <p:spPr>
            <a:xfrm>
              <a:off x="1766975" y="4065810"/>
              <a:ext cx="4651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p,r</a:t>
              </a:r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0D11F14-0A6D-0495-559C-E2C6E8E707C0}"/>
                </a:ext>
              </a:extLst>
            </p:cNvPr>
            <p:cNvSpPr txBox="1"/>
            <p:nvPr/>
          </p:nvSpPr>
          <p:spPr>
            <a:xfrm>
              <a:off x="3376882" y="4037315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p,q</a:t>
              </a:r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56A67B5-C88C-A6F2-DAAD-9C65FEF816E5}"/>
                </a:ext>
              </a:extLst>
            </p:cNvPr>
            <p:cNvSpPr txBox="1"/>
            <p:nvPr/>
          </p:nvSpPr>
          <p:spPr>
            <a:xfrm>
              <a:off x="4983142" y="4001057"/>
              <a:ext cx="4651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p,r</a:t>
              </a:r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570A8F9-5224-6A61-1772-84A72877B160}"/>
                </a:ext>
              </a:extLst>
            </p:cNvPr>
            <p:cNvSpPr txBox="1"/>
            <p:nvPr/>
          </p:nvSpPr>
          <p:spPr>
            <a:xfrm>
              <a:off x="6608912" y="3979899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p,q</a:t>
              </a:r>
              <a:endParaRPr lang="en-US" dirty="0"/>
            </a:p>
          </p:txBody>
        </p:sp>
      </p:grpSp>
      <p:graphicFrame>
        <p:nvGraphicFramePr>
          <p:cNvPr id="27" name="Table 7">
            <a:extLst>
              <a:ext uri="{FF2B5EF4-FFF2-40B4-BE49-F238E27FC236}">
                <a16:creationId xmlns:a16="http://schemas.microsoft.com/office/drawing/2014/main" id="{BB510375-CF7F-49CB-4E4B-5846263C2F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7932008"/>
              </p:ext>
            </p:extLst>
          </p:nvPr>
        </p:nvGraphicFramePr>
        <p:xfrm>
          <a:off x="7950187" y="1979877"/>
          <a:ext cx="3427263" cy="15878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7263">
                  <a:extLst>
                    <a:ext uri="{9D8B030D-6E8A-4147-A177-3AD203B41FA5}">
                      <a16:colId xmlns:a16="http://schemas.microsoft.com/office/drawing/2014/main" val="1833853574"/>
                    </a:ext>
                  </a:extLst>
                </a:gridCol>
              </a:tblGrid>
              <a:tr h="1587842">
                <a:tc>
                  <a:txBody>
                    <a:bodyPr/>
                    <a:lstStyle/>
                    <a:p>
                      <a:r>
                        <a:rPr lang="en-US" b="1" dirty="0"/>
                        <a:t>Temporal Patterns 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Always p holds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Always p implies (q or r)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Never (q and r) holds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Always eventually q holds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69806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8" name="Table 7">
                <a:extLst>
                  <a:ext uri="{FF2B5EF4-FFF2-40B4-BE49-F238E27FC236}">
                    <a16:creationId xmlns:a16="http://schemas.microsoft.com/office/drawing/2014/main" id="{F94E5D71-265A-61D2-E07F-0CAD72AE3DE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279063296"/>
                  </p:ext>
                </p:extLst>
              </p:nvPr>
            </p:nvGraphicFramePr>
            <p:xfrm>
              <a:off x="1402694" y="6084071"/>
              <a:ext cx="9357074" cy="640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357074">
                      <a:extLst>
                        <a:ext uri="{9D8B030D-6E8A-4147-A177-3AD203B41FA5}">
                          <a16:colId xmlns:a16="http://schemas.microsoft.com/office/drawing/2014/main" val="1833853574"/>
                        </a:ext>
                      </a:extLst>
                    </a:gridCol>
                  </a:tblGrid>
                  <a:tr h="615854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¬,  ∘,♢,▯</m:t>
                              </m:r>
                            </m:oMath>
                          </a14:m>
                          <a:r>
                            <a:rPr lang="en-US" b="1" dirty="0"/>
                            <a:t> </a:t>
                          </a:r>
                          <a:r>
                            <a:rPr lang="en-US" dirty="0"/>
                            <a:t>are </a:t>
                          </a:r>
                          <a:r>
                            <a:rPr lang="en-US" b="1" dirty="0"/>
                            <a:t>unary connectives </a:t>
                          </a:r>
                          <a:r>
                            <a:rPr lang="en-US" dirty="0"/>
                            <a:t>(have high precedence than binary connectives)</a:t>
                          </a:r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∨,  ∧, →,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oMath>
                          </a14:m>
                          <a:r>
                            <a:rPr lang="en-US" dirty="0"/>
                            <a:t> are </a:t>
                          </a:r>
                          <a:r>
                            <a:rPr lang="en-US" b="1" dirty="0"/>
                            <a:t>binary connectives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5869806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8" name="Table 7">
                <a:extLst>
                  <a:ext uri="{FF2B5EF4-FFF2-40B4-BE49-F238E27FC236}">
                    <a16:creationId xmlns:a16="http://schemas.microsoft.com/office/drawing/2014/main" id="{F94E5D71-265A-61D2-E07F-0CAD72AE3DE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279063296"/>
                  </p:ext>
                </p:extLst>
              </p:nvPr>
            </p:nvGraphicFramePr>
            <p:xfrm>
              <a:off x="1402694" y="6084071"/>
              <a:ext cx="9357074" cy="640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357074">
                      <a:extLst>
                        <a:ext uri="{9D8B030D-6E8A-4147-A177-3AD203B41FA5}">
                          <a16:colId xmlns:a16="http://schemas.microsoft.com/office/drawing/2014/main" val="183385357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6" t="-3922" r="-136" b="-156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6980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37521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BD793-A2D3-8860-B239-EB6FFE98E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68243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Linear Temporal Logic (LTL)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65B521-923A-8362-A60E-BAF3C52DB5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6634" y="1639613"/>
                <a:ext cx="5707118" cy="4993383"/>
              </a:xfrm>
            </p:spPr>
            <p:txBody>
              <a:bodyPr>
                <a:norm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𝑛𝑜𝑡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∨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𝑜𝑟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∧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𝑎𝑛𝑑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→(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𝑖𝑚𝑝𝑙𝑖𝑒𝑠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are propositional connectives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𝑛𝑒𝑥𝑡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𝑒𝑣𝑒𝑛𝑡𝑢𝑎𝑙𝑙𝑦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,▯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𝑎𝑙𝑤𝑎𝑦𝑠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endParaRPr lang="en-US" dirty="0"/>
              </a:p>
              <a:p>
                <a:pPr marL="228600" lvl="1" indent="0">
                  <a:buNone/>
                </a:pPr>
                <a:r>
                  <a:rPr lang="en-US" dirty="0"/>
                  <a:t>are temporal connectives</a:t>
                </a:r>
              </a:p>
              <a:p>
                <a:pPr marL="228600" lvl="1" indent="0">
                  <a:buNone/>
                </a:pPr>
                <a:endParaRPr lang="en-US" dirty="0"/>
              </a:p>
              <a:p>
                <a:pPr marL="228600" lvl="1" indent="0">
                  <a:buNone/>
                </a:pPr>
                <a:endParaRPr lang="en-US" dirty="0"/>
              </a:p>
              <a:p>
                <a:pPr marL="228600" lvl="1" indent="0">
                  <a:buNone/>
                </a:pPr>
                <a:endParaRPr lang="en-US" dirty="0"/>
              </a:p>
              <a:p>
                <a:pPr marL="228600" lvl="1" indent="0">
                  <a:buNone/>
                </a:pPr>
                <a:endParaRPr lang="en-US" dirty="0"/>
              </a:p>
              <a:p>
                <a:pPr marL="228600" lvl="1" indent="0">
                  <a:buNone/>
                </a:pPr>
                <a:r>
                  <a:rPr lang="en-US" b="1" dirty="0"/>
                  <a:t>Example: </a:t>
                </a:r>
                <a:r>
                  <a:rPr lang="en-US" dirty="0"/>
                  <a:t>It is always the case that, when a lift is at the 2</a:t>
                </a:r>
                <a:r>
                  <a:rPr lang="en-US" baseline="30000" dirty="0"/>
                  <a:t>nd</a:t>
                </a:r>
                <a:r>
                  <a:rPr lang="en-US" dirty="0"/>
                  <a:t> floor, travels upwards and the 5</a:t>
                </a:r>
                <a:r>
                  <a:rPr lang="en-US" baseline="30000" dirty="0"/>
                  <a:t>th</a:t>
                </a:r>
                <a:r>
                  <a:rPr lang="en-US" dirty="0"/>
                  <a:t> floor is requested, it will not change direction until the 5</a:t>
                </a:r>
                <a:r>
                  <a:rPr lang="en-US" baseline="30000" dirty="0"/>
                  <a:t>th</a:t>
                </a:r>
                <a:r>
                  <a:rPr lang="en-US" dirty="0"/>
                  <a:t> floor is reached. </a:t>
                </a:r>
              </a:p>
              <a:p>
                <a:pPr marL="2286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▯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(@2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𝑢𝑝𝑔𝑜𝑖𝑛𝑔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𝑝𝑟𝑒𝑠𝑠𝑒𝑑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 →(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𝑢𝑝𝑔𝑜𝑖𝑛𝑔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@5))</m:t>
                      </m:r>
                    </m:oMath>
                  </m:oMathPara>
                </a14:m>
                <a:endParaRPr lang="en-US" dirty="0"/>
              </a:p>
              <a:p>
                <a:pPr marL="228600" lvl="1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65B521-923A-8362-A60E-BAF3C52DB5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6634" y="1639613"/>
                <a:ext cx="5707118" cy="4993383"/>
              </a:xfrm>
              <a:blipFill>
                <a:blip r:embed="rId2"/>
                <a:stretch>
                  <a:fillRect t="-254" r="-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637C3-0D40-6918-3B2B-15E03E7F3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1301-637C-E740-8D11-A7EE68D71AF3}" type="datetime1">
              <a:rPr lang="en-US" smtClean="0"/>
              <a:t>4/19/22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B3E60-3FED-3EDF-8840-091816DB5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8122B-DEEB-9956-6850-D3A63E4A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7AB33FDB-3D83-265C-D898-1E1303A43BB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77775750"/>
                  </p:ext>
                </p:extLst>
              </p:nvPr>
            </p:nvGraphicFramePr>
            <p:xfrm>
              <a:off x="677472" y="3132878"/>
              <a:ext cx="4625442" cy="11582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25442">
                      <a:extLst>
                        <a:ext uri="{9D8B030D-6E8A-4147-A177-3AD203B41FA5}">
                          <a16:colId xmlns:a16="http://schemas.microsoft.com/office/drawing/2014/main" val="1833853574"/>
                        </a:ext>
                      </a:extLst>
                    </a:gridCol>
                  </a:tblGrid>
                  <a:tr h="683552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Temporal Patterns  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Always p holds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▯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sz="1400" dirty="0"/>
                            <a:t>)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Always p implies (q or r)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▯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→(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400" dirty="0"/>
                            <a:t>)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Never (q and r) holds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m:rPr>
                                  <m:nor/>
                                </m:rPr>
                                <a:rPr lang="en-US" sz="1400" dirty="0" smtClean="0"/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sz="1400" dirty="0" smtClean="0"/>
                                <m:t>q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m:rPr>
                                  <m:nor/>
                                </m:rPr>
                                <a:rPr lang="en-US" sz="1400" dirty="0"/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sz="1400" dirty="0"/>
                                <m:t>))</m:t>
                              </m:r>
                            </m:oMath>
                          </a14:m>
                          <a:endParaRPr lang="en-US" sz="1400" dirty="0"/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Always eventually q holds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▯♢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sz="1400" dirty="0"/>
                            <a:t>) 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5869806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7AB33FDB-3D83-265C-D898-1E1303A43BB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77775750"/>
                  </p:ext>
                </p:extLst>
              </p:nvPr>
            </p:nvGraphicFramePr>
            <p:xfrm>
              <a:off x="677472" y="3132878"/>
              <a:ext cx="4625442" cy="11582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25442">
                      <a:extLst>
                        <a:ext uri="{9D8B030D-6E8A-4147-A177-3AD203B41FA5}">
                          <a16:colId xmlns:a16="http://schemas.microsoft.com/office/drawing/2014/main" val="1833853574"/>
                        </a:ext>
                      </a:extLst>
                    </a:gridCol>
                  </a:tblGrid>
                  <a:tr h="1158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4" t="-1087" r="-274" b="-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69806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BE8EF94-35DF-E7C6-9D1C-21B5B8F0D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750" y="2931305"/>
            <a:ext cx="5623122" cy="302581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E7E1700-76E5-5016-ACA1-F109C285B421}"/>
              </a:ext>
            </a:extLst>
          </p:cNvPr>
          <p:cNvSpPr txBox="1">
            <a:spLocks/>
          </p:cNvSpPr>
          <p:nvPr/>
        </p:nvSpPr>
        <p:spPr>
          <a:xfrm>
            <a:off x="6264166" y="1776247"/>
            <a:ext cx="5602013" cy="485674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Key assumption in LTL: </a:t>
            </a:r>
            <a:r>
              <a:rPr lang="en-US" dirty="0"/>
              <a:t>for every state on the path, assume to know which atomic statements are true in that state</a:t>
            </a:r>
          </a:p>
          <a:p>
            <a:r>
              <a:rPr lang="en-US" dirty="0"/>
              <a:t>Formal semantics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Lab is a labeling function that assigns each state a set of atomic propositions </a:t>
            </a:r>
          </a:p>
        </p:txBody>
      </p:sp>
    </p:spTree>
    <p:extLst>
      <p:ext uri="{BB962C8B-B14F-4D97-AF65-F5344CB8AC3E}">
        <p14:creationId xmlns:p14="http://schemas.microsoft.com/office/powerpoint/2010/main" val="1479794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BD793-A2D3-8860-B239-EB6FFE98E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68243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Computation Tree Logic (CTL)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5B521-923A-8362-A60E-BAF3C52DB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634" y="1639613"/>
            <a:ext cx="5707118" cy="4264953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LTL </a:t>
            </a:r>
            <a:r>
              <a:rPr lang="en-US" dirty="0">
                <a:sym typeface="Wingdings" pitchFamily="2" charset="2"/>
              </a:rPr>
              <a:t> enables us to talk about linear or sequential requirements that must hold in every execution of a system</a:t>
            </a:r>
          </a:p>
          <a:p>
            <a:pPr lvl="1"/>
            <a:r>
              <a:rPr lang="en-US" dirty="0">
                <a:sym typeface="Wingdings" pitchFamily="2" charset="2"/>
              </a:rPr>
              <a:t>CTL  allows us to describe the requirements of computational trees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637C3-0D40-6918-3B2B-15E03E7F3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1301-637C-E740-8D11-A7EE68D71AF3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B3E60-3FED-3EDF-8840-091816DB5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8122B-DEEB-9956-6850-D3A63E4A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10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7860F6-68A6-EED4-FF10-AC25191C05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685"/>
          <a:stretch/>
        </p:blipFill>
        <p:spPr>
          <a:xfrm>
            <a:off x="6348250" y="1866864"/>
            <a:ext cx="5707118" cy="3436959"/>
          </a:xfrm>
          <a:prstGeom prst="rect">
            <a:avLst/>
          </a:prstGeom>
        </p:spPr>
      </p:pic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D2D966A7-4725-0E9E-F959-3BA6A14B46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5873"/>
          <a:stretch/>
        </p:blipFill>
        <p:spPr>
          <a:xfrm>
            <a:off x="136632" y="3506384"/>
            <a:ext cx="5869439" cy="1819062"/>
          </a:xfrm>
          <a:prstGeom prst="rect">
            <a:avLst/>
          </a:prstGeom>
        </p:spPr>
      </p:pic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9ABA3AD0-E96D-01C9-E9A7-5A5E2ED5F4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371330"/>
              </p:ext>
            </p:extLst>
          </p:nvPr>
        </p:nvGraphicFramePr>
        <p:xfrm>
          <a:off x="455140" y="5744248"/>
          <a:ext cx="9887040" cy="57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87040">
                  <a:extLst>
                    <a:ext uri="{9D8B030D-6E8A-4147-A177-3AD203B41FA5}">
                      <a16:colId xmlns:a16="http://schemas.microsoft.com/office/drawing/2014/main" val="1833853574"/>
                    </a:ext>
                  </a:extLst>
                </a:gridCol>
              </a:tblGrid>
              <a:tr h="289243">
                <a:tc>
                  <a:txBody>
                    <a:bodyPr/>
                    <a:lstStyle/>
                    <a:p>
                      <a:r>
                        <a:rPr lang="en-US" sz="1600" b="1" dirty="0"/>
                        <a:t>CTL*: </a:t>
                      </a:r>
                      <a:r>
                        <a:rPr lang="en-US" sz="1600" dirty="0"/>
                        <a:t>a temporal logic that freely combines temporal operators and path quantifiers </a:t>
                      </a:r>
                      <a:r>
                        <a:rPr lang="en-US" sz="1600" dirty="0">
                          <a:sym typeface="Wingdings" pitchFamily="2" charset="2"/>
                        </a:rPr>
                        <a:t> has much expressive power as both CTL and LTL</a:t>
                      </a:r>
                      <a:r>
                        <a:rPr lang="en-US" sz="16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698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52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AC43-0E21-7ED6-EEFF-3F0C98679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590288"/>
            <a:ext cx="10325000" cy="87162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Further Discussions on Temporal Logics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0F8F1C-5428-5BD9-26BD-77B112344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8" y="1670032"/>
                <a:ext cx="10639073" cy="495160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Given an LTL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checking whether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 is called the </a:t>
                </a:r>
                <a:r>
                  <a:rPr lang="en-US" b="1" dirty="0"/>
                  <a:t>LTL satisfiability problem</a:t>
                </a:r>
              </a:p>
              <a:p>
                <a:pPr lvl="1"/>
                <a:r>
                  <a:rPr lang="en-US" dirty="0"/>
                  <a:t>Aka LTL </a:t>
                </a:r>
                <a:r>
                  <a:rPr lang="en-US" b="1" dirty="0"/>
                  <a:t>model checking problem  </a:t>
                </a:r>
              </a:p>
              <a:p>
                <a:pPr lvl="1"/>
                <a:r>
                  <a:rPr lang="en-US" dirty="0"/>
                  <a:t>To answer this problem </a:t>
                </a:r>
                <a:r>
                  <a:rPr lang="en-US" dirty="0">
                    <a:sym typeface="Wingdings" pitchFamily="2" charset="2"/>
                  </a:rPr>
                  <a:t> we check whether there is an execution that satisfies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problem is PSPACE-complete in the size of the formula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CTL and LTL have been extensively used to specify requirements for the controller synthesis problem for CPS and robotic systems </a:t>
                </a:r>
              </a:p>
              <a:p>
                <a:pPr lvl="1"/>
                <a:r>
                  <a:rPr lang="en-US" dirty="0"/>
                  <a:t>Problem formulation looks like this: given</a:t>
                </a:r>
              </a:p>
              <a:p>
                <a:pPr marL="800100" lvl="2" indent="-342900">
                  <a:buFont typeface="+mj-lt"/>
                  <a:buAutoNum type="arabicPeriod"/>
                </a:pPr>
                <a:r>
                  <a:rPr lang="en-US" dirty="0"/>
                  <a:t>An LTL specification for the tasks of an agent </a:t>
                </a:r>
              </a:p>
              <a:p>
                <a:pPr marL="800100" lvl="2" indent="-342900">
                  <a:buFont typeface="+mj-lt"/>
                  <a:buAutoNum type="arabicPeriod"/>
                </a:pPr>
                <a:r>
                  <a:rPr lang="en-US" dirty="0"/>
                  <a:t>A model of the agent’s movements and actions</a:t>
                </a:r>
              </a:p>
              <a:p>
                <a:pPr marL="800100" lvl="2" indent="-342900">
                  <a:buFont typeface="+mj-lt"/>
                  <a:buAutoNum type="arabicPeriod"/>
                </a:pPr>
                <a:r>
                  <a:rPr lang="en-US" dirty="0"/>
                  <a:t>A temporal logic specification of how the environment reacts to the agent’s actions</a:t>
                </a:r>
              </a:p>
              <a:p>
                <a:pPr lvl="1"/>
                <a:r>
                  <a:rPr lang="en-US" dirty="0"/>
                  <a:t>Construct a controller so that the agent’s resulting trajectories and actions satisfy the task and environment specifications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0F8F1C-5428-5BD9-26BD-77B112344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8" y="1670032"/>
                <a:ext cx="10639073" cy="4951603"/>
              </a:xfrm>
              <a:blipFill>
                <a:blip r:embed="rId2"/>
                <a:stretch>
                  <a:fillRect l="-238" t="-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41D3A-CE3C-50E1-BCA5-47E9CE8E7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1301-637C-E740-8D11-A7EE68D71AF3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32C01-9B4C-71D6-C9B9-3C864B32C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AE33A-B22C-5ABA-4910-67EF547EA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32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AC43-0E21-7ED6-EEFF-3F0C98679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87162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Further Discussions on Temporal Logics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0F8F1C-5428-5BD9-26BD-77B112344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3587" y="2131666"/>
                <a:ext cx="10639073" cy="4234534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Metric temporal logic (MTL): </a:t>
                </a:r>
                <a:r>
                  <a:rPr lang="en-US" dirty="0"/>
                  <a:t>LTL augmented with timing constraints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(0,10)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𝑙𝑖𝑔h𝑡𝑅𝑒𝑑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means </a:t>
                </a:r>
                <a:r>
                  <a:rPr lang="en-US" dirty="0" err="1"/>
                  <a:t>lightRed</a:t>
                </a:r>
                <a:r>
                  <a:rPr lang="en-US" dirty="0"/>
                  <a:t> will become true sometime in the next 10 time units</a:t>
                </a:r>
              </a:p>
              <a:p>
                <a:r>
                  <a:rPr lang="en-US" b="1" dirty="0"/>
                  <a:t>Signal temporal logic (STL): </a:t>
                </a:r>
                <a:r>
                  <a:rPr lang="en-US" dirty="0"/>
                  <a:t>extends MTL to include real-valued constraints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▯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&lt;5.5→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♢</m:t>
                        </m:r>
                      </m:e>
                      <m: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0,10</m:t>
                            </m:r>
                          </m:e>
                        </m:d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𝑙𝑖𝑔h𝑡𝑅𝑒𝑑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b="1" dirty="0"/>
                  <a:t>Probabilistic CTL (PCTL)/Continuous stochastic logics(CSL): </a:t>
                </a:r>
                <a:r>
                  <a:rPr lang="en-US" dirty="0"/>
                  <a:t>add probabilistic operators on top of temporal logics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0.5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𝑤𝑎𝑙𝑘𝐵𝑢𝑡𝑡𝑜𝑛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♢</m:t>
                        </m:r>
                      </m:e>
                      <m: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0,10</m:t>
                            </m:r>
                          </m:e>
                        </m:d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𝑙𝑖𝑔h𝑡𝑅𝑒𝑑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 means with a probability of at least 0.5, </a:t>
                </a:r>
                <a:r>
                  <a:rPr lang="en-US" dirty="0" err="1"/>
                  <a:t>lightRed</a:t>
                </a:r>
                <a:r>
                  <a:rPr lang="en-US" dirty="0"/>
                  <a:t> turns on within 10 time units of </a:t>
                </a:r>
                <a:r>
                  <a:rPr lang="en-US" dirty="0" err="1"/>
                  <a:t>walkButton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Very useful while dealing a probabilistic model (like MDPs) 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0F8F1C-5428-5BD9-26BD-77B112344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3587" y="2131666"/>
                <a:ext cx="10639073" cy="4234534"/>
              </a:xfrm>
              <a:blipFill>
                <a:blip r:embed="rId2"/>
                <a:stretch>
                  <a:fillRect l="-119" t="-599" r="-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41D3A-CE3C-50E1-BCA5-47E9CE8E7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1301-637C-E740-8D11-A7EE68D71AF3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32C01-9B4C-71D6-C9B9-3C864B32C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AE33A-B22C-5ABA-4910-67EF547EA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61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D7FF-FEF6-5D4C-B826-F82F619C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206" y="2196942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Thank You!!!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10AB9-FD07-2E40-8BFC-5A664CC2E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1301-637C-E740-8D11-A7EE68D71AF3}" type="datetime1">
              <a:rPr lang="en-US" smtClean="0"/>
              <a:t>4/19/22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5A290-AF33-5441-883D-1F105853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9" y="308825"/>
            <a:ext cx="4114800" cy="417126"/>
          </a:xfrm>
        </p:spPr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65AA5-600D-304B-93AA-E1005C8EC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13110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AnalogousFromLightSeedLeftStep">
      <a:dk1>
        <a:srgbClr val="000000"/>
      </a:dk1>
      <a:lt1>
        <a:srgbClr val="FFFFFF"/>
      </a:lt1>
      <a:dk2>
        <a:srgbClr val="24393F"/>
      </a:dk2>
      <a:lt2>
        <a:srgbClr val="E8E6E2"/>
      </a:lt2>
      <a:accent1>
        <a:srgbClr val="7CA2E1"/>
      </a:accent1>
      <a:accent2>
        <a:srgbClr val="46B0CB"/>
      </a:accent2>
      <a:accent3>
        <a:srgbClr val="59B29F"/>
      </a:accent3>
      <a:accent4>
        <a:srgbClr val="4FB675"/>
      </a:accent4>
      <a:accent5>
        <a:srgbClr val="55B850"/>
      </a:accent5>
      <a:accent6>
        <a:srgbClr val="7AB04C"/>
      </a:accent6>
      <a:hlink>
        <a:srgbClr val="967F5B"/>
      </a:hlink>
      <a:folHlink>
        <a:srgbClr val="7F7F7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4059</TotalTime>
  <Words>1309</Words>
  <Application>Microsoft Macintosh PowerPoint</Application>
  <PresentationFormat>Widescreen</PresentationFormat>
  <Paragraphs>263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 Math</vt:lpstr>
      <vt:lpstr>Grandview</vt:lpstr>
      <vt:lpstr>Wingdings</vt:lpstr>
      <vt:lpstr>CosineVTI</vt:lpstr>
      <vt:lpstr>Chapter 6:  Specifying Requirements </vt:lpstr>
      <vt:lpstr>Safety Standards</vt:lpstr>
      <vt:lpstr>Safety Standards</vt:lpstr>
      <vt:lpstr>Safety Standards</vt:lpstr>
      <vt:lpstr>Challenges of safety standards</vt:lpstr>
      <vt:lpstr>Safety requirements</vt:lpstr>
      <vt:lpstr>Formal Languages to specifying requirements</vt:lpstr>
      <vt:lpstr>Linear Temporal Logic (LTL)  </vt:lpstr>
      <vt:lpstr>Linear Temporal Logic (LTL)</vt:lpstr>
      <vt:lpstr>Computation Tree Logic (CTL)</vt:lpstr>
      <vt:lpstr>Further Discussions on Temporal Logics</vt:lpstr>
      <vt:lpstr>Further Discussions on Temporal Logics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Verifying CPS</dc:title>
  <dc:creator>Taye, Abenezer Girma</dc:creator>
  <cp:lastModifiedBy>Taye, Abenezer Girma</cp:lastModifiedBy>
  <cp:revision>45</cp:revision>
  <dcterms:created xsi:type="dcterms:W3CDTF">2022-02-06T22:43:37Z</dcterms:created>
  <dcterms:modified xsi:type="dcterms:W3CDTF">2022-04-20T13:38:51Z</dcterms:modified>
</cp:coreProperties>
</file>