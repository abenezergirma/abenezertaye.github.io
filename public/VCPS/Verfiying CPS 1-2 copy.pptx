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8"/>
  </p:notesMasterIdLst>
  <p:sldIdLst>
    <p:sldId id="256" r:id="rId2"/>
    <p:sldId id="257" r:id="rId3"/>
    <p:sldId id="261" r:id="rId4"/>
    <p:sldId id="271" r:id="rId5"/>
    <p:sldId id="272" r:id="rId6"/>
    <p:sldId id="258" r:id="rId7"/>
    <p:sldId id="259" r:id="rId8"/>
    <p:sldId id="262" r:id="rId9"/>
    <p:sldId id="263" r:id="rId10"/>
    <p:sldId id="269" r:id="rId11"/>
    <p:sldId id="265" r:id="rId12"/>
    <p:sldId id="266" r:id="rId13"/>
    <p:sldId id="267" r:id="rId14"/>
    <p:sldId id="268" r:id="rId15"/>
    <p:sldId id="260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43A3-34D7-7C43-8302-10A0A21D9251}" type="datetimeFigureOut">
              <a:rPr lang="en-US" smtClean="0"/>
              <a:t>4/19/22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340E-30CA-0F4F-AB80-7A9782307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5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1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C203-56B9-E546-AD2E-CBFE2F89AB6A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7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9862-B14F-7A43-BC9C-CDBF2F2DD738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A4DC-8870-4144-8FDE-A8E524FFBD54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2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7FFBB20-AEBD-3446-BE3B-EEAF1A461906}" type="datetime1">
              <a:rPr lang="en-US" smtClean="0"/>
              <a:t>4/19/22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59AF-BA39-D54E-9593-7C63AF6BB779}" type="datetime1">
              <a:rPr lang="en-US" smtClean="0"/>
              <a:t>4/19/22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D8CA-DCEF-0442-A289-187E5A89F606}" type="datetime1">
              <a:rPr lang="en-US" smtClean="0"/>
              <a:t>4/19/22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C56-F230-1740-A435-3C66F8321A8C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31CD-7C82-914C-81DC-DFDE0D65C213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4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2891-5A9E-374B-BC76-376D1FD8A74F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3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7381-6EB4-804F-9D2A-1A0941D37E0A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068B-858A-2F42-9379-BC384CF9C458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098D6-C635-D245-B463-EEBF1157E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Verifying Cyber-Physical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8EF34-2A08-9449-A6DD-8D491E5BE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5185297" cy="230973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Chapter 6 – Specifying Requirements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Abenezer Taye</a:t>
            </a:r>
          </a:p>
          <a:p>
            <a:pPr algn="ctr"/>
            <a:r>
              <a:rPr lang="en-US" dirty="0"/>
              <a:t>Apr 19, 2022</a:t>
            </a:r>
          </a:p>
        </p:txBody>
      </p:sp>
      <p:pic>
        <p:nvPicPr>
          <p:cNvPr id="4" name="Picture 3" descr="Blue stripe pattern on a white background">
            <a:extLst>
              <a:ext uri="{FF2B5EF4-FFF2-40B4-BE49-F238E27FC236}">
                <a16:creationId xmlns:a16="http://schemas.microsoft.com/office/drawing/2014/main" id="{E9272CA2-BB70-4528-8331-D03A61CF63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19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5DDE2-1C66-7740-9810-B463B1DA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FBD07-0A02-6947-BE64-D5BAA58EA23B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8D739-BADB-FD49-B34C-ED2C47D6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064AD-F620-C641-A7B8-9929F6C2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9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80" y="2707768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6: </a:t>
            </a:r>
            <a:br>
              <a:rPr lang="en-US" sz="5400" dirty="0"/>
            </a:br>
            <a:r>
              <a:rPr lang="en-US" sz="3600" dirty="0"/>
              <a:t>Specifying Requirements </a:t>
            </a:r>
            <a:endParaRPr lang="en-US" sz="5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0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5833289" cy="482219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Safety standards</a:t>
            </a:r>
            <a:r>
              <a:rPr lang="en-US" dirty="0"/>
              <a:t>: provide guidelines and processes for developing safety-critical systems </a:t>
            </a:r>
          </a:p>
          <a:p>
            <a:r>
              <a:rPr lang="en-US" b="1" dirty="0"/>
              <a:t>DO-178C:</a:t>
            </a:r>
            <a:r>
              <a:rPr lang="en-US" dirty="0"/>
              <a:t> a standard given by FAA for determining and certifying the airworthiness of aviation software</a:t>
            </a:r>
          </a:p>
          <a:p>
            <a:pPr lvl="1"/>
            <a:r>
              <a:rPr lang="en-US" dirty="0"/>
              <a:t>Has five assurance levels for software modules (aka Design Assurance Levels (DALs))</a:t>
            </a:r>
          </a:p>
          <a:p>
            <a:pPr lvl="1"/>
            <a:r>
              <a:rPr lang="en-US" dirty="0"/>
              <a:t>Modified Condition/Decision Coverage (MC/DC)</a:t>
            </a:r>
          </a:p>
          <a:p>
            <a:pPr lvl="1"/>
            <a:r>
              <a:rPr lang="en-US" dirty="0"/>
              <a:t>Is a test suite that requires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dirty="0"/>
              <a:t>Each entry and exit point in the code be invoked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dirty="0"/>
              <a:t>Each decision take every possible value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dirty="0"/>
              <a:t>Each condition in a decision take every possible value 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D633C8A9-60F5-5A9A-8A93-6B0FC23E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144" y="1668769"/>
            <a:ext cx="4787770" cy="436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9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Standards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797269"/>
                <a:ext cx="11500921" cy="482219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ISO 26262: </a:t>
                </a:r>
                <a:endParaRPr lang="en-US" dirty="0"/>
              </a:p>
              <a:p>
                <a:pPr lvl="1"/>
                <a:r>
                  <a:rPr lang="en-US" dirty="0"/>
                  <a:t>Has four Automotive Safety Integrity Levels (ASILs) based on exposure to issues that affect the controllability of the vehicle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𝐴𝑆𝐼𝐿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𝐸𝑥𝑝𝑜𝑠𝑢𝑟𝑒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𝐶𝑜𝑛𝑡𝑟𝑜𝑙𝑙𝑎𝑏𝑖𝑙𝑖𝑡𝑦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𝑆𝑒𝑣𝑒𝑟𝑖𝑡𝑦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Divides probabilities of exposure into five classes </a:t>
                </a:r>
              </a:p>
              <a:p>
                <a:pPr lvl="1"/>
                <a:r>
                  <a:rPr lang="en-US" dirty="0"/>
                  <a:t>very low (E1) 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:r>
                  <a:rPr lang="en-US" dirty="0"/>
                  <a:t>high (E4) </a:t>
                </a:r>
              </a:p>
              <a:p>
                <a:pPr lvl="1"/>
                <a:r>
                  <a:rPr lang="en-US" dirty="0"/>
                  <a:t>To rate controllability </a:t>
                </a:r>
                <a:r>
                  <a:rPr lang="en-US" dirty="0">
                    <a:sym typeface="Wingdings" pitchFamily="2" charset="2"/>
                  </a:rPr>
                  <a:t> “controllable” to “difficult to control”</a:t>
                </a:r>
              </a:p>
              <a:p>
                <a:r>
                  <a:rPr lang="en-US" dirty="0">
                    <a:sym typeface="Wingdings" pitchFamily="2" charset="2"/>
                  </a:rPr>
                  <a:t>Safety standards are useful for dealing with many potential design and implementation defects.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However, research shows many areas of autonomous systems are not covered by existing standards </a:t>
                </a:r>
              </a:p>
              <a:p>
                <a:r>
                  <a:rPr lang="en-US" dirty="0">
                    <a:sym typeface="Wingdings" pitchFamily="2" charset="2"/>
                  </a:rPr>
                  <a:t>The role of human effort in the task of verification and validation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Encoding the requirements and models in a verification tool 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Validating the models (checking that the models indeed correspond to the real system)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Interpreting the output results of the verification tool 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There is no agreed-upon definition for precisely accounting for these human efforts  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797269"/>
                <a:ext cx="11500921" cy="4822192"/>
              </a:xfrm>
              <a:blipFill>
                <a:blip r:embed="rId3"/>
                <a:stretch>
                  <a:fillRect l="-110"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5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1500921" cy="4822192"/>
          </a:xfrm>
        </p:spPr>
        <p:txBody>
          <a:bodyPr>
            <a:normAutofit/>
          </a:bodyPr>
          <a:lstStyle/>
          <a:p>
            <a:r>
              <a:rPr lang="en-US" b="1"/>
              <a:t>Invariant:</a:t>
            </a:r>
            <a:r>
              <a:rPr lang="en-US"/>
              <a:t> </a:t>
            </a:r>
            <a:r>
              <a:rPr lang="en-US" dirty="0"/>
              <a:t>capture the idea that “some things always hold” or equivalently, “bad things never happen”.</a:t>
            </a:r>
          </a:p>
          <a:p>
            <a:r>
              <a:rPr lang="en-US" dirty="0"/>
              <a:t>A candidate invariant I is an invariant if all states along all executions of A satisfy I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E4AB278D-09FC-8F0E-A212-5654CAD5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04" y="2957137"/>
            <a:ext cx="3604391" cy="58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2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4" y="1797269"/>
            <a:ext cx="3843779" cy="4107298"/>
          </a:xfrm>
        </p:spPr>
        <p:txBody>
          <a:bodyPr/>
          <a:lstStyle/>
          <a:p>
            <a:r>
              <a:rPr lang="en-US" b="1" dirty="0"/>
              <a:t>Cyber Physical System (CPS): </a:t>
            </a:r>
            <a:r>
              <a:rPr lang="en-US" dirty="0"/>
              <a:t>systems that are controlled by computer</a:t>
            </a:r>
          </a:p>
          <a:p>
            <a:endParaRPr lang="en-US" dirty="0"/>
          </a:p>
          <a:p>
            <a:r>
              <a:rPr lang="en-US" b="1" dirty="0"/>
              <a:t>Requirements for CPS: </a:t>
            </a:r>
            <a:r>
              <a:rPr lang="en-US" dirty="0"/>
              <a:t>the desired or claimed behaviors of the system (aka specifications or properties)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C725-90EC-E847-A907-D596985F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CEFC6-760B-D249-9BC4-05FBA2AA552C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8354-D3CD-2342-A914-15E0C714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14E9-FAD7-9D4A-B6E2-DCC9BF73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3074" name="Picture 2" descr="Cps Conceptual Abstract Image Visual Stock Photo - Download Image Now -  iStock">
            <a:extLst>
              <a:ext uri="{FF2B5EF4-FFF2-40B4-BE49-F238E27FC236}">
                <a16:creationId xmlns:a16="http://schemas.microsoft.com/office/drawing/2014/main" id="{1F6AB889-AAF7-064A-8A6B-F99E7A08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29" y="1573093"/>
            <a:ext cx="6492371" cy="505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52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847E-B2D9-9745-A147-25E5C26D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-149879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Testing Vs Verification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Testing</a:t>
                </a:r>
                <a:r>
                  <a:rPr lang="en-US" dirty="0"/>
                  <a:t>: analyzing the resulting behavior data to check whether the requirement is met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many systems, using testing for establishing system requirements is impossible </a:t>
                </a:r>
              </a:p>
              <a:p>
                <a:pPr lvl="1"/>
                <a:r>
                  <a:rPr lang="en-US" dirty="0"/>
                  <a:t>The amount of data required to guarantee a probability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dirty="0"/>
                  <a:t> fatality/</a:t>
                </a:r>
                <a:r>
                  <a:rPr lang="en-US" dirty="0" err="1"/>
                  <a:t>hr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hrs</a:t>
                </a:r>
                <a:r>
                  <a:rPr lang="en-US" dirty="0"/>
                  <a:t> of data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miles (Shalev-Shwartz et al. (2017))</a:t>
                </a:r>
              </a:p>
              <a:p>
                <a:r>
                  <a:rPr lang="en-US" b="1" dirty="0"/>
                  <a:t>Verification</a:t>
                </a:r>
                <a:r>
                  <a:rPr lang="en-US" dirty="0"/>
                  <a:t>: mathematically proves that a model of the system meets the requirements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  <a:blipFill>
                <a:blip r:embed="rId2"/>
                <a:stretch>
                  <a:fillRect l="-391" t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4E5322-29B5-294C-A14C-138690569110}"/>
              </a:ext>
            </a:extLst>
          </p:cNvPr>
          <p:cNvSpPr/>
          <p:nvPr/>
        </p:nvSpPr>
        <p:spPr>
          <a:xfrm>
            <a:off x="2747313" y="2497460"/>
            <a:ext cx="1140056" cy="8408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7AF6D-2BEC-D640-9302-1A33BE2AE714}"/>
              </a:ext>
            </a:extLst>
          </p:cNvPr>
          <p:cNvCxnSpPr>
            <a:cxnSpLocks/>
          </p:cNvCxnSpPr>
          <p:nvPr/>
        </p:nvCxnSpPr>
        <p:spPr>
          <a:xfrm>
            <a:off x="2136913" y="2607784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DD5497-E5A4-BF44-8B29-6CE8FB3C952F}"/>
              </a:ext>
            </a:extLst>
          </p:cNvPr>
          <p:cNvCxnSpPr>
            <a:cxnSpLocks/>
          </p:cNvCxnSpPr>
          <p:nvPr/>
        </p:nvCxnSpPr>
        <p:spPr>
          <a:xfrm>
            <a:off x="2136912" y="3149271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C5B9EE-F6D8-5846-985E-2D7B5AF1B97B}"/>
              </a:ext>
            </a:extLst>
          </p:cNvPr>
          <p:cNvSpPr txBox="1"/>
          <p:nvPr/>
        </p:nvSpPr>
        <p:spPr>
          <a:xfrm>
            <a:off x="1425676" y="2431619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Initial </a:t>
            </a:r>
          </a:p>
          <a:p>
            <a:r>
              <a:rPr lang="en-US" sz="1400" dirty="0"/>
              <a:t>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939B9-AF78-B74E-BC11-F6E5F99FB008}"/>
              </a:ext>
            </a:extLst>
          </p:cNvPr>
          <p:cNvSpPr txBox="1"/>
          <p:nvPr/>
        </p:nvSpPr>
        <p:spPr>
          <a:xfrm>
            <a:off x="1577622" y="2990895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D0CFEF-1387-4441-A393-3DB494ECB773}"/>
              </a:ext>
            </a:extLst>
          </p:cNvPr>
          <p:cNvCxnSpPr>
            <a:cxnSpLocks/>
          </p:cNvCxnSpPr>
          <p:nvPr/>
        </p:nvCxnSpPr>
        <p:spPr>
          <a:xfrm>
            <a:off x="3887369" y="2943414"/>
            <a:ext cx="4460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0B21B9-7C4E-6649-B2AE-E30529172BD0}"/>
              </a:ext>
            </a:extLst>
          </p:cNvPr>
          <p:cNvSpPr txBox="1"/>
          <p:nvPr/>
        </p:nvSpPr>
        <p:spPr>
          <a:xfrm>
            <a:off x="4341484" y="2733209"/>
            <a:ext cx="8787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BB6C1-347D-6B45-8DEA-781AD1A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A2AC7-B06A-C04D-BFDC-F7B28E8F4528}" type="datetime1">
              <a:rPr lang="en-US" smtClean="0"/>
              <a:t>4/19/22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C48F27-0DE2-4B46-AEA8-32DC8918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EA7711-69A4-5C4A-895A-DAF32217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4104" name="Picture 8" descr="Driverless Cars Approved for Testing by UK » AutoGuide.com News">
            <a:extLst>
              <a:ext uri="{FF2B5EF4-FFF2-40B4-BE49-F238E27FC236}">
                <a16:creationId xmlns:a16="http://schemas.microsoft.com/office/drawing/2014/main" id="{C8130A08-DC45-3C47-A027-3758F972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47" y="2585167"/>
            <a:ext cx="4773625" cy="29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7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88" y="4401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System Design Ecosystem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0CD169-D100-6449-8A58-75EA34A6C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930" y="1763939"/>
            <a:ext cx="9094888" cy="4328817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F52DDB7-3D51-A642-81E1-8CC2FF72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38E0-148A-2A4B-AC69-A5CF995C207E}" type="datetime1">
              <a:rPr lang="en-US" smtClean="0"/>
              <a:t>4/19/22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E72D97-70B1-9B44-B196-9871664B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5B2378-960C-D24F-8FAD-BD248105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72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Challenges of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Theoretical undecidability : </a:t>
            </a:r>
          </a:p>
          <a:p>
            <a:pPr lvl="1"/>
            <a:r>
              <a:rPr lang="en-US" dirty="0"/>
              <a:t>There is no algorithm that checks whether a model of CPS meets a requirement. </a:t>
            </a:r>
          </a:p>
          <a:p>
            <a:pPr lvl="1"/>
            <a:r>
              <a:rPr lang="en-US" dirty="0"/>
              <a:t>To address this </a:t>
            </a:r>
            <a:r>
              <a:rPr lang="en-US" dirty="0">
                <a:sym typeface="Wingdings" pitchFamily="2" charset="2"/>
              </a:rPr>
              <a:t> relaxing the verification question (e.g. bounded time horizon or tolerate some false positives) 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Practical Scalability :</a:t>
            </a:r>
          </a:p>
          <a:p>
            <a:pPr lvl="1"/>
            <a:r>
              <a:rPr lang="en-US" dirty="0"/>
              <a:t>Lack of scalability is a huge challenge for the progress in verification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Missing Models :</a:t>
            </a:r>
          </a:p>
          <a:p>
            <a:pPr lvl="1"/>
            <a:r>
              <a:rPr lang="en-US" dirty="0"/>
              <a:t>Complete models of CPS systems are difficult to come by</a:t>
            </a:r>
          </a:p>
          <a:p>
            <a:pPr lvl="2"/>
            <a:r>
              <a:rPr lang="en-US" dirty="0"/>
              <a:t>Oftentimes models lack succinct descriptions, are distributed, and are protected intellectual property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Learning-enabled systems and missing requirements : </a:t>
            </a:r>
          </a:p>
          <a:p>
            <a:pPr lvl="1"/>
            <a:r>
              <a:rPr lang="en-US" dirty="0"/>
              <a:t>Recent CPS systems use DNN </a:t>
            </a:r>
            <a:r>
              <a:rPr lang="en-US" dirty="0">
                <a:sym typeface="Wingdings" pitchFamily="2" charset="2"/>
              </a:rPr>
              <a:t> lack models and requirements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16A2-7764-2641-AB7F-BF5431CE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0210-905C-C74D-8E3E-C1F5F4E01522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6F17-F62E-044C-8AB7-60C6B638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4F422-10F4-474B-A444-C8F0C033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27" y="3290864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2: </a:t>
            </a:r>
            <a:br>
              <a:rPr lang="en-US" sz="5400" dirty="0"/>
            </a:br>
            <a:r>
              <a:rPr lang="en-US" sz="5400" dirty="0"/>
              <a:t>MODELING COMPUTATION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4/19/22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20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6892478" cy="4107298"/>
          </a:xfrm>
        </p:spPr>
        <p:txBody>
          <a:bodyPr/>
          <a:lstStyle/>
          <a:p>
            <a:r>
              <a:rPr lang="en-US" b="1" dirty="0"/>
              <a:t>Aim: </a:t>
            </a:r>
            <a:r>
              <a:rPr lang="en-US" dirty="0"/>
              <a:t>how can we develop a mathematical model for computation </a:t>
            </a:r>
          </a:p>
          <a:p>
            <a:r>
              <a:rPr lang="en-US" dirty="0"/>
              <a:t>We use differential equations to model physical systems </a:t>
            </a:r>
            <a:r>
              <a:rPr lang="en-US" dirty="0">
                <a:sym typeface="Wingdings" pitchFamily="2" charset="2"/>
              </a:rPr>
              <a:t> how about computation?</a:t>
            </a:r>
          </a:p>
          <a:p>
            <a:r>
              <a:rPr lang="en-US" b="1" dirty="0">
                <a:sym typeface="Wingdings" pitchFamily="2" charset="2"/>
              </a:rPr>
              <a:t>Automaton</a:t>
            </a:r>
            <a:r>
              <a:rPr lang="en-US" dirty="0">
                <a:sym typeface="Wingdings" pitchFamily="2" charset="2"/>
              </a:rPr>
              <a:t>: 19</a:t>
            </a:r>
            <a:r>
              <a:rPr lang="en-US" baseline="30000" dirty="0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century word used to describe mechanical dolls </a:t>
            </a:r>
          </a:p>
          <a:p>
            <a:r>
              <a:rPr lang="en-US" dirty="0">
                <a:sym typeface="Wingdings" pitchFamily="2" charset="2"/>
              </a:rPr>
              <a:t>In mathematics, we use automaton to describe the rules of state change of any computational process</a:t>
            </a:r>
          </a:p>
          <a:p>
            <a:pPr lvl="1"/>
            <a:r>
              <a:rPr lang="en-US" dirty="0">
                <a:sym typeface="Wingdings" pitchFamily="2" charset="2"/>
              </a:rPr>
              <a:t>Aka, </a:t>
            </a:r>
            <a:r>
              <a:rPr lang="en-US" b="1" dirty="0">
                <a:sym typeface="Wingdings" pitchFamily="2" charset="2"/>
              </a:rPr>
              <a:t>discrete-time transition system</a:t>
            </a:r>
            <a:r>
              <a:rPr lang="en-US" dirty="0">
                <a:sym typeface="Wingdings" pitchFamily="2" charset="2"/>
              </a:rPr>
              <a:t> or </a:t>
            </a:r>
            <a:r>
              <a:rPr lang="en-US" b="1" dirty="0">
                <a:sym typeface="Wingdings" pitchFamily="2" charset="2"/>
              </a:rPr>
              <a:t>a state machine </a:t>
            </a:r>
            <a:endParaRPr lang="en-US" b="1" dirty="0"/>
          </a:p>
        </p:txBody>
      </p:sp>
      <p:pic>
        <p:nvPicPr>
          <p:cNvPr id="1026" name="Picture 2" descr="Matilda the Automaton by Franklin Vanseizenberg - Steampunk Ages |  Steampunk, Steampunk aesthetic, Retro futurism">
            <a:extLst>
              <a:ext uri="{FF2B5EF4-FFF2-40B4-BE49-F238E27FC236}">
                <a16:creationId xmlns:a16="http://schemas.microsoft.com/office/drawing/2014/main" id="{BC716FDD-5B0E-1445-A85A-A6D7F4F97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278" y="1690941"/>
            <a:ext cx="2986348" cy="410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5062-5409-574F-9EA6-23114DE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22D1-F5B9-514E-B943-EA83E402F76D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D03A-AFE6-284E-BF75-802DFF9B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44462-E64E-684E-85A6-EC5D65D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8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3012"/>
            <a:ext cx="10325000" cy="1064776"/>
          </a:xfrm>
        </p:spPr>
        <p:txBody>
          <a:bodyPr/>
          <a:lstStyle/>
          <a:p>
            <a:pPr algn="ctr"/>
            <a:r>
              <a:rPr lang="en-US" b="1" dirty="0"/>
              <a:t>Example: JK Flip-Flop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02940-40B3-3741-A47C-784FC52D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36" y="1394733"/>
            <a:ext cx="4758168" cy="3401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CEDBE-60EC-D44D-9F70-06BD40E3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48" y="1928191"/>
            <a:ext cx="6641272" cy="264669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50A6C1C-6002-3349-A995-2ED684AD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81957"/>
              </p:ext>
            </p:extLst>
          </p:nvPr>
        </p:nvGraphicFramePr>
        <p:xfrm>
          <a:off x="1972420" y="4795848"/>
          <a:ext cx="2488574" cy="1939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418">
                  <a:extLst>
                    <a:ext uri="{9D8B030D-6E8A-4147-A177-3AD203B41FA5}">
                      <a16:colId xmlns:a16="http://schemas.microsoft.com/office/drawing/2014/main" val="4217466963"/>
                    </a:ext>
                  </a:extLst>
                </a:gridCol>
                <a:gridCol w="408251">
                  <a:extLst>
                    <a:ext uri="{9D8B030D-6E8A-4147-A177-3AD203B41FA5}">
                      <a16:colId xmlns:a16="http://schemas.microsoft.com/office/drawing/2014/main" val="3290466910"/>
                    </a:ext>
                  </a:extLst>
                </a:gridCol>
                <a:gridCol w="406462">
                  <a:extLst>
                    <a:ext uri="{9D8B030D-6E8A-4147-A177-3AD203B41FA5}">
                      <a16:colId xmlns:a16="http://schemas.microsoft.com/office/drawing/2014/main" val="242252847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95948543"/>
                    </a:ext>
                  </a:extLst>
                </a:gridCol>
              </a:tblGrid>
              <a:tr h="387828">
                <a:tc>
                  <a:txBody>
                    <a:bodyPr/>
                    <a:lstStyle/>
                    <a:p>
                      <a:r>
                        <a:rPr lang="en-US" dirty="0" err="1"/>
                        <a:t>clk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46495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777010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621336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831859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2826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643D909-EF2F-0A49-93F3-C5EE50C580B8}"/>
              </a:ext>
            </a:extLst>
          </p:cNvPr>
          <p:cNvSpPr txBox="1"/>
          <p:nvPr/>
        </p:nvSpPr>
        <p:spPr>
          <a:xfrm>
            <a:off x="5148470" y="4659088"/>
            <a:ext cx="6848061" cy="2123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Parts of specification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Actions</a:t>
            </a:r>
            <a:r>
              <a:rPr lang="en-US" dirty="0"/>
              <a:t>: lists various types of rules for state change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Variables</a:t>
            </a:r>
            <a:r>
              <a:rPr lang="en-US" dirty="0"/>
              <a:t>: lists the state variables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Transitions</a:t>
            </a:r>
            <a:r>
              <a:rPr lang="en-US" dirty="0"/>
              <a:t>: lists the state change rules for each of the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4E0FE-2BA2-CF4E-89B2-01E1C8C3FEBF}"/>
              </a:ext>
            </a:extLst>
          </p:cNvPr>
          <p:cNvSpPr/>
          <p:nvPr/>
        </p:nvSpPr>
        <p:spPr>
          <a:xfrm>
            <a:off x="5655365" y="2206487"/>
            <a:ext cx="1590261" cy="546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A71E3-F6CA-134D-A87A-B7537D61DCB8}"/>
              </a:ext>
            </a:extLst>
          </p:cNvPr>
          <p:cNvSpPr/>
          <p:nvPr/>
        </p:nvSpPr>
        <p:spPr>
          <a:xfrm>
            <a:off x="5686896" y="2858128"/>
            <a:ext cx="2006676" cy="635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28108-0B90-1A4E-B70E-D168647DF32B}"/>
              </a:ext>
            </a:extLst>
          </p:cNvPr>
          <p:cNvSpPr/>
          <p:nvPr/>
        </p:nvSpPr>
        <p:spPr>
          <a:xfrm>
            <a:off x="8839999" y="2206486"/>
            <a:ext cx="2290455" cy="139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38FA48D-95D5-F54E-9D53-C6F14FE8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65E5-09D3-1649-90C5-365C3679F92C}" type="datetime1">
              <a:rPr lang="en-US" smtClean="0"/>
              <a:t>4/19/22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1CC970-C24E-DA4E-AD51-3638468F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1CE7C75-4C85-144C-AF6B-51F2D0A1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52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Specifying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State variables: </a:t>
            </a:r>
          </a:p>
          <a:p>
            <a:pPr lvl="1"/>
            <a:r>
              <a:rPr lang="en-US" dirty="0"/>
              <a:t>A state represents the information necessary for predicting the future of an automaton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Valuation:</a:t>
            </a:r>
          </a:p>
          <a:p>
            <a:pPr lvl="1"/>
            <a:r>
              <a:rPr lang="en-US" dirty="0"/>
              <a:t>Maps each state variable name to a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Predicates:</a:t>
            </a:r>
          </a:p>
          <a:p>
            <a:pPr lvl="1"/>
            <a:r>
              <a:rPr lang="en-US" dirty="0"/>
              <a:t>A Boolean–valued formula involving the variables in V (we use it as a requirement)</a:t>
            </a:r>
          </a:p>
          <a:p>
            <a:pPr lvl="2"/>
            <a:r>
              <a:rPr lang="en-US" dirty="0"/>
              <a:t>For example: the state                                                           satisfies the formula</a:t>
            </a:r>
          </a:p>
          <a:p>
            <a:pPr lvl="2"/>
            <a:r>
              <a:rPr lang="en-US" dirty="0"/>
              <a:t>Because 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Transitions: </a:t>
            </a:r>
          </a:p>
          <a:p>
            <a:pPr lvl="1"/>
            <a:r>
              <a:rPr lang="en-US" dirty="0"/>
              <a:t>Specify the rules for state change in a computation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ED39B-AFB3-484E-A4CE-B7D6E29D2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64" y="3008098"/>
            <a:ext cx="3983659" cy="452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CEC04-22C6-894E-9FBC-E57D6AB7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65" y="4218400"/>
            <a:ext cx="3105014" cy="352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44C9E0-36A2-864E-96A1-B0464599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06" y="4192864"/>
            <a:ext cx="2388428" cy="344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F313B2-049D-7046-A3FD-954AB803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393" y="4609105"/>
            <a:ext cx="4477945" cy="2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85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automaton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𝓓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:r>
                  <a:rPr lang="en-US" b="1" dirty="0"/>
                  <a:t> 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V is a set of state variables and </a:t>
                </a:r>
                <a:r>
                  <a:rPr lang="en-US" dirty="0" err="1"/>
                  <a:t>val</a:t>
                </a:r>
                <a:r>
                  <a:rPr lang="en-US" dirty="0"/>
                  <a:t>(V) is valuations of V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set of start states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 is a set of actions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set of transitions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  <a:blipFill>
                <a:blip r:embed="rId2"/>
                <a:stretch>
                  <a:fillRect l="-246" t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B094E-CD10-364C-A96C-4DB837994C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21" t="8604" b="34315"/>
          <a:stretch/>
        </p:blipFill>
        <p:spPr>
          <a:xfrm>
            <a:off x="6712796" y="4191253"/>
            <a:ext cx="4310775" cy="1803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4C9084-2952-8A46-8F76-16611121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12" y="4343759"/>
            <a:ext cx="4663937" cy="149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38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0AF6-9462-7A4E-B1EB-3C95DE9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7052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</p:spPr>
            <p:txBody>
              <a:bodyPr/>
              <a:lstStyle/>
              <a:p>
                <a:r>
                  <a:rPr lang="en-US" b="1" dirty="0"/>
                  <a:t>Execution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𝐸𝑥𝑐𝑒𝑠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an alternating, possibly infinite, sequence of states and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state </a:t>
                </a:r>
                <a:r>
                  <a:rPr lang="en-US" dirty="0" err="1"/>
                  <a:t>val</a:t>
                </a:r>
                <a:r>
                  <a:rPr lang="en-US" dirty="0"/>
                  <a:t>(V)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an action in A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consecutive triple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valid transition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Reachable state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𝑅𝑒𝑎𝑐h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 state is reachable if there exists a finite execution that ends at v</a:t>
                </a:r>
              </a:p>
              <a:p>
                <a:r>
                  <a:rPr lang="en-US" b="1" dirty="0"/>
                  <a:t>Invariant: </a:t>
                </a:r>
                <a:r>
                  <a:rPr lang="en-US" dirty="0"/>
                  <a:t>a set of states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dirty="0"/>
                  <a:t> that contains all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’s reachable states  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  <a:blipFill>
                <a:blip r:embed="rId2"/>
                <a:stretch>
                  <a:fillRect l="-246" t="-575" r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5BEA-B6C8-DF44-94DB-5219F83B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606F8-9FB9-6644-8833-EA66FF358F0B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0237-4BAF-3B4E-B98B-A467FC67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92272-23B4-F74B-BB17-A2A40F7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36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D7FF-FEF6-5D4C-B826-F82F619C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06" y="219694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0AB9-FD07-2E40-8BFC-5A664CC2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A290-AF33-5441-883D-1F105853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9" y="308825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5AA5-600D-304B-93AA-E1005C8E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6E2"/>
      </a:lt2>
      <a:accent1>
        <a:srgbClr val="7CA2E1"/>
      </a:accent1>
      <a:accent2>
        <a:srgbClr val="46B0CB"/>
      </a:accent2>
      <a:accent3>
        <a:srgbClr val="59B29F"/>
      </a:accent3>
      <a:accent4>
        <a:srgbClr val="4FB675"/>
      </a:accent4>
      <a:accent5>
        <a:srgbClr val="55B850"/>
      </a:accent5>
      <a:accent6>
        <a:srgbClr val="7AB04C"/>
      </a:accent6>
      <a:hlink>
        <a:srgbClr val="967F5B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3253</TotalTime>
  <Words>983</Words>
  <Application>Microsoft Macintosh PowerPoint</Application>
  <PresentationFormat>Widescreen</PresentationFormat>
  <Paragraphs>190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Grandview</vt:lpstr>
      <vt:lpstr>Wingdings</vt:lpstr>
      <vt:lpstr>CosineVTI</vt:lpstr>
      <vt:lpstr>Verifying Cyber-Physical Systems</vt:lpstr>
      <vt:lpstr>Chapter 6:  Specifying Requirements </vt:lpstr>
      <vt:lpstr>Safety Standards</vt:lpstr>
      <vt:lpstr>Safety Standards</vt:lpstr>
      <vt:lpstr>Safety requirements</vt:lpstr>
      <vt:lpstr>Introduction</vt:lpstr>
      <vt:lpstr>Testing Vs Verification </vt:lpstr>
      <vt:lpstr>System Design Ecosystem</vt:lpstr>
      <vt:lpstr>Challenges of Verification</vt:lpstr>
      <vt:lpstr>Chapter 2:  MODELING COMPUTATION</vt:lpstr>
      <vt:lpstr>Introduction</vt:lpstr>
      <vt:lpstr>Example: JK Flip-Flop </vt:lpstr>
      <vt:lpstr>Specifying automata</vt:lpstr>
      <vt:lpstr>Automata</vt:lpstr>
      <vt:lpstr>Semantics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Verifying CPS</dc:title>
  <dc:creator>Taye, Abenezer Girma</dc:creator>
  <cp:lastModifiedBy>Taye, Abenezer Girma</cp:lastModifiedBy>
  <cp:revision>26</cp:revision>
  <dcterms:created xsi:type="dcterms:W3CDTF">2022-02-06T22:43:37Z</dcterms:created>
  <dcterms:modified xsi:type="dcterms:W3CDTF">2022-04-19T21:18:05Z</dcterms:modified>
</cp:coreProperties>
</file>