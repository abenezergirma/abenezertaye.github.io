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333" r:id="rId2"/>
    <p:sldId id="475" r:id="rId3"/>
    <p:sldId id="468" r:id="rId4"/>
    <p:sldId id="477" r:id="rId5"/>
    <p:sldId id="476" r:id="rId6"/>
    <p:sldId id="478" r:id="rId7"/>
    <p:sldId id="481" r:id="rId8"/>
    <p:sldId id="482" r:id="rId9"/>
    <p:sldId id="483" r:id="rId10"/>
    <p:sldId id="490" r:id="rId11"/>
    <p:sldId id="491" r:id="rId12"/>
    <p:sldId id="484" r:id="rId13"/>
    <p:sldId id="485" r:id="rId14"/>
    <p:sldId id="486" r:id="rId15"/>
    <p:sldId id="487" r:id="rId16"/>
    <p:sldId id="488" r:id="rId17"/>
    <p:sldId id="489" r:id="rId18"/>
    <p:sldId id="492" r:id="rId19"/>
    <p:sldId id="493" r:id="rId20"/>
    <p:sldId id="495" r:id="rId21"/>
  </p:sldIdLst>
  <p:sldSz cx="10058400" cy="7772400"/>
  <p:notesSz cx="6858000" cy="9144000"/>
  <p:defaultTextStyle>
    <a:defPPr>
      <a:defRPr lang="en-US"/>
    </a:defPPr>
    <a:lvl1pPr marL="0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1">
          <p15:clr>
            <a:srgbClr val="A4A3A4"/>
          </p15:clr>
        </p15:guide>
        <p15:guide id="2" pos="41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ynsay Belshe" initials="" lastIdx="5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EBAD"/>
    <a:srgbClr val="6AB834"/>
    <a:srgbClr val="A65310"/>
    <a:srgbClr val="63A7DE"/>
    <a:srgbClr val="FEB91E"/>
    <a:srgbClr val="08436E"/>
    <a:srgbClr val="D5C2A3"/>
    <a:srgbClr val="D9002A"/>
    <a:srgbClr val="1183CC"/>
    <a:srgbClr val="BAA2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491" autoAdjust="0"/>
    <p:restoredTop sz="96327" autoAdjust="0"/>
  </p:normalViewPr>
  <p:slideViewPr>
    <p:cSldViewPr snapToGrid="0" snapToObjects="1">
      <p:cViewPr varScale="1">
        <p:scale>
          <a:sx n="96" d="100"/>
          <a:sy n="96" d="100"/>
        </p:scale>
        <p:origin x="2016" y="184"/>
      </p:cViewPr>
      <p:guideLst>
        <p:guide orient="horz" pos="1291"/>
        <p:guide pos="41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6BD65-4128-AD4A-BC65-DD1A35B82098}" type="datetimeFigureOut">
              <a:rPr lang="en-US" smtClean="0"/>
              <a:t>3/19/22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2A848-6AD5-7B49-A3B8-7D8D442B9D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182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FFF99-B266-BA4A-9211-5D0EF0728BF9}" type="datetimeFigureOut">
              <a:rPr lang="en-US" smtClean="0"/>
              <a:t>3/19/22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9675" y="685800"/>
            <a:ext cx="44386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D469F-60C6-C644-BD5F-F6073AC489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1404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863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727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591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4553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43194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51829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60470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9106" algn="l" defTabSz="50863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AD469F-60C6-C644-BD5F-F6073AC489D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884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54380" y="2414482"/>
            <a:ext cx="8562376" cy="1666028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sz="36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4380" y="4404360"/>
            <a:ext cx="8562376" cy="1986280"/>
          </a:xfrm>
          <a:prstGeom prst="rect">
            <a:avLst/>
          </a:prstGeom>
        </p:spPr>
        <p:txBody>
          <a:bodyPr lIns="91308" tIns="45652" rIns="91308" bIns="45652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Avenir Medium"/>
                <a:cs typeface="Avenir Medium"/>
              </a:defRPr>
            </a:lvl1pPr>
            <a:lvl2pPr marL="508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7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59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45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3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1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0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91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 flipV="1">
            <a:off x="845899" y="4248233"/>
            <a:ext cx="8385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3371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 flipH="1">
            <a:off x="6819098" y="4378273"/>
            <a:ext cx="2736382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503252" y="1813560"/>
            <a:ext cx="6074159" cy="2877599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6819098" y="1813561"/>
            <a:ext cx="273638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6819098" y="4520428"/>
            <a:ext cx="273638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6696251" y="1813575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7"/>
          </p:nvPr>
        </p:nvSpPr>
        <p:spPr>
          <a:xfrm>
            <a:off x="6819098" y="3060395"/>
            <a:ext cx="2736850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"/>
                <a:cs typeface="Avenir"/>
              </a:defRPr>
            </a:lvl1pPr>
            <a:lvl2pPr>
              <a:defRPr b="0" i="0">
                <a:solidFill>
                  <a:srgbClr val="000000"/>
                </a:solidFill>
                <a:latin typeface="Avenir"/>
                <a:cs typeface="Avenir"/>
              </a:defRPr>
            </a:lvl2pPr>
            <a:lvl3pPr>
              <a:defRPr b="0" i="0">
                <a:solidFill>
                  <a:srgbClr val="000000"/>
                </a:solidFill>
                <a:latin typeface="Avenir"/>
                <a:cs typeface="Avenir"/>
              </a:defRPr>
            </a:lvl3pPr>
            <a:lvl4pPr>
              <a:defRPr b="0" i="0">
                <a:solidFill>
                  <a:srgbClr val="000000"/>
                </a:solidFill>
                <a:latin typeface="Avenir"/>
                <a:cs typeface="Avenir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Text Placeholder 32"/>
          <p:cNvSpPr>
            <a:spLocks noGrp="1"/>
          </p:cNvSpPr>
          <p:nvPr>
            <p:ph type="body" sz="quarter" idx="18"/>
          </p:nvPr>
        </p:nvSpPr>
        <p:spPr>
          <a:xfrm>
            <a:off x="6819098" y="5729429"/>
            <a:ext cx="2736850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502918" y="4814363"/>
            <a:ext cx="6074479" cy="2127916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882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ayout 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/>
          <p:nvPr userDrawn="1"/>
        </p:nvCxnSpPr>
        <p:spPr>
          <a:xfrm flipH="1">
            <a:off x="503238" y="4378273"/>
            <a:ext cx="2736382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3481336" y="1813560"/>
            <a:ext cx="6074159" cy="2877599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503238" y="1813561"/>
            <a:ext cx="273638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2" name="Picture Placeholder 19"/>
          <p:cNvSpPr>
            <a:spLocks noGrp="1"/>
          </p:cNvSpPr>
          <p:nvPr>
            <p:ph type="pic" sz="quarter" idx="16"/>
          </p:nvPr>
        </p:nvSpPr>
        <p:spPr>
          <a:xfrm>
            <a:off x="502770" y="4520428"/>
            <a:ext cx="2736382" cy="113381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27" name="Straight Connector 26"/>
          <p:cNvCxnSpPr/>
          <p:nvPr userDrawn="1"/>
        </p:nvCxnSpPr>
        <p:spPr>
          <a:xfrm>
            <a:off x="3363333" y="1813575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3" name="Text Placeholder 32"/>
          <p:cNvSpPr>
            <a:spLocks noGrp="1"/>
          </p:cNvSpPr>
          <p:nvPr>
            <p:ph type="body" sz="quarter" idx="17"/>
          </p:nvPr>
        </p:nvSpPr>
        <p:spPr>
          <a:xfrm>
            <a:off x="503238" y="3060395"/>
            <a:ext cx="2736850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"/>
                <a:cs typeface="Avenir"/>
              </a:defRPr>
            </a:lvl1pPr>
            <a:lvl2pPr>
              <a:defRPr b="0" i="0">
                <a:solidFill>
                  <a:srgbClr val="000000"/>
                </a:solidFill>
                <a:latin typeface="Avenir"/>
                <a:cs typeface="Avenir"/>
              </a:defRPr>
            </a:lvl2pPr>
            <a:lvl3pPr>
              <a:defRPr b="0" i="0">
                <a:solidFill>
                  <a:srgbClr val="000000"/>
                </a:solidFill>
                <a:latin typeface="Avenir"/>
                <a:cs typeface="Avenir"/>
              </a:defRPr>
            </a:lvl3pPr>
            <a:lvl4pPr>
              <a:defRPr b="0" i="0">
                <a:solidFill>
                  <a:srgbClr val="000000"/>
                </a:solidFill>
                <a:latin typeface="Avenir"/>
                <a:cs typeface="Avenir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4" name="Text Placeholder 32"/>
          <p:cNvSpPr>
            <a:spLocks noGrp="1"/>
          </p:cNvSpPr>
          <p:nvPr>
            <p:ph type="body" sz="quarter" idx="18"/>
          </p:nvPr>
        </p:nvSpPr>
        <p:spPr>
          <a:xfrm>
            <a:off x="502775" y="5729429"/>
            <a:ext cx="2736850" cy="1212850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5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3481003" y="4814363"/>
            <a:ext cx="6074479" cy="2127916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4" name="Rectangle 13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1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 userDrawn="1"/>
        </p:nvCxnSpPr>
        <p:spPr>
          <a:xfrm flipH="1">
            <a:off x="502918" y="5246121"/>
            <a:ext cx="9052562" cy="0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503251" y="1813573"/>
            <a:ext cx="3914147" cy="3275681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5198380" y="5383598"/>
            <a:ext cx="1919508" cy="172049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032282" y="5373510"/>
            <a:ext cx="0" cy="1730584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7184247" y="5383598"/>
            <a:ext cx="2371247" cy="1720496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19"/>
          <p:cNvSpPr>
            <a:spLocks noGrp="1"/>
          </p:cNvSpPr>
          <p:nvPr>
            <p:ph type="pic" sz="quarter" idx="18"/>
          </p:nvPr>
        </p:nvSpPr>
        <p:spPr>
          <a:xfrm>
            <a:off x="503238" y="5383598"/>
            <a:ext cx="1919508" cy="172049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2489106" y="5383598"/>
            <a:ext cx="2371247" cy="1720496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0"/>
          </p:nvPr>
        </p:nvSpPr>
        <p:spPr>
          <a:xfrm>
            <a:off x="4483037" y="1812938"/>
            <a:ext cx="5072126" cy="3276273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sz="2000"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 b="0" i="0">
                <a:solidFill>
                  <a:srgbClr val="000000"/>
                </a:solidFill>
                <a:latin typeface="Avenir Book"/>
                <a:cs typeface="Avenir Book"/>
              </a:defRPr>
            </a:lvl4pPr>
            <a:lvl5pPr marL="2166818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Rectangle 14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85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Layout Templa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503251" y="1813573"/>
            <a:ext cx="3914147" cy="3275681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15"/>
          </p:nvPr>
        </p:nvSpPr>
        <p:spPr>
          <a:xfrm>
            <a:off x="5198380" y="5383598"/>
            <a:ext cx="1919508" cy="172049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7184247" y="5383598"/>
            <a:ext cx="2371247" cy="1720496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Picture Placeholder 19"/>
          <p:cNvSpPr>
            <a:spLocks noGrp="1"/>
          </p:cNvSpPr>
          <p:nvPr>
            <p:ph type="pic" sz="quarter" idx="18"/>
          </p:nvPr>
        </p:nvSpPr>
        <p:spPr>
          <a:xfrm>
            <a:off x="503238" y="5383598"/>
            <a:ext cx="1919508" cy="1720496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9"/>
          </p:nvPr>
        </p:nvSpPr>
        <p:spPr>
          <a:xfrm>
            <a:off x="2489106" y="5383598"/>
            <a:ext cx="2371247" cy="1720496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b="0" i="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20"/>
          </p:nvPr>
        </p:nvSpPr>
        <p:spPr>
          <a:xfrm>
            <a:off x="4483037" y="1812938"/>
            <a:ext cx="5072126" cy="3276273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defRPr sz="2000" b="0" i="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 b="0" i="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 b="0" i="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 b="0" i="0">
                <a:solidFill>
                  <a:srgbClr val="000000"/>
                </a:solidFill>
                <a:latin typeface="Avenir Book"/>
                <a:cs typeface="Avenir Book"/>
              </a:defRPr>
            </a:lvl4pPr>
            <a:lvl5pPr marL="2166818" indent="0">
              <a:buNone/>
              <a:tabLst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Rectangle 14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1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445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6703268" y="1813575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6814597" y="1813561"/>
            <a:ext cx="2740568" cy="5128719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69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6814597" y="1813561"/>
            <a:ext cx="2740568" cy="5128719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876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3358467" y="1813575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503238" y="1813561"/>
            <a:ext cx="2740568" cy="5128719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3488963" y="1813560"/>
            <a:ext cx="6074159" cy="2877599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3488628" y="4814363"/>
            <a:ext cx="6074479" cy="2127916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75152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6703268" y="1813575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6814597" y="1813561"/>
            <a:ext cx="2740568" cy="5128719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503573" y="1813560"/>
            <a:ext cx="6074159" cy="2877599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503238" y="4814363"/>
            <a:ext cx="6074479" cy="2127916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626858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3363331" y="1813575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503238" y="1813561"/>
            <a:ext cx="2740568" cy="5128719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3481018" y="1813560"/>
            <a:ext cx="6074159" cy="2877599"/>
          </a:xfrm>
          <a:prstGeom prst="rect">
            <a:avLst/>
          </a:prstGeom>
        </p:spPr>
        <p:txBody>
          <a:bodyPr lIns="91308" tIns="45652" rIns="91308" bIns="45652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3480684" y="4814363"/>
            <a:ext cx="6074479" cy="2127916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973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 userDrawn="1"/>
        </p:nvCxnSpPr>
        <p:spPr>
          <a:xfrm>
            <a:off x="3363331" y="1813575"/>
            <a:ext cx="0" cy="5129425"/>
          </a:xfrm>
          <a:prstGeom prst="line">
            <a:avLst/>
          </a:prstGeom>
          <a:ln w="12700" cmpd="sng">
            <a:solidFill>
              <a:schemeClr val="bg1">
                <a:lumMod val="6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503238" y="1813561"/>
            <a:ext cx="2740568" cy="5128719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6758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503238" y="1813561"/>
            <a:ext cx="2740568" cy="5128719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Rectangle 8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911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 flipV="1">
            <a:off x="590012" y="779616"/>
            <a:ext cx="7314555" cy="45719"/>
          </a:xfrm>
          <a:prstGeom prst="rect">
            <a:avLst/>
          </a:prstGeom>
          <a:solidFill>
            <a:srgbClr val="BAA2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216488"/>
            <a:ext cx="7401632" cy="563131"/>
          </a:xfrm>
          <a:prstGeom prst="rect">
            <a:avLst/>
          </a:prstGeom>
        </p:spPr>
        <p:txBody>
          <a:bodyPr lIns="91308" tIns="45652" rIns="91308" bIns="45652"/>
          <a:lstStyle>
            <a:lvl1pPr>
              <a:lnSpc>
                <a:spcPct val="130000"/>
              </a:lnSpc>
              <a:defRPr sz="2500">
                <a:latin typeface="Avenir Black"/>
                <a:cs typeface="Avenir Black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825500"/>
            <a:ext cx="7400925" cy="444500"/>
          </a:xfrm>
          <a:prstGeom prst="rect">
            <a:avLst/>
          </a:prstGeom>
        </p:spPr>
        <p:txBody>
          <a:bodyPr vert="horz" lIns="91308" tIns="45652" rIns="91308" bIns="45652"/>
          <a:lstStyle>
            <a:lvl1pPr marL="0" indent="0">
              <a:buNone/>
              <a:defRPr sz="1800" b="1" kern="0" cap="all" spc="120">
                <a:solidFill>
                  <a:srgbClr val="08436E"/>
                </a:solidFill>
                <a:latin typeface="Avenir Medium"/>
                <a:cs typeface="Avenir Medium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4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503238" y="1813561"/>
            <a:ext cx="9061837" cy="5128719"/>
          </a:xfrm>
          <a:prstGeom prst="rect">
            <a:avLst/>
          </a:prstGeom>
        </p:spPr>
        <p:txBody>
          <a:bodyPr vert="horz" lIns="91308" tIns="45652" rIns="91308" bIns="45652"/>
          <a:lstStyle>
            <a:lvl1pPr>
              <a:defRPr sz="2000">
                <a:solidFill>
                  <a:srgbClr val="000000"/>
                </a:solidFill>
                <a:latin typeface="Avenir Book"/>
                <a:cs typeface="Avenir Book"/>
              </a:defRPr>
            </a:lvl1pPr>
            <a:lvl2pPr>
              <a:defRPr sz="1800">
                <a:solidFill>
                  <a:srgbClr val="000000"/>
                </a:solidFill>
                <a:latin typeface="Avenir Book"/>
                <a:cs typeface="Avenir Book"/>
              </a:defRPr>
            </a:lvl2pPr>
            <a:lvl3pPr>
              <a:defRPr sz="1600">
                <a:solidFill>
                  <a:srgbClr val="000000"/>
                </a:solidFill>
                <a:latin typeface="Avenir Book"/>
                <a:cs typeface="Avenir Book"/>
              </a:defRPr>
            </a:lvl3pPr>
            <a:lvl4pPr>
              <a:defRPr sz="1400">
                <a:solidFill>
                  <a:srgbClr val="000000"/>
                </a:solidFill>
                <a:latin typeface="Avenir Book"/>
                <a:cs typeface="Avenir Book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55047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2"/>
          <p:cNvSpPr>
            <a:spLocks noGrp="1"/>
          </p:cNvSpPr>
          <p:nvPr>
            <p:ph type="body" sz="quarter" idx="19"/>
          </p:nvPr>
        </p:nvSpPr>
        <p:spPr>
          <a:xfrm>
            <a:off x="503238" y="1813561"/>
            <a:ext cx="2740568" cy="5128719"/>
          </a:xfrm>
          <a:prstGeom prst="rect">
            <a:avLst/>
          </a:prstGeom>
        </p:spPr>
        <p:txBody>
          <a:bodyPr vert="horz" lIns="91298" tIns="45647" rIns="91298" bIns="45647"/>
          <a:lstStyle>
            <a:lvl1pPr>
              <a:defRPr sz="2000">
                <a:solidFill>
                  <a:srgbClr val="000000"/>
                </a:solidFill>
                <a:latin typeface="Verdana"/>
                <a:cs typeface="Verdana"/>
              </a:defRPr>
            </a:lvl1pPr>
            <a:lvl2pPr>
              <a:defRPr sz="1800">
                <a:solidFill>
                  <a:srgbClr val="000000"/>
                </a:solidFill>
                <a:latin typeface="Verdana"/>
                <a:cs typeface="Verdana"/>
              </a:defRPr>
            </a:lvl2pPr>
            <a:lvl3pPr>
              <a:defRPr sz="1600">
                <a:solidFill>
                  <a:srgbClr val="000000"/>
                </a:solidFill>
                <a:latin typeface="Verdana"/>
                <a:cs typeface="Verdana"/>
              </a:defRPr>
            </a:lvl3pPr>
            <a:lvl4pPr>
              <a:defRPr sz="1400">
                <a:solidFill>
                  <a:srgbClr val="000000"/>
                </a:solidFill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02920" y="760046"/>
            <a:ext cx="7401632" cy="563131"/>
          </a:xfrm>
          <a:prstGeom prst="rect">
            <a:avLst/>
          </a:prstGeom>
        </p:spPr>
        <p:txBody>
          <a:bodyPr lIns="91298" tIns="45647" rIns="91298" bIns="45647"/>
          <a:lstStyle>
            <a:lvl1pPr>
              <a:lnSpc>
                <a:spcPct val="130000"/>
              </a:lnSpc>
              <a:defRPr sz="2500" spc="0">
                <a:latin typeface="Verdana"/>
                <a:cs typeface="Verdana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0"/>
          </p:nvPr>
        </p:nvSpPr>
        <p:spPr>
          <a:xfrm>
            <a:off x="503238" y="1369060"/>
            <a:ext cx="7400925" cy="444500"/>
          </a:xfrm>
          <a:prstGeom prst="rect">
            <a:avLst/>
          </a:prstGeom>
        </p:spPr>
        <p:txBody>
          <a:bodyPr vert="horz" lIns="91298" tIns="45647" rIns="91298" bIns="45647"/>
          <a:lstStyle>
            <a:lvl1pPr marL="0" indent="0">
              <a:buNone/>
              <a:defRPr sz="1800" b="1" kern="0" cap="all" spc="0">
                <a:solidFill>
                  <a:srgbClr val="08436E"/>
                </a:solidFill>
                <a:latin typeface="Verdana"/>
                <a:cs typeface="Verdana"/>
              </a:defRPr>
            </a:lvl1pPr>
            <a:lvl2pPr>
              <a:defRPr sz="1800" b="1">
                <a:solidFill>
                  <a:srgbClr val="08436E"/>
                </a:solidFill>
              </a:defRPr>
            </a:lvl2pPr>
            <a:lvl3pPr>
              <a:defRPr sz="1600" b="1">
                <a:solidFill>
                  <a:srgbClr val="08436E"/>
                </a:solidFill>
              </a:defRPr>
            </a:lvl3pPr>
            <a:lvl4pPr>
              <a:defRPr sz="1400" b="1">
                <a:solidFill>
                  <a:srgbClr val="08436E"/>
                </a:solidFill>
              </a:defRPr>
            </a:lvl4pPr>
            <a:lvl5pPr>
              <a:defRPr sz="1600" b="1">
                <a:solidFill>
                  <a:srgbClr val="08436E"/>
                </a:solidFill>
              </a:defRPr>
            </a:lvl5pPr>
          </a:lstStyle>
          <a:p>
            <a:pPr lvl="0"/>
            <a:endParaRPr lang="en-US" dirty="0"/>
          </a:p>
        </p:txBody>
      </p:sp>
      <p:sp>
        <p:nvSpPr>
          <p:cNvPr id="12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3481019" y="1813560"/>
            <a:ext cx="6074159" cy="2877599"/>
          </a:xfrm>
          <a:prstGeom prst="rect">
            <a:avLst/>
          </a:prstGeom>
        </p:spPr>
        <p:txBody>
          <a:bodyPr lIns="91298" tIns="45647" rIns="91298" bIns="45647" anchor="ctr"/>
          <a:lstStyle>
            <a:lvl1pPr marL="0" indent="0" algn="ctr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Text Placeholder 32"/>
          <p:cNvSpPr>
            <a:spLocks noGrp="1"/>
          </p:cNvSpPr>
          <p:nvPr>
            <p:ph type="body" sz="quarter" idx="21"/>
          </p:nvPr>
        </p:nvSpPr>
        <p:spPr>
          <a:xfrm>
            <a:off x="3480684" y="4814363"/>
            <a:ext cx="6074479" cy="2127916"/>
          </a:xfrm>
          <a:prstGeom prst="rect">
            <a:avLst/>
          </a:prstGeom>
        </p:spPr>
        <p:txBody>
          <a:bodyPr vert="horz" lIns="91298" tIns="45647" rIns="91298" bIns="45647"/>
          <a:lstStyle>
            <a:lvl1pPr>
              <a:defRPr sz="2000">
                <a:solidFill>
                  <a:srgbClr val="000000"/>
                </a:solidFill>
                <a:latin typeface="Verdana"/>
                <a:cs typeface="Verdana"/>
              </a:defRPr>
            </a:lvl1pPr>
            <a:lvl2pPr>
              <a:defRPr sz="1800">
                <a:solidFill>
                  <a:srgbClr val="000000"/>
                </a:solidFill>
                <a:latin typeface="Verdana"/>
                <a:cs typeface="Verdana"/>
              </a:defRPr>
            </a:lvl2pPr>
            <a:lvl3pPr>
              <a:defRPr sz="1600">
                <a:solidFill>
                  <a:srgbClr val="000000"/>
                </a:solidFill>
                <a:latin typeface="Verdana"/>
                <a:cs typeface="Verdana"/>
              </a:defRPr>
            </a:lvl3pPr>
            <a:lvl4pPr>
              <a:defRPr sz="1400">
                <a:solidFill>
                  <a:srgbClr val="000000"/>
                </a:solidFill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275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" y="7352227"/>
            <a:ext cx="10058401" cy="428278"/>
          </a:xfrm>
          <a:prstGeom prst="rect">
            <a:avLst/>
          </a:prstGeom>
          <a:solidFill>
            <a:srgbClr val="084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 b="1">
              <a:ln>
                <a:noFill/>
              </a:ln>
              <a:latin typeface="Arial"/>
              <a:cs typeface="Arial"/>
            </a:endParaRPr>
          </a:p>
        </p:txBody>
      </p:sp>
      <p:sp>
        <p:nvSpPr>
          <p:cNvPr id="9" name="Rectangle 8"/>
          <p:cNvSpPr/>
          <p:nvPr userDrawn="1"/>
        </p:nvSpPr>
        <p:spPr>
          <a:xfrm flipV="1">
            <a:off x="-1" y="7328691"/>
            <a:ext cx="10058401" cy="45720"/>
          </a:xfrm>
          <a:prstGeom prst="rect">
            <a:avLst/>
          </a:prstGeom>
          <a:solidFill>
            <a:srgbClr val="1183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08" tIns="45652" rIns="91308" bIns="45652" rtlCol="0" anchor="ctr"/>
          <a:lstStyle/>
          <a:p>
            <a:pPr algn="ctr"/>
            <a:endParaRPr lang="en-US">
              <a:ln>
                <a:noFill/>
              </a:ln>
              <a:solidFill>
                <a:srgbClr val="1183CC"/>
              </a:solidFill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5222327" y="7448956"/>
            <a:ext cx="4381149" cy="250874"/>
          </a:xfrm>
          <a:prstGeom prst="rect">
            <a:avLst/>
          </a:prstGeom>
          <a:noFill/>
        </p:spPr>
        <p:txBody>
          <a:bodyPr wrap="square" lIns="91308" tIns="45652" rIns="91308" bIns="45652" rtlCol="0" anchor="ctr">
            <a:spAutoFit/>
          </a:bodyPr>
          <a:lstStyle/>
          <a:p>
            <a:pPr algn="r"/>
            <a:r>
              <a:rPr lang="en-US" sz="1000" b="1" kern="0" cap="all" spc="120" dirty="0">
                <a:solidFill>
                  <a:srgbClr val="1183CC"/>
                </a:solidFill>
                <a:latin typeface="Avenir Black"/>
                <a:cs typeface="Avenir Black"/>
              </a:rPr>
              <a:t>The George Washington University</a:t>
            </a:r>
          </a:p>
        </p:txBody>
      </p:sp>
      <p:pic>
        <p:nvPicPr>
          <p:cNvPr id="6" name="Picture 5" descr="gw_txt_4cp_pos.eps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3752" y="216490"/>
            <a:ext cx="1092201" cy="83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93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  <p:sldLayoutId id="2147483658" r:id="rId5"/>
    <p:sldLayoutId id="2147483652" r:id="rId6"/>
    <p:sldLayoutId id="2147483663" r:id="rId7"/>
    <p:sldLayoutId id="2147483656" r:id="rId8"/>
    <p:sldLayoutId id="2147483654" r:id="rId9"/>
    <p:sldLayoutId id="2147483655" r:id="rId10"/>
    <p:sldLayoutId id="2147483664" r:id="rId11"/>
    <p:sldLayoutId id="2147483657" r:id="rId12"/>
    <p:sldLayoutId id="2147483661" r:id="rId13"/>
    <p:sldLayoutId id="2147483719" r:id="rId14"/>
  </p:sldLayoutIdLst>
  <p:hf hdr="0" ftr="0" dt="0"/>
  <p:txStyles>
    <p:titleStyle>
      <a:lvl1pPr algn="l" defTabSz="508639" rtl="0" eaLnBrk="1" latinLnBrk="0" hangingPunct="1">
        <a:spcBef>
          <a:spcPct val="0"/>
        </a:spcBef>
        <a:buNone/>
        <a:defRPr sz="2800" b="1" i="0" kern="0" cap="all" spc="120" baseline="0">
          <a:solidFill>
            <a:srgbClr val="08436E"/>
          </a:solidFill>
          <a:latin typeface="AvenirNext LT Pro Bold"/>
          <a:ea typeface="+mj-ea"/>
          <a:cs typeface="AvenirNext LT Pro Bold"/>
        </a:defRPr>
      </a:lvl1pPr>
    </p:titleStyle>
    <p:bodyStyle>
      <a:lvl1pPr marL="226666" indent="-226666" algn="l" defTabSz="508639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6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1pPr>
      <a:lvl2pPr marL="454919" indent="-228253" algn="l" defTabSz="508639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tabLst/>
        <a:defRPr sz="14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2pPr>
      <a:lvl3pPr marL="624526" indent="-169605" algn="l" defTabSz="508639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2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3pPr>
      <a:lvl4pPr marL="794133" indent="-169605" algn="l" defTabSz="508639" rtl="0" eaLnBrk="1" latinLnBrk="0" hangingPunct="1">
        <a:spcBef>
          <a:spcPct val="20000"/>
        </a:spcBef>
        <a:buClr>
          <a:srgbClr val="BAA278"/>
        </a:buClr>
        <a:buFont typeface="Lucida Grande"/>
        <a:buChar char="▸"/>
        <a:defRPr sz="11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4pPr>
      <a:lvl5pPr marL="1542291" indent="-169605" algn="r" defTabSz="508639" rtl="0" eaLnBrk="1" latinLnBrk="0" hangingPunct="1">
        <a:spcBef>
          <a:spcPct val="20000"/>
        </a:spcBef>
        <a:buFont typeface="Arial"/>
        <a:buChar char="•"/>
        <a:tabLst/>
        <a:defRPr sz="1200" kern="1200">
          <a:solidFill>
            <a:schemeClr val="tx1">
              <a:lumMod val="65000"/>
              <a:lumOff val="35000"/>
            </a:schemeClr>
          </a:solidFill>
          <a:latin typeface="Arial"/>
          <a:ea typeface="+mn-ea"/>
          <a:cs typeface="Arial"/>
        </a:defRPr>
      </a:lvl5pPr>
      <a:lvl6pPr marL="2797512" indent="-254322" algn="l" defTabSz="508639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06151" indent="-254322" algn="l" defTabSz="508639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14788" indent="-254322" algn="l" defTabSz="508639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23424" indent="-254322" algn="l" defTabSz="508639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8639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7276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5916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4553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194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1829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0470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9106" algn="l" defTabSz="508639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2943799"/>
            <a:ext cx="8562376" cy="1136725"/>
          </a:xfrm>
        </p:spPr>
        <p:txBody>
          <a:bodyPr anchor="b"/>
          <a:lstStyle/>
          <a:p>
            <a:pPr algn="ctr"/>
            <a:r>
              <a:rPr lang="en-US" dirty="0"/>
              <a:t>Verifying cyber-physical systems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kern="0" cap="all" spc="120" dirty="0">
                <a:solidFill>
                  <a:srgbClr val="08436E"/>
                </a:solidFill>
                <a:latin typeface="Avenir Black"/>
                <a:ea typeface="+mj-ea"/>
              </a:rPr>
              <a:t>chapter 4 - 5</a:t>
            </a:r>
            <a:endParaRPr lang="en-US" sz="1200" dirty="0">
              <a:solidFill>
                <a:srgbClr val="08436E"/>
              </a:solidFill>
            </a:endParaRPr>
          </a:p>
          <a:p>
            <a:pPr algn="ctr"/>
            <a:endParaRPr lang="en-US" dirty="0">
              <a:solidFill>
                <a:srgbClr val="08436E"/>
              </a:solidFill>
            </a:endParaRPr>
          </a:p>
          <a:p>
            <a:pPr algn="ctr"/>
            <a:r>
              <a:rPr lang="en-US" dirty="0">
                <a:solidFill>
                  <a:srgbClr val="08436E"/>
                </a:solidFill>
              </a:rPr>
              <a:t>Abenezer Taye</a:t>
            </a:r>
          </a:p>
          <a:p>
            <a:pPr algn="ctr"/>
            <a:r>
              <a:rPr lang="en-US" dirty="0">
                <a:solidFill>
                  <a:srgbClr val="08436E"/>
                </a:solidFill>
              </a:rPr>
              <a:t>Graduate Research Assistant @ IASL</a:t>
            </a:r>
          </a:p>
          <a:p>
            <a:pPr algn="ctr"/>
            <a:endParaRPr lang="en-US" dirty="0">
              <a:solidFill>
                <a:srgbClr val="08436E"/>
              </a:solidFill>
            </a:endParaRPr>
          </a:p>
          <a:p>
            <a:pPr algn="ctr"/>
            <a:r>
              <a:rPr lang="en-US" dirty="0">
                <a:solidFill>
                  <a:srgbClr val="08436E"/>
                </a:solidFill>
              </a:rPr>
              <a:t>Date: Mar 23, 2022</a:t>
            </a:r>
          </a:p>
        </p:txBody>
      </p:sp>
    </p:spTree>
    <p:extLst>
      <p:ext uri="{BB962C8B-B14F-4D97-AF65-F5344CB8AC3E}">
        <p14:creationId xmlns:p14="http://schemas.microsoft.com/office/powerpoint/2010/main" val="1849152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DB9BF8-F0AF-9D46-9CCA-4C06D5D9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7655"/>
            <a:ext cx="5225527" cy="2177089"/>
          </a:xfrm>
        </p:spPr>
        <p:txBody>
          <a:bodyPr/>
          <a:lstStyle/>
          <a:p>
            <a:pPr algn="ctr"/>
            <a:r>
              <a:rPr lang="en-US" dirty="0"/>
              <a:t>Chapter 4: 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Modeling Cyber-Physical Systems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2" descr="Verifying Cyber-Physical Systems | The MIT Press">
            <a:extLst>
              <a:ext uri="{FF2B5EF4-FFF2-40B4-BE49-F238E27FC236}">
                <a16:creationId xmlns:a16="http://schemas.microsoft.com/office/drawing/2014/main" id="{26D65358-EBE9-8A4D-90C7-3955B63E2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237130"/>
            <a:ext cx="4544403" cy="579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663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D66C2-A4B8-8F4D-86EF-9EEB06782F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1571" y="1914719"/>
            <a:ext cx="3815311" cy="4096116"/>
          </a:xfrm>
        </p:spPr>
        <p:txBody>
          <a:bodyPr/>
          <a:lstStyle/>
          <a:p>
            <a:r>
              <a:rPr lang="en-US" sz="1800" b="1" dirty="0"/>
              <a:t>Cyber Physical System (CPS): </a:t>
            </a:r>
            <a:r>
              <a:rPr lang="en-US" sz="1800" dirty="0"/>
              <a:t>physical</a:t>
            </a:r>
            <a:r>
              <a:rPr lang="en-US" sz="1800" b="1" dirty="0"/>
              <a:t> </a:t>
            </a:r>
            <a:r>
              <a:rPr lang="en-US" sz="1800" dirty="0"/>
              <a:t>systems that are controlled by computer</a:t>
            </a:r>
          </a:p>
          <a:p>
            <a:endParaRPr lang="en-US" sz="1800" dirty="0"/>
          </a:p>
          <a:p>
            <a:r>
              <a:rPr lang="en-US" sz="1800" b="1" dirty="0"/>
              <a:t>Physical system modeling: </a:t>
            </a:r>
            <a:r>
              <a:rPr lang="en-US" sz="1800" dirty="0"/>
              <a:t>ordinary differential equations (ODE)</a:t>
            </a:r>
          </a:p>
          <a:p>
            <a:endParaRPr lang="en-US" sz="1800" dirty="0"/>
          </a:p>
          <a:p>
            <a:r>
              <a:rPr lang="en-US" sz="1800" b="1" dirty="0"/>
              <a:t>Computer operation: </a:t>
            </a:r>
            <a:r>
              <a:rPr lang="en-US" sz="1800" dirty="0"/>
              <a:t>Automata</a:t>
            </a:r>
          </a:p>
          <a:p>
            <a:endParaRPr lang="en-US" sz="1800" dirty="0"/>
          </a:p>
          <a:p>
            <a:r>
              <a:rPr lang="en-US" sz="1800" b="1" dirty="0"/>
              <a:t>CPS</a:t>
            </a:r>
            <a:r>
              <a:rPr lang="en-US" sz="1800" dirty="0"/>
              <a:t>: ODE + Automata (Hybrid Automata) </a:t>
            </a:r>
          </a:p>
          <a:p>
            <a:endParaRPr lang="en-US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74" y="461578"/>
            <a:ext cx="7401632" cy="563131"/>
          </a:xfrm>
        </p:spPr>
        <p:txBody>
          <a:bodyPr/>
          <a:lstStyle/>
          <a:p>
            <a:pPr algn="ctr"/>
            <a:r>
              <a:rPr lang="en-US" sz="2000" dirty="0"/>
              <a:t>Introduction</a:t>
            </a:r>
          </a:p>
        </p:txBody>
      </p:sp>
      <p:pic>
        <p:nvPicPr>
          <p:cNvPr id="15" name="Picture 2" descr="Cps Conceptual Abstract Image Visual Stock Photo - Download Image Now -  iStock">
            <a:extLst>
              <a:ext uri="{FF2B5EF4-FFF2-40B4-BE49-F238E27FC236}">
                <a16:creationId xmlns:a16="http://schemas.microsoft.com/office/drawing/2014/main" id="{23026174-555A-1B47-8FEA-53DB1CB42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933" y="1914719"/>
            <a:ext cx="5439821" cy="4239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386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D66C2-A4B8-8F4D-86EF-9EEB06782F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6468" y="1242366"/>
            <a:ext cx="9745464" cy="409611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Why study HA?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When the two modeling paradigms collide </a:t>
            </a:r>
            <a:r>
              <a:rPr lang="en-US" dirty="0">
                <a:sym typeface="Wingdings" pitchFamily="2" charset="2"/>
              </a:rPr>
              <a:t> strange behavior occurs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sym typeface="Wingdings" pitchFamily="2" charset="2"/>
              </a:rPr>
              <a:t>It is possible for a HA to perform infinitely many transitions in finite time </a:t>
            </a:r>
          </a:p>
          <a:p>
            <a:pPr lvl="2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>
                <a:sym typeface="Wingdings" pitchFamily="2" charset="2"/>
              </a:rPr>
              <a:t>It is possible for a HA to become unstable even though its ODEs are stable   </a:t>
            </a:r>
            <a:endParaRPr lang="en-US" dirty="0"/>
          </a:p>
          <a:p>
            <a:endParaRPr lang="en-US" sz="1800" dirty="0"/>
          </a:p>
          <a:p>
            <a:r>
              <a:rPr lang="en-US" sz="1800" dirty="0"/>
              <a:t>Example: Rimless wheel </a:t>
            </a:r>
          </a:p>
          <a:p>
            <a:r>
              <a:rPr lang="en-US" sz="1800" dirty="0"/>
              <a:t>State change</a:t>
            </a:r>
          </a:p>
          <a:p>
            <a:pPr lvl="1"/>
            <a:r>
              <a:rPr lang="en-US" sz="1600" b="1" dirty="0"/>
              <a:t>Instantaneously</a:t>
            </a:r>
            <a:r>
              <a:rPr lang="en-US" sz="1600" dirty="0"/>
              <a:t> </a:t>
            </a:r>
            <a:r>
              <a:rPr lang="en-US" sz="1600" dirty="0">
                <a:sym typeface="Wingdings" pitchFamily="2" charset="2"/>
              </a:rPr>
              <a:t> during impact  &amp;  </a:t>
            </a:r>
            <a:r>
              <a:rPr lang="en-US" sz="1600" b="1" dirty="0">
                <a:sym typeface="Wingdings" pitchFamily="2" charset="2"/>
              </a:rPr>
              <a:t>Continuously</a:t>
            </a:r>
            <a:r>
              <a:rPr lang="en-US" sz="1600" dirty="0">
                <a:sym typeface="Wingdings" pitchFamily="2" charset="2"/>
              </a:rPr>
              <a:t>  over an interval of time </a:t>
            </a:r>
          </a:p>
          <a:p>
            <a:pPr marL="226666" lvl="1" indent="0">
              <a:buNone/>
            </a:pPr>
            <a:r>
              <a:rPr lang="en-US" sz="1600" dirty="0">
                <a:sym typeface="Wingdings" pitchFamily="2" charset="2"/>
              </a:rPr>
              <a:t> </a:t>
            </a:r>
            <a:endParaRPr lang="en-US" sz="1600" dirty="0"/>
          </a:p>
          <a:p>
            <a:pPr lvl="1"/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74" y="461578"/>
            <a:ext cx="7401632" cy="563131"/>
          </a:xfrm>
        </p:spPr>
        <p:txBody>
          <a:bodyPr/>
          <a:lstStyle/>
          <a:p>
            <a:pPr algn="ctr"/>
            <a:r>
              <a:rPr lang="en-US" sz="2000" dirty="0"/>
              <a:t>Hybrid automata (HA)</a:t>
            </a:r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5B79EE11-8EF6-5143-A2EC-DA931AD03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4570478"/>
            <a:ext cx="5577840" cy="261461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496937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D66C2-A4B8-8F4D-86EF-9EEB06782F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2936" y="1432481"/>
            <a:ext cx="9745464" cy="261508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/>
              <a:t>Actions: </a:t>
            </a:r>
            <a:r>
              <a:rPr lang="en-US" sz="1800" dirty="0"/>
              <a:t>lists the actions of the automaton (only </a:t>
            </a:r>
            <a:r>
              <a:rPr lang="en-US" sz="1800" b="1" dirty="0"/>
              <a:t>impact</a:t>
            </a:r>
            <a:r>
              <a:rPr lang="en-US" sz="1800" dirty="0"/>
              <a:t> in this case)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Variables: </a:t>
            </a:r>
            <a:r>
              <a:rPr lang="en-US" sz="1800" dirty="0"/>
              <a:t>lists the state variables with their initial conditions 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Transitions: </a:t>
            </a:r>
            <a:r>
              <a:rPr lang="en-US" sz="1800" dirty="0"/>
              <a:t>describes how discrete variables change 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Trajectories: </a:t>
            </a:r>
            <a:r>
              <a:rPr lang="en-US" sz="1800" dirty="0"/>
              <a:t>describes how continuous variables change  </a:t>
            </a:r>
          </a:p>
          <a:p>
            <a:pPr>
              <a:lnSpc>
                <a:spcPct val="150000"/>
              </a:lnSpc>
            </a:pPr>
            <a:endParaRPr lang="en-US" sz="1800" b="1" dirty="0"/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74" y="461578"/>
            <a:ext cx="7401632" cy="563131"/>
          </a:xfrm>
        </p:spPr>
        <p:txBody>
          <a:bodyPr/>
          <a:lstStyle/>
          <a:p>
            <a:pPr algn="ctr"/>
            <a:r>
              <a:rPr lang="en-US" sz="2000" dirty="0"/>
              <a:t>Language for specifying hybrid systems</a:t>
            </a:r>
          </a:p>
        </p:txBody>
      </p:sp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B5D050A-5A30-B242-8508-CF2C6CD066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2" t="3724" r="2030" b="4644"/>
          <a:stretch/>
        </p:blipFill>
        <p:spPr>
          <a:xfrm>
            <a:off x="1760220" y="3726179"/>
            <a:ext cx="6812280" cy="3234691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70654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632330"/>
                <a:ext cx="9745464" cy="409611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An HA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is a tuple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𝒟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𝒯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where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is a set of variables called the state variables. The set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𝑣𝑎𝑙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of valuations of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is the set of states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Θ</m:t>
                    </m:r>
                    <m: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⊆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𝑣𝑎𝑙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is a nonempty set of start states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is a set of actions or transition labels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𝒟</m:t>
                    </m:r>
                    <m: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⊆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𝑣𝑎𝑙</m:t>
                    </m:r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𝑉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×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𝑣𝑎𝑙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)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is called the set of transitions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𝒯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is a set of trajectories for the variables in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𝑉</m:t>
                    </m:r>
                  </m:oMath>
                </a14:m>
                <a:endParaRPr lang="en-US" sz="1600" dirty="0"/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dirty="0"/>
                  <a:t>An HA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is a deterministic HA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>
                    <a:sym typeface="Wingdings" pitchFamily="2" charset="2"/>
                  </a:rPr>
                  <a:t>If the initial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Θ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is a singleton set (a set with only value for one element) and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>
                    <a:sym typeface="Wingdings" pitchFamily="2" charset="2"/>
                  </a:rPr>
                  <a:t>There is a single trajectory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∈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𝒯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of non-zero duration with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𝜏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.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𝑓𝑠𝑡𝑎𝑡𝑒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𝑣</m:t>
                    </m:r>
                  </m:oMath>
                </a14:m>
                <a:r>
                  <a:rPr lang="en-US" sz="1600" dirty="0">
                    <a:sym typeface="Wingdings" pitchFamily="2" charset="2"/>
                  </a:rPr>
                  <a:t>  </a:t>
                </a:r>
                <a:endParaRPr lang="en-US" sz="1300" dirty="0"/>
              </a:p>
              <a:p>
                <a:pPr marL="341313" indent="-342900">
                  <a:lnSpc>
                    <a:spcPct val="150000"/>
                  </a:lnSpc>
                </a:pPr>
                <a:endParaRPr lang="en-US" sz="1800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632330"/>
                <a:ext cx="9745464" cy="4096116"/>
              </a:xfrm>
              <a:blipFill>
                <a:blip r:embed="rId2"/>
                <a:stretch>
                  <a:fillRect l="-651" b="-16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174" y="461578"/>
            <a:ext cx="7401632" cy="563131"/>
          </a:xfrm>
        </p:spPr>
        <p:txBody>
          <a:bodyPr/>
          <a:lstStyle/>
          <a:p>
            <a:pPr algn="ctr"/>
            <a:r>
              <a:rPr lang="en-US" sz="2000" dirty="0"/>
              <a:t>Hybrid automata (HA)</a:t>
            </a:r>
          </a:p>
        </p:txBody>
      </p:sp>
    </p:spTree>
    <p:extLst>
      <p:ext uri="{BB962C8B-B14F-4D97-AF65-F5344CB8AC3E}">
        <p14:creationId xmlns:p14="http://schemas.microsoft.com/office/powerpoint/2010/main" val="404854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632330"/>
                <a:ext cx="9745464" cy="4096116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It is an alternative formalism for describing cyber physical systems</a:t>
                </a:r>
                <a:endParaRPr lang="en-US" sz="1800" dirty="0">
                  <a:sym typeface="Wingdings" pitchFamily="2" charset="2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>
                    <a:sym typeface="Wingdings" pitchFamily="2" charset="2"/>
                  </a:rPr>
                  <a:t>Describes the system using a set of ODEs  one for each mode</a:t>
                </a:r>
              </a:p>
              <a:p>
                <a:pPr marL="226666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𝑎𝑛𝑑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ℕ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𝑚𝑜𝑑𝑒𝑠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226666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𝑠𝑤𝑖𝑡h𝑖𝑛𝑔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𝑠𝑖𝑔𝑛𝑎𝑙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632330"/>
                <a:ext cx="9745464" cy="4096116"/>
              </a:xfrm>
              <a:blipFill>
                <a:blip r:embed="rId2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Special classes of Hybrid automata (HA)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D59B-C408-344A-9409-13C8A112D6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936" y="1106269"/>
            <a:ext cx="7400925" cy="444500"/>
          </a:xfrm>
        </p:spPr>
        <p:txBody>
          <a:bodyPr/>
          <a:lstStyle/>
          <a:p>
            <a:r>
              <a:rPr lang="en-US" dirty="0"/>
              <a:t>Switched systems</a:t>
            </a:r>
          </a:p>
        </p:txBody>
      </p:sp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BCEF989F-668E-444C-BD42-3D73AF0629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38" t="5557" r="1743" b="3922"/>
          <a:stretch/>
        </p:blipFill>
        <p:spPr>
          <a:xfrm>
            <a:off x="1579403" y="3669030"/>
            <a:ext cx="7255988" cy="325755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64119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03380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A </a:t>
                </a:r>
                <a:r>
                  <a:rPr lang="en-US" b="1" i="1" dirty="0"/>
                  <a:t>rectangular inclusion </a:t>
                </a:r>
                <a:r>
                  <a:rPr lang="en-US" dirty="0"/>
                  <a:t>for a real-valued variable x is specified as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Where the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0" dirty="0">
                    <a:ea typeface="Cambria Math" panose="02040503050406030204" pitchFamily="18" charset="0"/>
                  </a:rPr>
                  <a:t>Rectangular HA is a </a:t>
                </a:r>
                <a:r>
                  <a:rPr lang="en-US" dirty="0">
                    <a:ea typeface="Cambria Math" panose="02040503050406030204" pitchFamily="18" charset="0"/>
                  </a:rPr>
                  <a:t>HA in which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b="0" dirty="0">
                    <a:ea typeface="Cambria Math" panose="02040503050406030204" pitchFamily="18" charset="0"/>
                  </a:rPr>
                  <a:t>The evolution of each continuous variable x in each mode m is specified by </a:t>
                </a:r>
                <a:r>
                  <a:rPr lang="en-US" b="1" i="1" dirty="0">
                    <a:ea typeface="Cambria Math" panose="02040503050406030204" pitchFamily="18" charset="0"/>
                  </a:rPr>
                  <a:t>rectangular inclusion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b="0" dirty="0">
                    <a:ea typeface="Cambria Math" panose="02040503050406030204" pitchFamily="18" charset="0"/>
                  </a:rPr>
                  <a:t>The preconditions and the set of initial states are </a:t>
                </a:r>
                <a:r>
                  <a:rPr lang="en-US" b="1" i="1" dirty="0">
                    <a:ea typeface="Cambria Math" panose="02040503050406030204" pitchFamily="18" charset="0"/>
                  </a:rPr>
                  <a:t>rectangles</a:t>
                </a:r>
                <a:r>
                  <a:rPr lang="en-US" b="0" dirty="0">
                    <a:ea typeface="Cambria Math" panose="02040503050406030204" pitchFamily="18" charset="0"/>
                  </a:rPr>
                  <a:t>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dirty="0">
                    <a:ea typeface="Cambria Math" panose="02040503050406030204" pitchFamily="18" charset="0"/>
                  </a:rPr>
                  <a:t>The effects are either </a:t>
                </a:r>
                <a:r>
                  <a:rPr lang="en-US" b="1" i="1" dirty="0">
                    <a:ea typeface="Cambria Math" panose="02040503050406030204" pitchFamily="18" charset="0"/>
                  </a:rPr>
                  <a:t>identity maps </a:t>
                </a:r>
                <a:r>
                  <a:rPr lang="en-US" dirty="0">
                    <a:ea typeface="Cambria Math" panose="02040503050406030204" pitchFamily="18" charset="0"/>
                  </a:rPr>
                  <a:t>or </a:t>
                </a:r>
                <a:r>
                  <a:rPr lang="en-US" b="1" i="1" dirty="0">
                    <a:ea typeface="Cambria Math" panose="02040503050406030204" pitchFamily="18" charset="0"/>
                  </a:rPr>
                  <a:t>assignments to rectangles 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033801"/>
              </a:xfrm>
              <a:blipFill>
                <a:blip r:embed="rId2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Special classes of Hybrid automata (HA)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D59B-C408-344A-9409-13C8A112D62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936" y="1106269"/>
            <a:ext cx="7400925" cy="444500"/>
          </a:xfrm>
        </p:spPr>
        <p:txBody>
          <a:bodyPr/>
          <a:lstStyle/>
          <a:p>
            <a:r>
              <a:rPr lang="en-US" dirty="0"/>
              <a:t>Rectangular hybrid automata (RHA)</a:t>
            </a:r>
          </a:p>
        </p:txBody>
      </p:sp>
    </p:spTree>
    <p:extLst>
      <p:ext uri="{BB962C8B-B14F-4D97-AF65-F5344CB8AC3E}">
        <p14:creationId xmlns:p14="http://schemas.microsoft.com/office/powerpoint/2010/main" val="966277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788968"/>
                <a:ext cx="9745464" cy="503380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b="1" dirty="0"/>
                  <a:t>Execution fragment: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/>
                  <a:t>an alternating, possibly infinite sequence of actions and trajectories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…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𝒯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;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groupChr>
                      <m:groupChrPr>
                        <m:chr m:val="→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groupCh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𝑠𝑡𝑎𝑡𝑒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𝑹𝒆𝒂𝒄𝒉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l-G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𝜣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i="1" dirty="0">
                    <a:ea typeface="Cambria Math" panose="02040503050406030204" pitchFamily="18" charset="0"/>
                  </a:rPr>
                  <a:t>:</a:t>
                </a:r>
                <a:r>
                  <a:rPr lang="en-US" dirty="0">
                    <a:ea typeface="Cambria Math" panose="02040503050406030204" pitchFamily="18" charset="0"/>
                  </a:rPr>
                  <a:t> the set of states reachable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in a maximum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steps and in a maximum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time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b="1" i="1" dirty="0">
                    <a:ea typeface="Cambria Math" panose="02040503050406030204" pitchFamily="18" charset="0"/>
                  </a:rPr>
                  <a:t>Invariant (S):</a:t>
                </a:r>
                <a:r>
                  <a:rPr lang="en-US" dirty="0">
                    <a:ea typeface="Cambria Math" panose="02040503050406030204" pitchFamily="18" charset="0"/>
                  </a:rPr>
                  <a:t> a set of states that contains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𝑅𝑒𝑎𝑐h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dirty="0">
                    <a:ea typeface="Cambria Math" panose="02040503050406030204" pitchFamily="18" charset="0"/>
                  </a:rPr>
                  <a:t>Stability (</a:t>
                </a:r>
                <a:r>
                  <a:rPr lang="en-US" b="1" i="1" dirty="0">
                    <a:ea typeface="Cambria Math" panose="02040503050406030204" pitchFamily="18" charset="0"/>
                  </a:rPr>
                  <a:t>globally uniformly asymptotically stable</a:t>
                </a:r>
                <a:r>
                  <a:rPr lang="en-US" dirty="0">
                    <a:ea typeface="Cambria Math" panose="02040503050406030204" pitchFamily="18" charset="0"/>
                  </a:rPr>
                  <a:t>)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dirty="0">
                    <a:ea typeface="Cambria Math" panose="02040503050406030204" pitchFamily="18" charset="0"/>
                  </a:rPr>
                  <a:t>if for any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&gt;0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and any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, there is a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such that for any execution fragment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,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 ∈</m:t>
                    </m:r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.  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788968"/>
                <a:ext cx="9745464" cy="5033801"/>
              </a:xfrm>
              <a:blipFill>
                <a:blip r:embed="rId2"/>
                <a:stretch>
                  <a:fillRect l="-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949631"/>
            <a:ext cx="7401632" cy="563131"/>
          </a:xfrm>
        </p:spPr>
        <p:txBody>
          <a:bodyPr/>
          <a:lstStyle/>
          <a:p>
            <a:r>
              <a:rPr lang="en-US" sz="2000" dirty="0"/>
              <a:t>Semantics for Hybrid systems</a:t>
            </a: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81F1B537-47C6-6C4E-9E7D-0E33D639F347}"/>
              </a:ext>
            </a:extLst>
          </p:cNvPr>
          <p:cNvSpPr txBox="1">
            <a:spLocks/>
          </p:cNvSpPr>
          <p:nvPr/>
        </p:nvSpPr>
        <p:spPr>
          <a:xfrm>
            <a:off x="312936" y="386500"/>
            <a:ext cx="7401632" cy="563131"/>
          </a:xfrm>
          <a:prstGeom prst="rect">
            <a:avLst/>
          </a:prstGeom>
        </p:spPr>
        <p:txBody>
          <a:bodyPr lIns="91298" tIns="45647" rIns="91298" bIns="45647"/>
          <a:lstStyle>
            <a:lvl1pPr algn="l" defTabSz="508639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2500" b="1" i="0" kern="0" cap="all" spc="0" baseline="0">
                <a:solidFill>
                  <a:srgbClr val="08436E"/>
                </a:solidFill>
                <a:latin typeface="Verdana"/>
                <a:ea typeface="+mj-ea"/>
                <a:cs typeface="Verdana"/>
              </a:defRPr>
            </a:lvl1pPr>
          </a:lstStyle>
          <a:p>
            <a:r>
              <a:rPr lang="en-US" sz="2000" dirty="0"/>
              <a:t>Hybrid automata (HA)</a:t>
            </a:r>
          </a:p>
        </p:txBody>
      </p:sp>
    </p:spTree>
    <p:extLst>
      <p:ext uri="{BB962C8B-B14F-4D97-AF65-F5344CB8AC3E}">
        <p14:creationId xmlns:p14="http://schemas.microsoft.com/office/powerpoint/2010/main" val="1208127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D66C2-A4B8-8F4D-86EF-9EEB06782F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2936" y="1198266"/>
            <a:ext cx="5540871" cy="59193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/>
              <a:t>Developed at NASA </a:t>
            </a:r>
            <a:r>
              <a:rPr lang="en-US" sz="1600" dirty="0">
                <a:sym typeface="Wingdings" pitchFamily="2" charset="2"/>
              </a:rPr>
              <a:t> to coordinate landing sequence of aircraft with light-weight ground infrastructure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ym typeface="Wingdings" pitchFamily="2" charset="2"/>
              </a:rPr>
              <a:t>The abstraction captures the distributed coordination across aircraft and the time that it takes for aircraft to clear certain separation requirements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ym typeface="Wingdings" pitchFamily="2" charset="2"/>
              </a:rPr>
              <a:t>Modeling assumption: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ym typeface="Wingdings" pitchFamily="2" charset="2"/>
              </a:rPr>
              <a:t>The airspace around the airport is divided into several holding and approach zones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ym typeface="Wingdings" pitchFamily="2" charset="2"/>
              </a:rPr>
              <a:t>The SATS protocol defines the conditions under which an aircraft participating in the protocol can move from one zone to the next zone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ym typeface="Wingdings" pitchFamily="2" charset="2"/>
              </a:rPr>
              <a:t>For easier analysis each aircraft  1D point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ym typeface="Wingdings" pitchFamily="2" charset="2"/>
              </a:rPr>
              <a:t>Transitions  moving from one zone to another </a:t>
            </a:r>
          </a:p>
          <a:p>
            <a:pPr lvl="1">
              <a:lnSpc>
                <a:spcPct val="150000"/>
              </a:lnSpc>
            </a:pPr>
            <a:r>
              <a:rPr lang="en-US" sz="1400" dirty="0">
                <a:sym typeface="Wingdings" pitchFamily="2" charset="2"/>
              </a:rPr>
              <a:t>Trajectories  motion in each zone  </a:t>
            </a:r>
            <a:endParaRPr lang="en-US" sz="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Small aircraft traffic management system</a:t>
            </a:r>
          </a:p>
        </p:txBody>
      </p:sp>
      <p:pic>
        <p:nvPicPr>
          <p:cNvPr id="11" name="Picture 10" descr="Diagram&#10;&#10;Description automatically generated">
            <a:extLst>
              <a:ext uri="{FF2B5EF4-FFF2-40B4-BE49-F238E27FC236}">
                <a16:creationId xmlns:a16="http://schemas.microsoft.com/office/drawing/2014/main" id="{40CE3E29-1965-0B42-9454-2D0D90098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9887" b="24108"/>
          <a:stretch/>
        </p:blipFill>
        <p:spPr>
          <a:xfrm>
            <a:off x="5899527" y="1337310"/>
            <a:ext cx="3874901" cy="2919910"/>
          </a:xfrm>
          <a:prstGeom prst="rect">
            <a:avLst/>
          </a:prstGeom>
        </p:spPr>
      </p:pic>
      <p:pic>
        <p:nvPicPr>
          <p:cNvPr id="13" name="Picture 12" descr="Diagram&#10;&#10;Description automatically generated">
            <a:extLst>
              <a:ext uri="{FF2B5EF4-FFF2-40B4-BE49-F238E27FC236}">
                <a16:creationId xmlns:a16="http://schemas.microsoft.com/office/drawing/2014/main" id="{41FCBF05-FE95-CE40-95D5-71EC534505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227" t="5228" b="23917"/>
          <a:stretch/>
        </p:blipFill>
        <p:spPr>
          <a:xfrm>
            <a:off x="6667361" y="4383900"/>
            <a:ext cx="2752605" cy="292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329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D50EDD2-922B-494A-9B44-BCD97A89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16488"/>
            <a:ext cx="7543800" cy="563131"/>
          </a:xfrm>
        </p:spPr>
        <p:txBody>
          <a:bodyPr/>
          <a:lstStyle/>
          <a:p>
            <a:r>
              <a:rPr lang="en-US" sz="2000" dirty="0"/>
              <a:t>Small aircraft traffic management system</a:t>
            </a:r>
          </a:p>
        </p:txBody>
      </p:sp>
      <p:pic>
        <p:nvPicPr>
          <p:cNvPr id="11" name="Picture 10" descr="A picture containing text, receipt, document&#10;&#10;Description automatically generated">
            <a:extLst>
              <a:ext uri="{FF2B5EF4-FFF2-40B4-BE49-F238E27FC236}">
                <a16:creationId xmlns:a16="http://schemas.microsoft.com/office/drawing/2014/main" id="{7E761270-E0BB-524E-979B-0C69BABAE5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9" t="1678" r="1776" b="1874"/>
          <a:stretch/>
        </p:blipFill>
        <p:spPr>
          <a:xfrm>
            <a:off x="1840230" y="995986"/>
            <a:ext cx="6400801" cy="6224308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3F2DAC7-AF54-734E-8208-AAC1D22D7CDD}"/>
              </a:ext>
            </a:extLst>
          </p:cNvPr>
          <p:cNvSpPr/>
          <p:nvPr/>
        </p:nvSpPr>
        <p:spPr>
          <a:xfrm>
            <a:off x="8286751" y="3794760"/>
            <a:ext cx="1348739" cy="1245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94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DB9BF8-F0AF-9D46-9CCA-4C06D5D9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7655"/>
            <a:ext cx="5225527" cy="2177089"/>
          </a:xfrm>
        </p:spPr>
        <p:txBody>
          <a:bodyPr/>
          <a:lstStyle/>
          <a:p>
            <a:pPr algn="ctr"/>
            <a:r>
              <a:rPr lang="en-US" dirty="0"/>
              <a:t>Chapter 5: 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Composing models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2" descr="Verifying Cyber-Physical Systems | The MIT Press">
            <a:extLst>
              <a:ext uri="{FF2B5EF4-FFF2-40B4-BE49-F238E27FC236}">
                <a16:creationId xmlns:a16="http://schemas.microsoft.com/office/drawing/2014/main" id="{26D65358-EBE9-8A4D-90C7-3955B63E2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237130"/>
            <a:ext cx="4544403" cy="579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620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03380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1800" b="1" dirty="0"/>
                  <a:t>Composition: </a:t>
                </a:r>
                <a:r>
                  <a:rPr lang="en-US" sz="1800" dirty="0"/>
                  <a:t>building large mathematical models from smaller modules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b="1" i="1" dirty="0">
                    <a:ea typeface="Cambria Math" panose="02040503050406030204" pitchFamily="18" charset="0"/>
                  </a:rPr>
                  <a:t>Composing automata: </a:t>
                </a:r>
                <a:r>
                  <a:rPr lang="en-US" sz="1800" dirty="0">
                    <a:ea typeface="Cambria Math" panose="02040503050406030204" pitchFamily="18" charset="0"/>
                  </a:rPr>
                  <a:t>creating a new automaton by composing two or more automaton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b="1" i="1" dirty="0">
                    <a:ea typeface="Cambria Math" panose="02040503050406030204" pitchFamily="18" charset="0"/>
                  </a:rPr>
                  <a:t>Closure under composition: </a:t>
                </a:r>
                <a:r>
                  <a:rPr lang="en-US" sz="1800" dirty="0">
                    <a:ea typeface="Cambria Math" panose="02040503050406030204" pitchFamily="18" charset="0"/>
                  </a:rPr>
                  <a:t>a property where bigger automaton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has the same type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. (The formalism we use should achieve this property)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>
                    <a:ea typeface="Cambria Math" panose="02040503050406030204" pitchFamily="18" charset="0"/>
                  </a:rPr>
                  <a:t>We follow input/output automaton (IOA) formalism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>
                    <a:ea typeface="Cambria Math" panose="02040503050406030204" pitchFamily="18" charset="0"/>
                  </a:rPr>
                  <a:t>Partitions its actions (and variables) into input, output, and internal actions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b="1" i="1" dirty="0">
                    <a:ea typeface="Cambria Math" panose="02040503050406030204" pitchFamily="18" charset="0"/>
                  </a:rPr>
                  <a:t>Input and output actions</a:t>
                </a:r>
                <a:r>
                  <a:rPr lang="en-US" sz="1600" dirty="0">
                    <a:ea typeface="Cambria Math" panose="02040503050406030204" pitchFamily="18" charset="0"/>
                  </a:rPr>
                  <a:t>: used for inter-automata synchronization and for state updates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b="1" i="1" dirty="0">
                    <a:ea typeface="Cambria Math" panose="02040503050406030204" pitchFamily="18" charset="0"/>
                  </a:rPr>
                  <a:t>Internal actions</a:t>
                </a:r>
                <a:r>
                  <a:rPr lang="en-US" sz="1600" dirty="0">
                    <a:ea typeface="Cambria Math" panose="02040503050406030204" pitchFamily="18" charset="0"/>
                  </a:rPr>
                  <a:t>: exclusively for state updates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b="1" i="1" dirty="0">
                    <a:ea typeface="Cambria Math" panose="02040503050406030204" pitchFamily="18" charset="0"/>
                  </a:rPr>
                  <a:t>Input enabledness</a:t>
                </a:r>
                <a:r>
                  <a:rPr lang="en-US" sz="1600" dirty="0">
                    <a:ea typeface="Cambria Math" panose="02040503050406030204" pitchFamily="18" charset="0"/>
                  </a:rPr>
                  <a:t>: a key assumption that ensures composition closure for IOA. It implies inputs can not be blocked.    </a:t>
                </a:r>
              </a:p>
              <a:p>
                <a:pPr lvl="1">
                  <a:lnSpc>
                    <a:spcPct val="150000"/>
                  </a:lnSpc>
                </a:pPr>
                <a:endParaRPr lang="en-US" sz="16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b="1" i="1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033801"/>
              </a:xfrm>
              <a:blipFill>
                <a:blip r:embed="rId2"/>
                <a:stretch>
                  <a:fillRect l="-391" b="-1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Composing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93DE88-BEAB-D24C-B4E5-322C2737990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936" y="1106269"/>
            <a:ext cx="7400925" cy="444500"/>
          </a:xfrm>
        </p:spPr>
        <p:txBody>
          <a:bodyPr/>
          <a:lstStyle/>
          <a:p>
            <a:r>
              <a:rPr lang="en-US" dirty="0"/>
              <a:t>Composition</a:t>
            </a:r>
          </a:p>
        </p:txBody>
      </p:sp>
    </p:spTree>
    <p:extLst>
      <p:ext uri="{BB962C8B-B14F-4D97-AF65-F5344CB8AC3E}">
        <p14:creationId xmlns:p14="http://schemas.microsoft.com/office/powerpoint/2010/main" val="37464590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033801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/>
                  <a:t>For each automaton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∈{1,2}</m:t>
                    </m:r>
                  </m:oMath>
                </a14:m>
                <a:r>
                  <a:rPr lang="en-US" sz="1800" dirty="0"/>
                  <a:t>, the set of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is partitioned into three categories: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/>
                  <a:t>Internal actions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): only bring about state changes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and are not involved in any interactions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/>
                  <a:t>Output actions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): are controlled by (i.e. triggered by)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and read by other automata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/>
                  <a:t>Input actions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): are controlled by other automata and read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1600" dirty="0"/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An IOA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 &lt;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1800" dirty="0"/>
                  <a:t> is an automaton for which the set of actions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800" dirty="0"/>
                  <a:t> is partitioned into sets of input (I), output (O), and internal (H) actions. In addition,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800" dirty="0"/>
                  <a:t> satisfies the following input action-enabling condition: E1 (input action enabled). 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1800" dirty="0"/>
                  <a:t>E1 ensures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 has well-defined transitions for every input action at any state. </a:t>
                </a:r>
              </a:p>
              <a:p>
                <a:pPr lvl="1">
                  <a:lnSpc>
                    <a:spcPct val="150000"/>
                  </a:lnSpc>
                </a:pPr>
                <a:endParaRPr lang="en-US" sz="16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i="1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033801"/>
              </a:xfrm>
              <a:blipFill>
                <a:blip r:embed="rId2"/>
                <a:stretch>
                  <a:fillRect l="-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Composing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2694-DE16-4B42-933E-A1F9364381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936" y="1106269"/>
            <a:ext cx="7400925" cy="444500"/>
          </a:xfrm>
        </p:spPr>
        <p:txBody>
          <a:bodyPr/>
          <a:lstStyle/>
          <a:p>
            <a:r>
              <a:rPr lang="en-US" dirty="0"/>
              <a:t>Composing input/output automata</a:t>
            </a:r>
          </a:p>
        </p:txBody>
      </p:sp>
    </p:spTree>
    <p:extLst>
      <p:ext uri="{BB962C8B-B14F-4D97-AF65-F5344CB8AC3E}">
        <p14:creationId xmlns:p14="http://schemas.microsoft.com/office/powerpoint/2010/main" val="1834243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678494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/>
                  <a:t>A </a:t>
                </a:r>
                <a:r>
                  <a:rPr lang="en-US" sz="1600" dirty="0"/>
                  <a:t>pair of IOA,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 </a:t>
                </a:r>
                <a:r>
                  <a:rPr lang="en-US" sz="1600" dirty="0"/>
                  <a:t>, are compatible if for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endParaRPr lang="en-US" sz="1600" dirty="0"/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400" b="0" dirty="0">
                    <a:ea typeface="Cambria Math" panose="02040503050406030204" pitchFamily="18" charset="0"/>
                  </a:rPr>
                  <a:t>: internal actions of one automaton should not be triggered by any action of another automaton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: each output action should be controlled by only one automaton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: disjoint state space</a:t>
                </a:r>
              </a:p>
              <a:p>
                <a:pPr marL="341313" indent="-342900">
                  <a:lnSpc>
                    <a:spcPct val="150000"/>
                  </a:lnSpc>
                </a:pPr>
                <a:r>
                  <a:rPr lang="en-US" sz="1800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are compatible, then their composition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is defined to be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≜&lt;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, where </a:t>
                </a:r>
              </a:p>
              <a:p>
                <a:pPr marL="569566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marL="569566" lvl="1" indent="-34290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⊺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marL="569566" lvl="1" indent="-342900">
                  <a:lnSpc>
                    <a:spcPct val="150000"/>
                  </a:lnSpc>
                </a:pPr>
                <a:r>
                  <a:rPr lang="en-US" sz="1600" dirty="0">
                    <a:ea typeface="Cambria Math" panose="02040503050406030204" pitchFamily="18" charset="0"/>
                  </a:rPr>
                  <a:t>The overall set of actions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, where </a:t>
                </a:r>
              </a:p>
              <a:p>
                <a:pPr marL="739173" lvl="2" indent="-342900">
                  <a:lnSpc>
                    <a:spcPct val="150000"/>
                  </a:lnSpc>
                </a:pPr>
                <a:r>
                  <a:rPr lang="en-US" sz="1400" dirty="0">
                    <a:ea typeface="Cambria Math" panose="02040503050406030204" pitchFamily="18" charset="0"/>
                  </a:rPr>
                  <a:t>The set of internal actions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ea typeface="Cambria Math" panose="02040503050406030204" pitchFamily="18" charset="0"/>
                </a:endParaRPr>
              </a:p>
              <a:p>
                <a:pPr marL="739173" lvl="2" indent="-342900">
                  <a:lnSpc>
                    <a:spcPct val="150000"/>
                  </a:lnSpc>
                </a:pPr>
                <a:r>
                  <a:rPr lang="en-US" sz="1400" dirty="0">
                    <a:ea typeface="Cambria Math" panose="02040503050406030204" pitchFamily="18" charset="0"/>
                  </a:rPr>
                  <a:t>The set of output actions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; and</a:t>
                </a:r>
              </a:p>
              <a:p>
                <a:pPr marL="739173" lvl="2" indent="-342900">
                  <a:lnSpc>
                    <a:spcPct val="150000"/>
                  </a:lnSpc>
                </a:pPr>
                <a:r>
                  <a:rPr lang="en-US" sz="1400" dirty="0">
                    <a:ea typeface="Cambria Math" panose="02040503050406030204" pitchFamily="18" charset="0"/>
                  </a:rPr>
                  <a:t>The set of input actions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</m:t>
                    </m:r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</m:oMath>
                </a14:m>
                <a:endParaRPr lang="en-US" sz="1400" dirty="0">
                  <a:ea typeface="Cambria Math" panose="02040503050406030204" pitchFamily="18" charset="0"/>
                </a:endParaRPr>
              </a:p>
              <a:p>
                <a:pPr marL="569566" lvl="1" indent="-342900">
                  <a:lnSpc>
                    <a:spcPct val="150000"/>
                  </a:lnSpc>
                </a:pPr>
                <a:r>
                  <a:rPr lang="en-US" sz="1600" dirty="0">
                    <a:ea typeface="Cambria Math" panose="02040503050406030204" pitchFamily="18" charset="0"/>
                  </a:rPr>
                  <a:t>For each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 and each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sz="16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i="1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678494"/>
              </a:xfrm>
              <a:blipFill>
                <a:blip r:embed="rId2"/>
                <a:stretch>
                  <a:fillRect l="-391" r="-1172" b="-2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Composing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2694-DE16-4B42-933E-A1F9364381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936" y="1106269"/>
            <a:ext cx="7400925" cy="444500"/>
          </a:xfrm>
        </p:spPr>
        <p:txBody>
          <a:bodyPr/>
          <a:lstStyle/>
          <a:p>
            <a:r>
              <a:rPr lang="en-US" dirty="0"/>
              <a:t>Compatibility and composition of IOA</a:t>
            </a:r>
          </a:p>
        </p:txBody>
      </p:sp>
    </p:spTree>
    <p:extLst>
      <p:ext uri="{BB962C8B-B14F-4D97-AF65-F5344CB8AC3E}">
        <p14:creationId xmlns:p14="http://schemas.microsoft.com/office/powerpoint/2010/main" val="2537142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678494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en-US" sz="1800" dirty="0"/>
                  <a:t>An IOA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= &lt;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1800" i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1800" dirty="0"/>
                  <a:t> is a hybrid automaton for which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dirty="0"/>
                  <a:t>The set of variables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600" dirty="0"/>
                  <a:t> is partitioned into sets of input (U), output (Y), and internal (X) variables.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the state space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the set of start states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dirty="0"/>
                  <a:t>The set of actions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1600" dirty="0"/>
                  <a:t> is partitioned into sets of input (I), output (O), and internal (H) actions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is the set of discrete transitions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r>
                  <a:rPr lang="en-US" sz="1600" dirty="0"/>
                  <a:t> is a prefix, suffix, and concatenated closed set of trajectories for V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1600" dirty="0"/>
                  <a:t>In addition,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1600" dirty="0"/>
                  <a:t> satisfies the following input-enabling conditions: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b="1" i="1" dirty="0"/>
                  <a:t>E1 (input action enabled): </a:t>
                </a:r>
                <a:r>
                  <a:rPr lang="en-US" sz="1600" dirty="0"/>
                  <a:t>At every state x, every input action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1600" dirty="0"/>
                  <a:t> is enabled. That is, there is a post state x’ such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dirty="0"/>
                  <a:t>   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b="1" i="1" dirty="0">
                    <a:ea typeface="Cambria Math" panose="02040503050406030204" pitchFamily="18" charset="0"/>
                  </a:rPr>
                  <a:t>E2 (input trajectory enabled): </a:t>
                </a:r>
                <a:r>
                  <a:rPr lang="en-US" sz="1600" dirty="0">
                    <a:ea typeface="Cambria Math" panose="02040503050406030204" pitchFamily="18" charset="0"/>
                  </a:rPr>
                  <a:t>from every state x, the automaton should be able to react to any trajectory v of the input variables in U. </a:t>
                </a:r>
                <a:r>
                  <a:rPr lang="en-US" sz="1800" dirty="0"/>
                  <a:t>  </a:t>
                </a:r>
                <a:endParaRPr lang="en-US" sz="16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sz="16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i="1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678494"/>
              </a:xfrm>
              <a:blipFill>
                <a:blip r:embed="rId2"/>
                <a:stretch>
                  <a:fillRect l="-391" r="-2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Composing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2694-DE16-4B42-933E-A1F9364381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936" y="1106269"/>
            <a:ext cx="7400925" cy="444500"/>
          </a:xfrm>
        </p:spPr>
        <p:txBody>
          <a:bodyPr/>
          <a:lstStyle/>
          <a:p>
            <a:r>
              <a:rPr lang="en-US" dirty="0"/>
              <a:t>Composing hybrid IOA</a:t>
            </a:r>
          </a:p>
        </p:txBody>
      </p:sp>
    </p:spTree>
    <p:extLst>
      <p:ext uri="{BB962C8B-B14F-4D97-AF65-F5344CB8AC3E}">
        <p14:creationId xmlns:p14="http://schemas.microsoft.com/office/powerpoint/2010/main" val="6450283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678494"/>
              </a:xfrm>
            </p:spPr>
            <p:txBody>
              <a:bodyPr/>
              <a:lstStyle/>
              <a:p>
                <a:pPr marL="341313" indent="-342900">
                  <a:lnSpc>
                    <a:spcPct val="150000"/>
                  </a:lnSpc>
                </a:pPr>
                <a:r>
                  <a:rPr lang="en-US" sz="1800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are compatible, then their composition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 is defined to be </a:t>
                </a:r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≜&lt;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l-GR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1800" dirty="0">
                    <a:ea typeface="Cambria Math" panose="02040503050406030204" pitchFamily="18" charset="0"/>
                  </a:rPr>
                  <a:t>, where </a:t>
                </a: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overall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set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600" b="0" i="0" dirty="0" smtClean="0">
                        <a:ea typeface="Cambria Math" panose="02040503050406030204" pitchFamily="18" charset="0"/>
                      </a:rPr>
                      <m:t>variables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where</m:t>
                    </m:r>
                    <m:r>
                      <m:rPr>
                        <m:nor/>
                      </m:rPr>
                      <a:rPr lang="en-US" sz="1600" dirty="0"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marL="796323" lvl="2" indent="-400050">
                  <a:lnSpc>
                    <a:spcPct val="150000"/>
                  </a:lnSpc>
                  <a:buFont typeface="+mj-lt"/>
                  <a:buAutoNum type="romanU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set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internal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b="0" i="0" dirty="0" smtClean="0">
                        <a:ea typeface="Cambria Math" panose="02040503050406030204" pitchFamily="18" charset="0"/>
                      </a:rPr>
                      <m:t>variables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ea typeface="Cambria Math" panose="02040503050406030204" pitchFamily="18" charset="0"/>
                </a:endParaRPr>
              </a:p>
              <a:p>
                <a:pPr marL="796323" lvl="2" indent="-400050">
                  <a:lnSpc>
                    <a:spcPct val="150000"/>
                  </a:lnSpc>
                  <a:buFont typeface="+mj-lt"/>
                  <a:buAutoNum type="romanU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set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output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b="0" i="0" dirty="0" smtClean="0">
                        <a:ea typeface="Cambria Math" panose="02040503050406030204" pitchFamily="18" charset="0"/>
                      </a:rPr>
                      <m:t>variables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;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and</m:t>
                    </m:r>
                  </m:oMath>
                </a14:m>
                <a:endParaRPr lang="en-US" sz="1400" dirty="0">
                  <a:ea typeface="Cambria Math" panose="02040503050406030204" pitchFamily="18" charset="0"/>
                </a:endParaRPr>
              </a:p>
              <a:p>
                <a:pPr marL="796323" lvl="2" indent="-400050">
                  <a:lnSpc>
                    <a:spcPct val="150000"/>
                  </a:lnSpc>
                  <a:buFont typeface="+mj-lt"/>
                  <a:buAutoNum type="romanU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The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set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of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input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1400" b="0" i="0" dirty="0" smtClean="0">
                        <a:ea typeface="Cambria Math" panose="02040503050406030204" pitchFamily="18" charset="0"/>
                      </a:rPr>
                      <m:t>variables</m:t>
                    </m:r>
                    <m:r>
                      <m:rPr>
                        <m:nor/>
                      </m:rPr>
                      <a:rPr lang="en-US" sz="1400" dirty="0"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</m:t>
                    </m:r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Y</m:t>
                    </m:r>
                  </m:oMath>
                </a14:m>
                <a:endParaRPr lang="en-US" sz="1400" dirty="0">
                  <a:ea typeface="Cambria Math" panose="02040503050406030204" pitchFamily="18" charset="0"/>
                </a:endParaRP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𝑣𝑎𝑙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∀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⊺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dirty="0">
                    <a:ea typeface="Cambria Math" panose="02040503050406030204" pitchFamily="18" charset="0"/>
                  </a:rPr>
                  <a:t>The overall set of actions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, where </a:t>
                </a:r>
              </a:p>
              <a:p>
                <a:pPr marL="796323" lvl="2" indent="-400050">
                  <a:lnSpc>
                    <a:spcPct val="150000"/>
                  </a:lnSpc>
                  <a:buFont typeface="+mj-lt"/>
                  <a:buAutoNum type="romanUcPeriod"/>
                </a:pPr>
                <a:r>
                  <a:rPr lang="en-US" sz="1400" dirty="0">
                    <a:ea typeface="Cambria Math" panose="02040503050406030204" pitchFamily="18" charset="0"/>
                  </a:rPr>
                  <a:t>The set of internal actions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ea typeface="Cambria Math" panose="02040503050406030204" pitchFamily="18" charset="0"/>
                </a:endParaRPr>
              </a:p>
              <a:p>
                <a:pPr marL="796323" lvl="2" indent="-400050">
                  <a:lnSpc>
                    <a:spcPct val="150000"/>
                  </a:lnSpc>
                  <a:buFont typeface="+mj-lt"/>
                  <a:buAutoNum type="romanUcPeriod"/>
                </a:pPr>
                <a:r>
                  <a:rPr lang="en-US" sz="1400" dirty="0">
                    <a:ea typeface="Cambria Math" panose="02040503050406030204" pitchFamily="18" charset="0"/>
                  </a:rPr>
                  <a:t>The set of output actions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𝑂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400" dirty="0">
                    <a:ea typeface="Cambria Math" panose="02040503050406030204" pitchFamily="18" charset="0"/>
                  </a:rPr>
                  <a:t>; and</a:t>
                </a:r>
              </a:p>
              <a:p>
                <a:pPr marL="796323" lvl="2" indent="-400050">
                  <a:lnSpc>
                    <a:spcPct val="150000"/>
                  </a:lnSpc>
                  <a:buFont typeface="+mj-lt"/>
                  <a:buAutoNum type="romanUcPeriod"/>
                </a:pPr>
                <a:r>
                  <a:rPr lang="en-US" sz="1400" dirty="0">
                    <a:ea typeface="Cambria Math" panose="02040503050406030204" pitchFamily="18" charset="0"/>
                  </a:rPr>
                  <a:t>The set of input actions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</m:t>
                    </m:r>
                    <m:r>
                      <m:rPr>
                        <m:sty m:val="p"/>
                      </m:rP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O</m:t>
                    </m:r>
                  </m:oMath>
                </a14:m>
                <a:endParaRPr lang="en-US" sz="1400" dirty="0">
                  <a:ea typeface="Cambria Math" panose="02040503050406030204" pitchFamily="18" charset="0"/>
                </a:endParaRP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dirty="0">
                    <a:ea typeface="Cambria Math" panose="02040503050406030204" pitchFamily="18" charset="0"/>
                  </a:rPr>
                  <a:t>For each x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 and each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groupCh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marL="569566" lvl="1" indent="-342900">
                  <a:lnSpc>
                    <a:spcPct val="150000"/>
                  </a:lnSpc>
                  <a:buFont typeface="+mj-lt"/>
                  <a:buAutoNum type="arabicPeriod"/>
                </a:pPr>
                <a:r>
                  <a:rPr lang="en-US" sz="1600" dirty="0">
                    <a:ea typeface="Cambria Math" panose="02040503050406030204" pitchFamily="18" charset="0"/>
                  </a:rPr>
                  <a:t>A trajectory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1600" dirty="0">
                    <a:ea typeface="Cambria Math" panose="02040503050406030204" pitchFamily="18" charset="0"/>
                  </a:rPr>
                  <a:t> is in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𝒯</m:t>
                    </m:r>
                  </m:oMath>
                </a14:m>
                <a:endParaRPr lang="en-US" sz="1600" dirty="0">
                  <a:ea typeface="Cambria Math" panose="02040503050406030204" pitchFamily="18" charset="0"/>
                </a:endParaRPr>
              </a:p>
              <a:p>
                <a:pPr lvl="1">
                  <a:lnSpc>
                    <a:spcPct val="150000"/>
                  </a:lnSpc>
                </a:pPr>
                <a:endParaRPr lang="en-US" sz="16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sz="1800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dirty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i="1" dirty="0"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3C5D66C2-A4B8-8F4D-86EF-9EEB06782F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9"/>
              </p:nvPr>
            </p:nvSpPr>
            <p:spPr>
              <a:xfrm>
                <a:off x="312936" y="1632329"/>
                <a:ext cx="9745464" cy="5678494"/>
              </a:xfrm>
              <a:blipFill>
                <a:blip r:embed="rId2"/>
                <a:stretch>
                  <a:fillRect l="-391" r="-11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Composing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2694-DE16-4B42-933E-A1F93643815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936" y="1106269"/>
            <a:ext cx="7400925" cy="444500"/>
          </a:xfrm>
        </p:spPr>
        <p:txBody>
          <a:bodyPr/>
          <a:lstStyle/>
          <a:p>
            <a:r>
              <a:rPr lang="en-US" dirty="0"/>
              <a:t>Compatibility and composition of HIOA</a:t>
            </a:r>
          </a:p>
        </p:txBody>
      </p:sp>
    </p:spTree>
    <p:extLst>
      <p:ext uri="{BB962C8B-B14F-4D97-AF65-F5344CB8AC3E}">
        <p14:creationId xmlns:p14="http://schemas.microsoft.com/office/powerpoint/2010/main" val="3435343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D66C2-A4B8-8F4D-86EF-9EEB06782FB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12936" y="1231443"/>
            <a:ext cx="9505434" cy="591935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600" dirty="0"/>
              <a:t>More than 25% of reported traffic accidents are rear-end crashes</a:t>
            </a:r>
            <a:endParaRPr lang="en-US" sz="800" dirty="0"/>
          </a:p>
          <a:p>
            <a:pPr lvl="1">
              <a:lnSpc>
                <a:spcPct val="150000"/>
              </a:lnSpc>
            </a:pPr>
            <a:r>
              <a:rPr lang="en-US" sz="1400" dirty="0"/>
              <a:t>85% of which happens on straight road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Emergency breaking intervene automatically and prevent this type of accident 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Developed a HIOA to facilitate the testing of such system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04C00B-4F4D-494F-A0AE-6F897C90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936" y="461577"/>
            <a:ext cx="7401632" cy="563131"/>
          </a:xfrm>
        </p:spPr>
        <p:txBody>
          <a:bodyPr/>
          <a:lstStyle/>
          <a:p>
            <a:r>
              <a:rPr lang="en-US" sz="2000" dirty="0"/>
              <a:t>Advanced Driver assistance system (ADAS)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B32CE7B8-1FFC-3647-8A09-E2E84EA1B5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4217593"/>
                  </p:ext>
                </p:extLst>
              </p:nvPr>
            </p:nvGraphicFramePr>
            <p:xfrm>
              <a:off x="80010" y="2992599"/>
              <a:ext cx="9978390" cy="197638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74770">
                      <a:extLst>
                        <a:ext uri="{9D8B030D-6E8A-4147-A177-3AD203B41FA5}">
                          <a16:colId xmlns:a16="http://schemas.microsoft.com/office/drawing/2014/main" val="1257933778"/>
                        </a:ext>
                      </a:extLst>
                    </a:gridCol>
                    <a:gridCol w="2777490">
                      <a:extLst>
                        <a:ext uri="{9D8B030D-6E8A-4147-A177-3AD203B41FA5}">
                          <a16:colId xmlns:a16="http://schemas.microsoft.com/office/drawing/2014/main" val="535179209"/>
                        </a:ext>
                      </a:extLst>
                    </a:gridCol>
                    <a:gridCol w="3326130">
                      <a:extLst>
                        <a:ext uri="{9D8B030D-6E8A-4147-A177-3AD203B41FA5}">
                          <a16:colId xmlns:a16="http://schemas.microsoft.com/office/drawing/2014/main" val="1646088612"/>
                        </a:ext>
                      </a:extLst>
                    </a:gridCol>
                  </a:tblGrid>
                  <a:tr h="2856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Model parameters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State variables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Output variables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29519279"/>
                      </a:ext>
                    </a:extLst>
                  </a:tr>
                  <a:tr h="1641105"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/>
                            <a:t>Vehicle identifier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𝐼𝐷</m:t>
                              </m:r>
                            </m:oMath>
                          </a14:m>
                          <a:endParaRPr lang="en-US" sz="1600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/>
                            <a:t>Its driver’s reaction time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600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1600" dirty="0"/>
                            <a:t>Initial separation from leading car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600" dirty="0"/>
                        </a:p>
                        <a:p>
                          <a:pPr marL="285750" marR="0" lvl="0" indent="-285750" algn="l" defTabSz="50863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dirty="0"/>
                            <a:t>Safety distance threshold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600" dirty="0"/>
                        </a:p>
                        <a:p>
                          <a:pPr marL="285750" marR="0" lvl="0" indent="-285750" algn="l" defTabSz="50863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dirty="0"/>
                            <a:t>The breaking profile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𝑎𝑛𝑑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 dirty="0"/>
                            <a:t> position and velocity of vehicle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𝑙𝑜𝑐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600" dirty="0"/>
                            <a:t>mode variable</a:t>
                          </a:r>
                          <a:r>
                            <a:rPr lang="en-US" sz="1600" baseline="0" dirty="0"/>
                            <a:t> </a:t>
                          </a:r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𝑡𝑖𝑚𝑒𝑟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600" dirty="0"/>
                            <a:t>a stopwatch</a:t>
                          </a:r>
                          <a:r>
                            <a:rPr lang="en-US" sz="1600" baseline="0" dirty="0"/>
                            <a:t> </a:t>
                          </a:r>
                          <a:endParaRPr lang="en-US" sz="1600" dirty="0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600" dirty="0">
                              <a:sym typeface="Wingdings" pitchFamily="2" charset="2"/>
                            </a:rPr>
                            <a:t> </a:t>
                          </a:r>
                          <a:r>
                            <a:rPr lang="en-US" sz="1600" dirty="0"/>
                            <a:t>a copy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endParaRPr lang="en-US" sz="1600" dirty="0"/>
                        </a:p>
                        <a:p>
                          <a:pPr marL="285750" indent="-285750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600" dirty="0">
                              <a:sym typeface="Wingdings" pitchFamily="2" charset="2"/>
                            </a:rPr>
                            <a:t> </a:t>
                          </a:r>
                          <a:r>
                            <a:rPr lang="en-US" sz="1600" dirty="0"/>
                            <a:t>position of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lang="en-US" sz="1600" dirty="0"/>
                            <a:t>’s predecessor</a:t>
                          </a:r>
                        </a:p>
                        <a:p>
                          <a:pPr marL="285750" marR="0" lvl="0" indent="-285750" algn="l" defTabSz="508639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 typeface="Arial" panose="020B0604020202020204" pitchFamily="34" charset="0"/>
                            <a:buChar char="•"/>
                            <a:tabLst/>
                            <a:defRPr/>
                          </a:pPr>
                          <a:r>
                            <a:rPr lang="en-US" sz="1600" dirty="0"/>
                            <a:t>3 modes (breaking, cursing, and reacting) and 3 internal actions that trigger the transition among these modes 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4961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7">
                <a:extLst>
                  <a:ext uri="{FF2B5EF4-FFF2-40B4-BE49-F238E27FC236}">
                    <a16:creationId xmlns:a16="http://schemas.microsoft.com/office/drawing/2014/main" id="{B32CE7B8-1FFC-3647-8A09-E2E84EA1B5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74217593"/>
                  </p:ext>
                </p:extLst>
              </p:nvPr>
            </p:nvGraphicFramePr>
            <p:xfrm>
              <a:off x="80010" y="2992599"/>
              <a:ext cx="9978390" cy="197638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874770">
                      <a:extLst>
                        <a:ext uri="{9D8B030D-6E8A-4147-A177-3AD203B41FA5}">
                          <a16:colId xmlns:a16="http://schemas.microsoft.com/office/drawing/2014/main" val="1257933778"/>
                        </a:ext>
                      </a:extLst>
                    </a:gridCol>
                    <a:gridCol w="2777490">
                      <a:extLst>
                        <a:ext uri="{9D8B030D-6E8A-4147-A177-3AD203B41FA5}">
                          <a16:colId xmlns:a16="http://schemas.microsoft.com/office/drawing/2014/main" val="535179209"/>
                        </a:ext>
                      </a:extLst>
                    </a:gridCol>
                    <a:gridCol w="3326130">
                      <a:extLst>
                        <a:ext uri="{9D8B030D-6E8A-4147-A177-3AD203B41FA5}">
                          <a16:colId xmlns:a16="http://schemas.microsoft.com/office/drawing/2014/main" val="1646088612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Model parameters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State variables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Output variables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729519279"/>
                      </a:ext>
                    </a:extLst>
                  </a:tr>
                  <a:tr h="16411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mpd="sng">
                          <a:noFill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1538" r="-1580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39269" t="-21538" r="-120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00000" t="-21538" r="-3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496134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9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DD676787-78AE-5A47-B104-3C20E7FEF9A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63"/>
          <a:stretch/>
        </p:blipFill>
        <p:spPr>
          <a:xfrm>
            <a:off x="2701082" y="4968984"/>
            <a:ext cx="5757118" cy="2213043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00092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D50EDD2-922B-494A-9B44-BCD97A899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16488"/>
            <a:ext cx="7543800" cy="563131"/>
          </a:xfrm>
        </p:spPr>
        <p:txBody>
          <a:bodyPr/>
          <a:lstStyle/>
          <a:p>
            <a:r>
              <a:rPr lang="en-US" sz="2000" dirty="0"/>
              <a:t>Small aircraft traffic management system</a:t>
            </a:r>
          </a:p>
        </p:txBody>
      </p:sp>
      <p:pic>
        <p:nvPicPr>
          <p:cNvPr id="9" name="Picture 8" descr="A picture containing text, receipt, document, screenshot&#10;&#10;Description automatically generated">
            <a:extLst>
              <a:ext uri="{FF2B5EF4-FFF2-40B4-BE49-F238E27FC236}">
                <a16:creationId xmlns:a16="http://schemas.microsoft.com/office/drawing/2014/main" id="{79752829-D992-7F4B-BCC6-6B81FED81C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4" t="1565" r="1278" b="2873"/>
          <a:stretch/>
        </p:blipFill>
        <p:spPr>
          <a:xfrm>
            <a:off x="1072565" y="1223010"/>
            <a:ext cx="7913270" cy="5703570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0303501-1DEF-EA43-9803-82D243AB8F0F}"/>
              </a:ext>
            </a:extLst>
          </p:cNvPr>
          <p:cNvSpPr/>
          <p:nvPr/>
        </p:nvSpPr>
        <p:spPr>
          <a:xfrm>
            <a:off x="9029700" y="3794760"/>
            <a:ext cx="560070" cy="12458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6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2DB9BF8-F0AF-9D46-9CCA-4C06D5D94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7655"/>
            <a:ext cx="5225527" cy="2177089"/>
          </a:xfrm>
        </p:spPr>
        <p:txBody>
          <a:bodyPr/>
          <a:lstStyle/>
          <a:p>
            <a:pPr algn="ctr"/>
            <a:br>
              <a:rPr lang="en-US" dirty="0"/>
            </a:br>
            <a:br>
              <a:rPr lang="en-US" dirty="0"/>
            </a:br>
            <a:r>
              <a:rPr lang="en-US" sz="3200" dirty="0"/>
              <a:t>Thank you!!!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2" descr="Verifying Cyber-Physical Systems | The MIT Press">
            <a:extLst>
              <a:ext uri="{FF2B5EF4-FFF2-40B4-BE49-F238E27FC236}">
                <a16:creationId xmlns:a16="http://schemas.microsoft.com/office/drawing/2014/main" id="{26D65358-EBE9-8A4D-90C7-3955B63E2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1237130"/>
            <a:ext cx="4544403" cy="579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5116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35701</TotalTime>
  <Words>1709</Words>
  <Application>Microsoft Macintosh PowerPoint</Application>
  <PresentationFormat>Custom</PresentationFormat>
  <Paragraphs>165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Arial</vt:lpstr>
      <vt:lpstr>Avenir</vt:lpstr>
      <vt:lpstr>Avenir Black</vt:lpstr>
      <vt:lpstr>Avenir Book</vt:lpstr>
      <vt:lpstr>Avenir Medium</vt:lpstr>
      <vt:lpstr>AvenirNext LT Pro Bold</vt:lpstr>
      <vt:lpstr>Calibri</vt:lpstr>
      <vt:lpstr>Cambria Math</vt:lpstr>
      <vt:lpstr>Lucida Grande</vt:lpstr>
      <vt:lpstr>Verdana</vt:lpstr>
      <vt:lpstr>Wingdings</vt:lpstr>
      <vt:lpstr>Office Theme</vt:lpstr>
      <vt:lpstr>Verifying cyber-physical systems </vt:lpstr>
      <vt:lpstr>Chapter 4:   Modeling Cyber-Physical Systems </vt:lpstr>
      <vt:lpstr>Introduction</vt:lpstr>
      <vt:lpstr>Hybrid automata (HA)</vt:lpstr>
      <vt:lpstr>Language for specifying hybrid systems</vt:lpstr>
      <vt:lpstr>Hybrid automata (HA)</vt:lpstr>
      <vt:lpstr>Special classes of Hybrid automata (HA)</vt:lpstr>
      <vt:lpstr>Special classes of Hybrid automata (HA)</vt:lpstr>
      <vt:lpstr>Semantics for Hybrid systems</vt:lpstr>
      <vt:lpstr>Small aircraft traffic management system</vt:lpstr>
      <vt:lpstr>Small aircraft traffic management system</vt:lpstr>
      <vt:lpstr>Chapter 5:   Composing models </vt:lpstr>
      <vt:lpstr>Composing models</vt:lpstr>
      <vt:lpstr>Composing models</vt:lpstr>
      <vt:lpstr>Composing models</vt:lpstr>
      <vt:lpstr>Composing models</vt:lpstr>
      <vt:lpstr>Composing models</vt:lpstr>
      <vt:lpstr>Advanced Driver assistance system (ADAS)</vt:lpstr>
      <vt:lpstr>Small aircraft traffic management system</vt:lpstr>
      <vt:lpstr>  Thank you!!!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Taye, Abenezer Girma</cp:lastModifiedBy>
  <cp:revision>496</cp:revision>
  <cp:lastPrinted>2016-12-21T01:41:29Z</cp:lastPrinted>
  <dcterms:created xsi:type="dcterms:W3CDTF">2014-12-17T18:59:26Z</dcterms:created>
  <dcterms:modified xsi:type="dcterms:W3CDTF">2022-03-24T13:15:59Z</dcterms:modified>
  <cp:category/>
</cp:coreProperties>
</file>