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4" r:id="rId1"/>
  </p:sldMasterIdLst>
  <p:notesMasterIdLst>
    <p:notesMasterId r:id="rId20"/>
  </p:notesMasterIdLst>
  <p:handoutMasterIdLst>
    <p:handoutMasterId r:id="rId21"/>
  </p:handoutMasterIdLst>
  <p:sldIdLst>
    <p:sldId id="333" r:id="rId2"/>
    <p:sldId id="346" r:id="rId3"/>
    <p:sldId id="347" r:id="rId4"/>
    <p:sldId id="348" r:id="rId5"/>
    <p:sldId id="358" r:id="rId6"/>
    <p:sldId id="349" r:id="rId7"/>
    <p:sldId id="351" r:id="rId8"/>
    <p:sldId id="350" r:id="rId9"/>
    <p:sldId id="353" r:id="rId10"/>
    <p:sldId id="354" r:id="rId11"/>
    <p:sldId id="355" r:id="rId12"/>
    <p:sldId id="356" r:id="rId13"/>
    <p:sldId id="357" r:id="rId14"/>
    <p:sldId id="359" r:id="rId15"/>
    <p:sldId id="352" r:id="rId16"/>
    <p:sldId id="360" r:id="rId17"/>
    <p:sldId id="361" r:id="rId18"/>
    <p:sldId id="362" r:id="rId19"/>
  </p:sldIdLst>
  <p:sldSz cx="138176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1" userDrawn="1">
          <p15:clr>
            <a:srgbClr val="A4A3A4"/>
          </p15:clr>
        </p15:guide>
        <p15:guide id="2" pos="56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nsay Belshe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3CC"/>
    <a:srgbClr val="FEEBAD"/>
    <a:srgbClr val="0000FF"/>
    <a:srgbClr val="FEB91E"/>
    <a:srgbClr val="D5C2A3"/>
    <a:srgbClr val="BAA278"/>
    <a:srgbClr val="08436E"/>
    <a:srgbClr val="6AB834"/>
    <a:srgbClr val="A65310"/>
    <a:srgbClr val="63A7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43" autoAdjust="0"/>
    <p:restoredTop sz="96327" autoAdjust="0"/>
  </p:normalViewPr>
  <p:slideViewPr>
    <p:cSldViewPr snapToGrid="0" snapToObjects="1">
      <p:cViewPr varScale="1">
        <p:scale>
          <a:sx n="109" d="100"/>
          <a:sy n="109" d="100"/>
        </p:scale>
        <p:origin x="728" y="192"/>
      </p:cViewPr>
      <p:guideLst>
        <p:guide orient="horz" pos="1291"/>
        <p:guide pos="568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3477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6BD65-4128-AD4A-BC65-DD1A35B82098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2A848-6AD5-7B49-A3B8-7D8D442B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182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FFF99-B266-BA4A-9211-5D0EF0728BF9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D469F-60C6-C644-BD5F-F6073AC48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40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8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0" y="1272011"/>
            <a:ext cx="103632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4082310"/>
            <a:ext cx="103632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B7194F-0CCC-21BA-5548-E622255568A4}"/>
              </a:ext>
            </a:extLst>
          </p:cNvPr>
          <p:cNvSpPr/>
          <p:nvPr userDrawn="1"/>
        </p:nvSpPr>
        <p:spPr>
          <a:xfrm flipV="1">
            <a:off x="1036319" y="4248241"/>
            <a:ext cx="117624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39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1830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63" y="1937704"/>
            <a:ext cx="1191768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763" y="5201392"/>
            <a:ext cx="1191768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984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960" y="2069042"/>
            <a:ext cx="587248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5160" y="2069042"/>
            <a:ext cx="587248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3379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413809"/>
            <a:ext cx="1191768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1760" y="1905318"/>
            <a:ext cx="5845492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1760" y="2839085"/>
            <a:ext cx="584549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95160" y="1905318"/>
            <a:ext cx="5874280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5160" y="2839085"/>
            <a:ext cx="587428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3628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1089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001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6813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74280" y="1119082"/>
            <a:ext cx="6995160" cy="5523442"/>
          </a:xfrm>
        </p:spPr>
        <p:txBody>
          <a:bodyPr anchor="t"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5369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122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88220" y="413808"/>
            <a:ext cx="2979420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9960" y="413808"/>
            <a:ext cx="8765540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3719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Layout 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810523" y="121370"/>
            <a:ext cx="10167899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3434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810523" y="779625"/>
            <a:ext cx="10048279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10523" y="863219"/>
            <a:ext cx="10166927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2473" b="1" kern="0" cap="all" spc="165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2473" b="1">
                <a:solidFill>
                  <a:srgbClr val="08436E"/>
                </a:solidFill>
              </a:defRPr>
            </a:lvl2pPr>
            <a:lvl3pPr>
              <a:defRPr sz="2198" b="1">
                <a:solidFill>
                  <a:srgbClr val="08436E"/>
                </a:solidFill>
              </a:defRPr>
            </a:lvl3pPr>
            <a:lvl4pPr>
              <a:defRPr sz="1923" b="1">
                <a:solidFill>
                  <a:srgbClr val="08436E"/>
                </a:solidFill>
              </a:defRPr>
            </a:lvl4pPr>
            <a:lvl5pPr>
              <a:defRPr sz="2198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29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183ED-3119-E24D-8FED-43F9B1DC42DF}" type="datetimeFigureOut">
              <a:rPr lang="en-US" smtClean="0"/>
              <a:t>10/13/23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09058-071F-418D-A992-2ACF89B91AC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CF9074-5DAC-713F-81CC-74E2CEAE05FB}"/>
              </a:ext>
            </a:extLst>
          </p:cNvPr>
          <p:cNvSpPr/>
          <p:nvPr userDrawn="1"/>
        </p:nvSpPr>
        <p:spPr>
          <a:xfrm>
            <a:off x="-1" y="7352227"/>
            <a:ext cx="13817601" cy="428278"/>
          </a:xfrm>
          <a:prstGeom prst="rect">
            <a:avLst/>
          </a:prstGeom>
          <a:solidFill>
            <a:srgbClr val="084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 b="1">
              <a:ln>
                <a:noFill/>
              </a:ln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4056D7-9CDE-22C6-1B39-BCB603359C52}"/>
              </a:ext>
            </a:extLst>
          </p:cNvPr>
          <p:cNvSpPr/>
          <p:nvPr userDrawn="1"/>
        </p:nvSpPr>
        <p:spPr>
          <a:xfrm flipV="1">
            <a:off x="-1" y="7328691"/>
            <a:ext cx="13817601" cy="45720"/>
          </a:xfrm>
          <a:prstGeom prst="rect">
            <a:avLst/>
          </a:prstGeom>
          <a:solidFill>
            <a:srgbClr val="118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433" tIns="62714" rIns="125433" bIns="62714" rtlCol="0" anchor="ctr"/>
          <a:lstStyle/>
          <a:p>
            <a:pPr algn="ctr"/>
            <a:endParaRPr lang="en-US" sz="2747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454C8-10AE-BD9F-B21E-A7FA0DB6AB25}"/>
              </a:ext>
            </a:extLst>
          </p:cNvPr>
          <p:cNvSpPr txBox="1"/>
          <p:nvPr userDrawn="1"/>
        </p:nvSpPr>
        <p:spPr>
          <a:xfrm>
            <a:off x="7174109" y="7405335"/>
            <a:ext cx="6018548" cy="338121"/>
          </a:xfrm>
          <a:prstGeom prst="rect">
            <a:avLst/>
          </a:prstGeom>
          <a:noFill/>
        </p:spPr>
        <p:txBody>
          <a:bodyPr wrap="square" lIns="125433" tIns="62714" rIns="125433" bIns="62714" rtlCol="0" anchor="ctr">
            <a:spAutoFit/>
          </a:bodyPr>
          <a:lstStyle/>
          <a:p>
            <a:pPr algn="r"/>
            <a:r>
              <a:rPr lang="en-US" sz="1374" b="1" kern="0" cap="all" spc="165" dirty="0">
                <a:solidFill>
                  <a:srgbClr val="1183CC"/>
                </a:solidFill>
                <a:latin typeface="Avenir Black"/>
                <a:cs typeface="Avenir Black"/>
              </a:rPr>
              <a:t>The George Washington University</a:t>
            </a:r>
          </a:p>
        </p:txBody>
      </p:sp>
      <p:pic>
        <p:nvPicPr>
          <p:cNvPr id="10" name="Picture 9" descr="gw_txt_4cp_pos.eps">
            <a:extLst>
              <a:ext uri="{FF2B5EF4-FFF2-40B4-BE49-F238E27FC236}">
                <a16:creationId xmlns:a16="http://schemas.microsoft.com/office/drawing/2014/main" id="{6AE81DA3-0D3D-5722-D2DD-E5975E7C5A3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6977" y="216490"/>
            <a:ext cx="1500397" cy="83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66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7572" y="4955127"/>
            <a:ext cx="11762456" cy="272862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Abenezer Taye</a:t>
            </a:r>
          </a:p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Oct 16, 2023</a:t>
            </a:r>
          </a:p>
          <a:p>
            <a:pPr algn="ctr"/>
            <a:endParaRPr lang="en-US" dirty="0">
              <a:solidFill>
                <a:srgbClr val="08436E"/>
              </a:solidFill>
              <a:latin typeface="+mj-lt"/>
            </a:endParaRPr>
          </a:p>
          <a:p>
            <a:pPr algn="ctr"/>
            <a:r>
              <a:rPr lang="en-US" dirty="0">
                <a:solidFill>
                  <a:srgbClr val="08436E"/>
                </a:solidFill>
                <a:latin typeface="+mj-lt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2F166-26A4-F264-E8CC-86F355D67CAA}"/>
              </a:ext>
            </a:extLst>
          </p:cNvPr>
          <p:cNvSpPr txBox="1"/>
          <p:nvPr/>
        </p:nvSpPr>
        <p:spPr>
          <a:xfrm>
            <a:off x="280122" y="3239869"/>
            <a:ext cx="13257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Software Certification of Safety-Critical Avionic Systems: DO-178C</a:t>
            </a:r>
            <a:endParaRPr lang="en-US" sz="240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915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94C39-6868-01B5-BAEA-51323FD8F012}"/>
              </a:ext>
            </a:extLst>
          </p:cNvPr>
          <p:cNvSpPr txBox="1"/>
          <p:nvPr/>
        </p:nvSpPr>
        <p:spPr>
          <a:xfrm>
            <a:off x="891822" y="1174044"/>
            <a:ext cx="1230488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Objective of the Presentation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Historical Perspective of DO-178C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DO-178C 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Certification Lifecycle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Example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Conclusion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0474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 of the presentation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94C39-6868-01B5-BAEA-51323FD8F012}"/>
              </a:ext>
            </a:extLst>
          </p:cNvPr>
          <p:cNvSpPr txBox="1"/>
          <p:nvPr/>
        </p:nvSpPr>
        <p:spPr>
          <a:xfrm>
            <a:off x="587785" y="1620824"/>
            <a:ext cx="78683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/>
              <a:t>Every avionic software that is potentially related to safety need to undergo the DO-178C certification 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/>
              <a:t>The aim of this presentation is: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/>
              <a:t>To be familiar with the standard and become a better aerospace engineer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/>
              <a:t>Understand the DO-178x verification philosophy and use the approach while proposing a new solution to aviation safety related problems </a:t>
            </a:r>
            <a:r>
              <a:rPr lang="en-US" sz="2400" dirty="0">
                <a:sym typeface="Wingdings" pitchFamily="2" charset="2"/>
              </a:rPr>
              <a:t> working example 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026" name="Picture 2" descr="DO178 (DO-178B &amp; DO-178C) standards | QA Systems">
            <a:extLst>
              <a:ext uri="{FF2B5EF4-FFF2-40B4-BE49-F238E27FC236}">
                <a16:creationId xmlns:a16="http://schemas.microsoft.com/office/drawing/2014/main" id="{B46FFFB1-0EB4-2CEC-C100-4356F29EA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597" y="1398465"/>
            <a:ext cx="4861649" cy="477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89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Historical perspective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94C39-6868-01B5-BAEA-51323FD8F012}"/>
              </a:ext>
            </a:extLst>
          </p:cNvPr>
          <p:cNvSpPr txBox="1"/>
          <p:nvPr/>
        </p:nvSpPr>
        <p:spPr>
          <a:xfrm>
            <a:off x="810523" y="1697184"/>
            <a:ext cx="8088055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 1992 FAA accepted guidelines developed by RTCA (Radio Technical Commission for Aeronautics) </a:t>
            </a:r>
            <a:r>
              <a:rPr lang="en-US" sz="2400" dirty="0">
                <a:sym typeface="Wingdings" pitchFamily="2" charset="2"/>
              </a:rPr>
              <a:t> DO-178B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Aim of DO-178B  assure software developed for avionics system is reliable and safe to use in flight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DO-178B was very successful in that: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No hull-loss accident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Only a small number of in-flight upsets 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AutoShape 2" descr="Federal Aviation Administration - Wikipedia">
            <a:extLst>
              <a:ext uri="{FF2B5EF4-FFF2-40B4-BE49-F238E27FC236}">
                <a16:creationId xmlns:a16="http://schemas.microsoft.com/office/drawing/2014/main" id="{239D1E45-F0D8-9260-44EF-B0CB18C4F4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564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FDC677-004B-14D9-822E-90CED2789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4374" y="3405344"/>
            <a:ext cx="2831123" cy="2831123"/>
          </a:xfrm>
          <a:prstGeom prst="rect">
            <a:avLst/>
          </a:prstGeom>
        </p:spPr>
      </p:pic>
      <p:pic>
        <p:nvPicPr>
          <p:cNvPr id="2054" name="Picture 6" descr="RTCA | Safer Skies Through Collaboration">
            <a:extLst>
              <a:ext uri="{FF2B5EF4-FFF2-40B4-BE49-F238E27FC236}">
                <a16:creationId xmlns:a16="http://schemas.microsoft.com/office/drawing/2014/main" id="{E5D6B381-F112-55B8-2DD9-A4AD436C9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894" y="1293889"/>
            <a:ext cx="3973276" cy="22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54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Historical perspective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94C39-6868-01B5-BAEA-51323FD8F012}"/>
              </a:ext>
            </a:extLst>
          </p:cNvPr>
          <p:cNvSpPr txBox="1"/>
          <p:nvPr/>
        </p:nvSpPr>
        <p:spPr>
          <a:xfrm>
            <a:off x="891822" y="1174044"/>
            <a:ext cx="8345963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However, there are some drawbacks of DO178-B: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Key concepts are ambiguous and inflexible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Advancements in modern software development such as: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Model-based development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Formal Methods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OOP, have not been addressed in DO-178B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Dec 2004, RTCA &amp; EUROCAR decided that DO-178B should be updated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They worked on DO-178C March 2005 – Nov 2011 </a:t>
            </a:r>
            <a:r>
              <a:rPr lang="en-US" sz="2400" dirty="0">
                <a:sym typeface="Wingdings" pitchFamily="2" charset="2"/>
              </a:rPr>
              <a:t> FAA approved July 2013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455B3-0819-94D9-3C18-00C10E8C3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4374" y="3405344"/>
            <a:ext cx="2831123" cy="2831123"/>
          </a:xfrm>
          <a:prstGeom prst="rect">
            <a:avLst/>
          </a:prstGeom>
        </p:spPr>
      </p:pic>
      <p:pic>
        <p:nvPicPr>
          <p:cNvPr id="5" name="Picture 6" descr="RTCA | Safer Skies Through Collaboration">
            <a:extLst>
              <a:ext uri="{FF2B5EF4-FFF2-40B4-BE49-F238E27FC236}">
                <a16:creationId xmlns:a16="http://schemas.microsoft.com/office/drawing/2014/main" id="{3CE9EF35-FD4F-77D7-A064-F2A0185B9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894" y="1293889"/>
            <a:ext cx="3973276" cy="22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80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DO-178C and other supplementary documents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20B7A-A6DF-DD75-CE89-28A61EBBC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045" y="1334965"/>
            <a:ext cx="6721231" cy="556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7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DO-187C overview</a:t>
            </a:r>
          </a:p>
        </p:txBody>
      </p:sp>
      <p:pic>
        <p:nvPicPr>
          <p:cNvPr id="5" name="Picture 4" descr="A screenshot of a survey&#10;&#10;Description automatically generated">
            <a:extLst>
              <a:ext uri="{FF2B5EF4-FFF2-40B4-BE49-F238E27FC236}">
                <a16:creationId xmlns:a16="http://schemas.microsoft.com/office/drawing/2014/main" id="{4E14C52C-B220-5E8B-5930-B5AFAEAA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93" y="1593145"/>
            <a:ext cx="11018445" cy="549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8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DO-187C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996BC-8BF7-ECF3-E99B-C97DA88C2061}"/>
              </a:ext>
            </a:extLst>
          </p:cNvPr>
          <p:cNvSpPr txBox="1"/>
          <p:nvPr/>
        </p:nvSpPr>
        <p:spPr>
          <a:xfrm>
            <a:off x="897466" y="1023878"/>
            <a:ext cx="1202266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Recommendations given in DO-178C fall into two types: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dirty="0"/>
              <a:t>Objectives: process requirements that should be met in order to demonstrate compliance to regulation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i="0" dirty="0">
                <a:effectLst/>
                <a:latin typeface="Söhne"/>
              </a:rPr>
              <a:t>Objective DAL A-1: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Ensure that the software design is fully compliant with the system-level requirements and architecture, and that there are no design errors or omissions.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dirty="0"/>
              <a:t>Activities: tasks that provide the means of meeting objectives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Example: Ensure that the software has been analyzed and verified using formal methods to mathematically prove its correctness and compliance with high-level requirements.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8" name="Picture 7" descr="A diagram of a company's company's company's company's company's company's company's company's company's company's company's company'&#10;&#10;Description automatically generated">
            <a:extLst>
              <a:ext uri="{FF2B5EF4-FFF2-40B4-BE49-F238E27FC236}">
                <a16:creationId xmlns:a16="http://schemas.microsoft.com/office/drawing/2014/main" id="{ED2E5E48-F6F1-A8D4-28CE-A8225D35A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392" y="3385172"/>
            <a:ext cx="8414699" cy="43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99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Demonstrating compliance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996BC-8BF7-ECF3-E99B-C97DA88C2061}"/>
              </a:ext>
            </a:extLst>
          </p:cNvPr>
          <p:cNvSpPr txBox="1"/>
          <p:nvPr/>
        </p:nvSpPr>
        <p:spPr>
          <a:xfrm>
            <a:off x="711201" y="1135912"/>
            <a:ext cx="827475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 specific design assurance process consists of three components:</a:t>
            </a:r>
          </a:p>
          <a:p>
            <a:endParaRPr lang="en-US" sz="2800" dirty="0"/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b="1" dirty="0"/>
              <a:t>Planning:</a:t>
            </a:r>
            <a:r>
              <a:rPr lang="en-US" sz="2400" dirty="0"/>
              <a:t> the plan will be checked if it meets the required objectives – before you do it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b="1" dirty="0"/>
              <a:t>Development</a:t>
            </a:r>
            <a:r>
              <a:rPr lang="en-US" sz="2400" dirty="0"/>
              <a:t>: decompose system requirements into software design and implementation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b="1" dirty="0"/>
              <a:t>Integral</a:t>
            </a:r>
            <a:r>
              <a:rPr lang="en-US" sz="2400" dirty="0"/>
              <a:t> </a:t>
            </a:r>
            <a:r>
              <a:rPr lang="en-US" sz="2400" b="1" dirty="0"/>
              <a:t>processes</a:t>
            </a:r>
            <a:r>
              <a:rPr lang="en-US" sz="2400" dirty="0"/>
              <a:t> (Verification, Configuration Management, QA, Certification Liaison): ensures the above two processes meet their requirements and are well managed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dirty="0"/>
              <a:t>The Certification Liaison activities focus on ensuring that there are sufficient data and checkpoints for the certification authorities to be able to determine compliance and approve the software. 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4" name="Picture 3" descr="A screenshot of a blue and white screen&#10;&#10;Description automatically generated">
            <a:extLst>
              <a:ext uri="{FF2B5EF4-FFF2-40B4-BE49-F238E27FC236}">
                <a16:creationId xmlns:a16="http://schemas.microsoft.com/office/drawing/2014/main" id="{B88E5FCF-1078-0147-440A-54596DE14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957" y="1023878"/>
            <a:ext cx="4290201" cy="580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16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Demonstrating compliance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996BC-8BF7-ECF3-E99B-C97DA88C2061}"/>
              </a:ext>
            </a:extLst>
          </p:cNvPr>
          <p:cNvSpPr txBox="1"/>
          <p:nvPr/>
        </p:nvSpPr>
        <p:spPr>
          <a:xfrm>
            <a:off x="699478" y="1504524"/>
            <a:ext cx="80263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The typical process for the certification authority to determine compliance is based on four Stage Of Involvement (SOI) reviews: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SOI#1 or Planning Review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SOI#2 or Development Review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SOI#3 or Verification Review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SOI#4 or Certification Review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Picture 4" descr="A blue and white poster with white text&#10;&#10;Description automatically generated">
            <a:extLst>
              <a:ext uri="{FF2B5EF4-FFF2-40B4-BE49-F238E27FC236}">
                <a16:creationId xmlns:a16="http://schemas.microsoft.com/office/drawing/2014/main" id="{387BAD89-A4A9-3E5C-8D29-8B81D326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933" y="1332897"/>
            <a:ext cx="4704977" cy="541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31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 </a:t>
            </a:r>
          </a:p>
        </p:txBody>
      </p:sp>
      <p:pic>
        <p:nvPicPr>
          <p:cNvPr id="4" name="Picture 3" descr="A document with text on it&#10;&#10;Description automatically generated">
            <a:extLst>
              <a:ext uri="{FF2B5EF4-FFF2-40B4-BE49-F238E27FC236}">
                <a16:creationId xmlns:a16="http://schemas.microsoft.com/office/drawing/2014/main" id="{A35F5FE1-C04A-B0FD-E272-8FD3C09B2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23" y="1436944"/>
            <a:ext cx="8135708" cy="5737579"/>
          </a:xfrm>
          <a:prstGeom prst="rect">
            <a:avLst/>
          </a:prstGeom>
        </p:spPr>
      </p:pic>
      <p:pic>
        <p:nvPicPr>
          <p:cNvPr id="5122" name="Picture 2" descr="Software Project Plan Diagram Powerpoint Templates | PowerPoint  Presentation Designs | Slide PPT Graphics | Presentation Template Designs">
            <a:extLst>
              <a:ext uri="{FF2B5EF4-FFF2-40B4-BE49-F238E27FC236}">
                <a16:creationId xmlns:a16="http://schemas.microsoft.com/office/drawing/2014/main" id="{BF217A53-DA4D-479D-AEC3-DB76EAC5F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48" t="18487" r="27073" b="10257"/>
          <a:stretch/>
        </p:blipFill>
        <p:spPr bwMode="auto">
          <a:xfrm>
            <a:off x="9175262" y="1536589"/>
            <a:ext cx="4536831" cy="553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591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34A3D-4300-19B8-8182-11212FB9549A}"/>
              </a:ext>
            </a:extLst>
          </p:cNvPr>
          <p:cNvSpPr txBox="1"/>
          <p:nvPr/>
        </p:nvSpPr>
        <p:spPr>
          <a:xfrm>
            <a:off x="372534" y="1046456"/>
            <a:ext cx="720231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High-level requirements</a:t>
            </a:r>
            <a:r>
              <a:rPr lang="en-US" sz="2400" dirty="0"/>
              <a:t>: define system level requirements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Design</a:t>
            </a:r>
            <a:r>
              <a:rPr lang="en-US" sz="2400" dirty="0"/>
              <a:t>: design the architecture of your software and define its low-level requirements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/>
              <a:t>Implementation</a:t>
            </a:r>
            <a:r>
              <a:rPr lang="en-US" sz="2400" dirty="0"/>
              <a:t>: implementing the code (5% or less effort)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Things you may want to consider:</a:t>
            </a:r>
          </a:p>
          <a:p>
            <a:pPr marL="1371600" lvl="2" indent="-457200">
              <a:buFont typeface="Wingdings" pitchFamily="2" charset="2"/>
              <a:buChar char="Ø"/>
            </a:pPr>
            <a:r>
              <a:rPr lang="en-US" sz="2400" dirty="0"/>
              <a:t>Choice of programming language(s)</a:t>
            </a:r>
          </a:p>
          <a:p>
            <a:pPr marL="1371600" lvl="2" indent="-457200">
              <a:buFont typeface="Wingdings" pitchFamily="2" charset="2"/>
              <a:buChar char="Ø"/>
            </a:pPr>
            <a:r>
              <a:rPr lang="en-US" sz="2400" dirty="0"/>
              <a:t>Choice of coding standard </a:t>
            </a:r>
          </a:p>
          <a:p>
            <a:pPr marL="1371600" lvl="2" indent="-457200">
              <a:buFont typeface="Wingdings" pitchFamily="2" charset="2"/>
              <a:buChar char="Ø"/>
            </a:pPr>
            <a:r>
              <a:rPr lang="en-US" sz="2400" dirty="0"/>
              <a:t>Choice of hardware platform and operating system</a:t>
            </a:r>
          </a:p>
          <a:p>
            <a:pPr marL="1371600" lvl="2" indent="-457200">
              <a:buFont typeface="Wingdings" pitchFamily="2" charset="2"/>
              <a:buChar char="Ø"/>
            </a:pPr>
            <a:r>
              <a:rPr lang="en-US" sz="2400" dirty="0"/>
              <a:t>Use of emerging technologies such as GPUs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 descr="A diagram of a software system&#10;&#10;Description automatically generated with medium confidence">
            <a:extLst>
              <a:ext uri="{FF2B5EF4-FFF2-40B4-BE49-F238E27FC236}">
                <a16:creationId xmlns:a16="http://schemas.microsoft.com/office/drawing/2014/main" id="{F1EF1B16-DF72-FC6E-161A-D53340C54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00" r="6199"/>
          <a:stretch/>
        </p:blipFill>
        <p:spPr>
          <a:xfrm>
            <a:off x="7665156" y="1501536"/>
            <a:ext cx="6039555" cy="446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1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Verification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34A3D-4300-19B8-8182-11212FB9549A}"/>
              </a:ext>
            </a:extLst>
          </p:cNvPr>
          <p:cNvSpPr txBox="1"/>
          <p:nvPr/>
        </p:nvSpPr>
        <p:spPr>
          <a:xfrm>
            <a:off x="599721" y="1203152"/>
            <a:ext cx="115245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The number of verification objectives you must meet depends on the DAL level of your software: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For DAL A systems, 43 of the 71 applicable objectives relate to verification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For DAL B systems, 41 of the 69 applicable objectives relate to verification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For DAL C systems, 34 of the 62 applicable objectives relate to verification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For DAL D systems, 9 of the 26 applicable objectives relate to verification</a:t>
            </a:r>
            <a:endParaRPr lang="en-US" sz="2800" dirty="0"/>
          </a:p>
        </p:txBody>
      </p:sp>
      <p:pic>
        <p:nvPicPr>
          <p:cNvPr id="5" name="Picture 4" descr="A diagram of a number of activities&#10;&#10;Description automatically generated with medium confidence">
            <a:extLst>
              <a:ext uri="{FF2B5EF4-FFF2-40B4-BE49-F238E27FC236}">
                <a16:creationId xmlns:a16="http://schemas.microsoft.com/office/drawing/2014/main" id="{E18BFA35-2D94-0C8E-5502-224B2A77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588" y="3582616"/>
            <a:ext cx="7437967" cy="393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98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E68-2F91-5CC0-0DEB-5D3A4462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Certification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34A3D-4300-19B8-8182-11212FB9549A}"/>
              </a:ext>
            </a:extLst>
          </p:cNvPr>
          <p:cNvSpPr txBox="1"/>
          <p:nvPr/>
        </p:nvSpPr>
        <p:spPr>
          <a:xfrm>
            <a:off x="566266" y="1712647"/>
            <a:ext cx="767677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Done by the certification authority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Looks back at each of the previous SOI reviews and ensures that all observations and findings have been resolved – to the satisfaction of the certification authority </a:t>
            </a:r>
            <a:endParaRPr lang="en-US" sz="2800" dirty="0"/>
          </a:p>
        </p:txBody>
      </p:sp>
      <p:pic>
        <p:nvPicPr>
          <p:cNvPr id="4098" name="Picture 2" descr="Why Certify? The Benefits of Certification - Tim Sullivan Law">
            <a:extLst>
              <a:ext uri="{FF2B5EF4-FFF2-40B4-BE49-F238E27FC236}">
                <a16:creationId xmlns:a16="http://schemas.microsoft.com/office/drawing/2014/main" id="{98539A16-3105-64FE-1C72-C2B3B4FA8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037" y="1956676"/>
            <a:ext cx="5470769" cy="410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75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52F1-8480-5285-65FA-6E583439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DO-178C Lifecycle </a:t>
            </a:r>
          </a:p>
        </p:txBody>
      </p:sp>
      <p:pic>
        <p:nvPicPr>
          <p:cNvPr id="5" name="Picture 4" descr="A diagram of software development&#10;&#10;Description automatically generated">
            <a:extLst>
              <a:ext uri="{FF2B5EF4-FFF2-40B4-BE49-F238E27FC236}">
                <a16:creationId xmlns:a16="http://schemas.microsoft.com/office/drawing/2014/main" id="{694C588B-5F7E-2EDC-B313-6EE2AF6F0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711" y="1257900"/>
            <a:ext cx="9499709" cy="601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80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217A-7735-CBDF-149F-02ABD820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523" y="121370"/>
            <a:ext cx="12377939" cy="563131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DO-178C certification for PID based autopilot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DD194-F84A-BED2-0274-22997E59182C}"/>
              </a:ext>
            </a:extLst>
          </p:cNvPr>
          <p:cNvSpPr txBox="1"/>
          <p:nvPr/>
        </p:nvSpPr>
        <p:spPr>
          <a:xfrm>
            <a:off x="566266" y="1712647"/>
            <a:ext cx="76767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Planning phase: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Purpose and Requirements</a:t>
            </a:r>
            <a:r>
              <a:rPr lang="en-US" sz="2000" dirty="0"/>
              <a:t>: the software controls the aircraft’s altitude to maintain it at a specific level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Verification Procedure</a:t>
            </a:r>
            <a:r>
              <a:rPr lang="en-US" sz="2000" dirty="0"/>
              <a:t>: the software will be verified using formal methods-based verification tools and will be tested both on hardware and software.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000" dirty="0"/>
              <a:t>Development phase: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Requirement development</a:t>
            </a:r>
            <a:r>
              <a:rPr lang="en-US" sz="2000" dirty="0"/>
              <a:t>: the software controls the aircraft’s altitude to maintain it at a specific level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Design</a:t>
            </a:r>
            <a:r>
              <a:rPr lang="en-US" sz="2000" dirty="0"/>
              <a:t>: the software will have a class that implements all the autopilot related methods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Coding</a:t>
            </a:r>
            <a:r>
              <a:rPr lang="en-US" sz="2000" dirty="0"/>
              <a:t>: </a:t>
            </a:r>
          </a:p>
          <a:p>
            <a:pPr marL="1371600" lvl="2" indent="-457200">
              <a:buFont typeface="Wingdings" pitchFamily="2" charset="2"/>
              <a:buChar char="Ø"/>
            </a:pPr>
            <a:r>
              <a:rPr lang="en-US" sz="2000" dirty="0"/>
              <a:t>Programming language: MATLAB</a:t>
            </a:r>
          </a:p>
          <a:p>
            <a:pPr marL="1371600" lvl="2" indent="-457200">
              <a:buFont typeface="Wingdings" pitchFamily="2" charset="2"/>
              <a:buChar char="Ø"/>
            </a:pPr>
            <a:r>
              <a:rPr lang="en-US" sz="2000" dirty="0"/>
              <a:t>Coding standard: MISRA</a:t>
            </a:r>
          </a:p>
          <a:p>
            <a:pPr lvl="2"/>
            <a:r>
              <a:rPr lang="en-US" sz="2000" dirty="0"/>
              <a:t> </a:t>
            </a:r>
          </a:p>
          <a:p>
            <a:pPr marL="1371600" lvl="2" indent="-457200">
              <a:buFont typeface="Wingdings" pitchFamily="2" charset="2"/>
              <a:buChar char="Ø"/>
            </a:pPr>
            <a:endParaRPr lang="en-US" sz="2000" dirty="0"/>
          </a:p>
        </p:txBody>
      </p:sp>
      <p:pic>
        <p:nvPicPr>
          <p:cNvPr id="5" name="Picture 4" descr="A blue and white poster with white text&#10;&#10;Description automatically generated">
            <a:extLst>
              <a:ext uri="{FF2B5EF4-FFF2-40B4-BE49-F238E27FC236}">
                <a16:creationId xmlns:a16="http://schemas.microsoft.com/office/drawing/2014/main" id="{0C9EDF57-BFCB-5494-8612-516DD5B00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933" y="1332897"/>
            <a:ext cx="4704977" cy="541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40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217A-7735-CBDF-149F-02ABD820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523" y="121370"/>
            <a:ext cx="12377939" cy="563131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DO-178C certification for PID based autopilot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DD194-F84A-BED2-0274-22997E59182C}"/>
              </a:ext>
            </a:extLst>
          </p:cNvPr>
          <p:cNvSpPr txBox="1"/>
          <p:nvPr/>
        </p:nvSpPr>
        <p:spPr>
          <a:xfrm>
            <a:off x="566267" y="1712647"/>
            <a:ext cx="659653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Verification phase: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Reviews</a:t>
            </a:r>
            <a:r>
              <a:rPr lang="en-US" sz="2000" dirty="0"/>
              <a:t>: review </a:t>
            </a:r>
            <a:r>
              <a:rPr lang="en-US" sz="2000" dirty="0" err="1"/>
              <a:t>reqs</a:t>
            </a:r>
            <a:r>
              <a:rPr lang="en-US" sz="2000" dirty="0"/>
              <a:t>, design, and code to ensure they satisfy the plan.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Testing</a:t>
            </a:r>
            <a:r>
              <a:rPr lang="en-US" sz="2000" dirty="0"/>
              <a:t>: develop and execute tests to verify that the software meets its requirements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000"/>
              <a:t>Certification </a:t>
            </a:r>
            <a:r>
              <a:rPr lang="en-US" sz="2000" dirty="0"/>
              <a:t>phase: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Configuration management</a:t>
            </a:r>
            <a:r>
              <a:rPr lang="en-US" sz="2000" dirty="0"/>
              <a:t>: ensure that all artifact (</a:t>
            </a:r>
            <a:r>
              <a:rPr lang="en-US" sz="2000" dirty="0" err="1"/>
              <a:t>reqs</a:t>
            </a:r>
            <a:r>
              <a:rPr lang="en-US" sz="2000" dirty="0"/>
              <a:t>, design, code, tests) are under configuration management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Quality assurance:</a:t>
            </a:r>
            <a:r>
              <a:rPr lang="en-US" sz="2000" dirty="0"/>
              <a:t> ensure that all processes are being followed and objectives are met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000" b="1" dirty="0"/>
              <a:t>Certification Liaison</a:t>
            </a:r>
            <a:r>
              <a:rPr lang="en-US" sz="2000" dirty="0"/>
              <a:t>: ensure that all certification-related activities are conducted</a:t>
            </a:r>
          </a:p>
          <a:p>
            <a:pPr lvl="2"/>
            <a:r>
              <a:rPr lang="en-US" sz="2000" dirty="0"/>
              <a:t> </a:t>
            </a:r>
          </a:p>
          <a:p>
            <a:pPr marL="1371600" lvl="2" indent="-457200">
              <a:buFont typeface="Wingdings" pitchFamily="2" charset="2"/>
              <a:buChar char="Ø"/>
            </a:pPr>
            <a:endParaRPr lang="en-US" sz="2000" dirty="0"/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166F064-34D3-EC4B-30A3-6F1A6A56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994" y="1610436"/>
            <a:ext cx="6163278" cy="479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79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217A-7735-CBDF-149F-02ABD820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523" y="121370"/>
            <a:ext cx="12377939" cy="563131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DD194-F84A-BED2-0274-22997E59182C}"/>
              </a:ext>
            </a:extLst>
          </p:cNvPr>
          <p:cNvSpPr txBox="1"/>
          <p:nvPr/>
        </p:nvSpPr>
        <p:spPr>
          <a:xfrm>
            <a:off x="577989" y="1155204"/>
            <a:ext cx="12082934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Most of the DO-178C work is related to project management and documentation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Organization and technical writing skills are very important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There are some tools that automates most of the DO-178C related tasks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Things you can start now: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Adopt a requirement and test-driven programming approach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Familiarize with coding standards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Pay attention to code quality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Lessons for avionic software related research: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/>
              <a:t>Traceability/</a:t>
            </a:r>
            <a:r>
              <a:rPr lang="en-US" sz="2000" b="1" dirty="0" err="1"/>
              <a:t>explainability</a:t>
            </a:r>
            <a:r>
              <a:rPr lang="en-US" sz="2000" b="1" dirty="0"/>
              <a:t> </a:t>
            </a:r>
            <a:r>
              <a:rPr lang="en-US" sz="2000" dirty="0"/>
              <a:t>is very important for certification - from high-level req </a:t>
            </a:r>
            <a:r>
              <a:rPr lang="en-US" sz="2000" dirty="0">
                <a:sym typeface="Wingdings" pitchFamily="2" charset="2"/>
              </a:rPr>
              <a:t> each line of code  each test case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sym typeface="Wingdings" pitchFamily="2" charset="2"/>
              </a:rPr>
              <a:t>Determinism</a:t>
            </a:r>
            <a:r>
              <a:rPr lang="en-US" sz="2000" dirty="0">
                <a:sym typeface="Wingdings" pitchFamily="2" charset="2"/>
              </a:rPr>
              <a:t> is also a key feature in certification: you should be able to predict what type of output will come out for a given input</a:t>
            </a:r>
            <a:endParaRPr lang="en-US" sz="2000" dirty="0"/>
          </a:p>
          <a:p>
            <a:pPr lvl="2"/>
            <a:r>
              <a:rPr lang="en-US" sz="2000" dirty="0"/>
              <a:t> </a:t>
            </a:r>
          </a:p>
          <a:p>
            <a:pPr marL="1371600" lvl="2" indent="-457200"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4703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61645</TotalTime>
  <Words>917</Words>
  <Application>Microsoft Macintosh PowerPoint</Application>
  <PresentationFormat>Custom</PresentationFormat>
  <Paragraphs>106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Avenir Black</vt:lpstr>
      <vt:lpstr>Avenir Medium</vt:lpstr>
      <vt:lpstr>Calibri</vt:lpstr>
      <vt:lpstr>Calibri Light</vt:lpstr>
      <vt:lpstr>Söhne</vt:lpstr>
      <vt:lpstr>Wingdings</vt:lpstr>
      <vt:lpstr>Office Theme</vt:lpstr>
      <vt:lpstr>PowerPoint Presentation</vt:lpstr>
      <vt:lpstr>Outline </vt:lpstr>
      <vt:lpstr>Objective of the presentation  </vt:lpstr>
      <vt:lpstr>Historical perspective</vt:lpstr>
      <vt:lpstr>Historical perspective</vt:lpstr>
      <vt:lpstr>DO-178C and other supplementary documents </vt:lpstr>
      <vt:lpstr>DO-187C overview</vt:lpstr>
      <vt:lpstr>DO-187C overview</vt:lpstr>
      <vt:lpstr>Demonstrating compliance</vt:lpstr>
      <vt:lpstr>Demonstrating compliance</vt:lpstr>
      <vt:lpstr>Planning </vt:lpstr>
      <vt:lpstr>Development </vt:lpstr>
      <vt:lpstr>Verification </vt:lpstr>
      <vt:lpstr>Certification  </vt:lpstr>
      <vt:lpstr>DO-178C Lifecycle </vt:lpstr>
      <vt:lpstr>Example: DO-178C certification for PID based autopilot  </vt:lpstr>
      <vt:lpstr>Example: DO-178C certification for PID based autopilot 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Rex</dc:creator>
  <cp:keywords/>
  <dc:description/>
  <cp:lastModifiedBy>Taye, Abenezer Girma</cp:lastModifiedBy>
  <cp:revision>580</cp:revision>
  <cp:lastPrinted>2016-12-21T01:41:29Z</cp:lastPrinted>
  <dcterms:created xsi:type="dcterms:W3CDTF">2014-12-17T18:59:26Z</dcterms:created>
  <dcterms:modified xsi:type="dcterms:W3CDTF">2023-10-16T11:44:38Z</dcterms:modified>
  <cp:category/>
</cp:coreProperties>
</file>